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8"/>
  </p:notesMasterIdLst>
  <p:sldIdLst>
    <p:sldId id="283" r:id="rId3"/>
    <p:sldId id="256" r:id="rId4"/>
    <p:sldId id="262" r:id="rId5"/>
    <p:sldId id="269" r:id="rId6"/>
    <p:sldId id="261" r:id="rId7"/>
    <p:sldId id="284" r:id="rId8"/>
    <p:sldId id="286" r:id="rId9"/>
    <p:sldId id="260" r:id="rId10"/>
    <p:sldId id="289" r:id="rId11"/>
    <p:sldId id="282" r:id="rId12"/>
    <p:sldId id="290" r:id="rId13"/>
    <p:sldId id="292" r:id="rId14"/>
    <p:sldId id="293" r:id="rId15"/>
    <p:sldId id="295" r:id="rId16"/>
    <p:sldId id="294" r:id="rId17"/>
  </p:sldIdLst>
  <p:sldSz cx="9144000" cy="5143500" type="screen16x9"/>
  <p:notesSz cx="6858000" cy="9144000"/>
  <p:embeddedFontLst>
    <p:embeddedFont>
      <p:font typeface="Open Sans" panose="020B0606030504020204" pitchFamily="34" charset="0"/>
      <p:regular r:id="rId19"/>
      <p:bold r:id="rId20"/>
      <p:italic r:id="rId21"/>
      <p:boldItalic r:id="rId22"/>
    </p:embeddedFont>
    <p:embeddedFont>
      <p:font typeface="Segoe UI" panose="020B0502040204020203"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CC"/>
    <a:srgbClr val="1C356A"/>
    <a:srgbClr val="1B396F"/>
    <a:srgbClr val="9180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EEC461-4022-4F69-9F59-28101882064E}" v="63" dt="2025-07-07T21:07:43.0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340" autoAdjust="0"/>
  </p:normalViewPr>
  <p:slideViewPr>
    <p:cSldViewPr snapToGrid="0">
      <p:cViewPr varScale="1">
        <p:scale>
          <a:sx n="72" d="100"/>
          <a:sy n="72" d="100"/>
        </p:scale>
        <p:origin x="1205" y="42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6.fntdata"/><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1.fntdata"/><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egory Gunther" userId="28753bda5917ba3e" providerId="LiveId" clId="{A8EEC461-4022-4F69-9F59-28101882064E}"/>
    <pc:docChg chg="undo custSel addSld delSld modSld">
      <pc:chgData name="Gregory Gunther" userId="28753bda5917ba3e" providerId="LiveId" clId="{A8EEC461-4022-4F69-9F59-28101882064E}" dt="2025-07-07T21:07:58.930" v="86" actId="20577"/>
      <pc:docMkLst>
        <pc:docMk/>
      </pc:docMkLst>
      <pc:sldChg chg="addSp modSp mod modAnim">
        <pc:chgData name="Gregory Gunther" userId="28753bda5917ba3e" providerId="LiveId" clId="{A8EEC461-4022-4F69-9F59-28101882064E}" dt="2025-07-07T20:47:15.396" v="20"/>
        <pc:sldMkLst>
          <pc:docMk/>
          <pc:sldMk cId="3643486903" sldId="290"/>
        </pc:sldMkLst>
        <pc:spChg chg="mod">
          <ac:chgData name="Gregory Gunther" userId="28753bda5917ba3e" providerId="LiveId" clId="{A8EEC461-4022-4F69-9F59-28101882064E}" dt="2025-07-07T20:46:10.366" v="15" actId="14100"/>
          <ac:spMkLst>
            <pc:docMk/>
            <pc:sldMk cId="3643486903" sldId="290"/>
            <ac:spMk id="5" creationId="{058BC6C0-0841-D327-20EF-09075DA38D55}"/>
          </ac:spMkLst>
        </pc:spChg>
        <pc:spChg chg="add mod">
          <ac:chgData name="Gregory Gunther" userId="28753bda5917ba3e" providerId="LiveId" clId="{A8EEC461-4022-4F69-9F59-28101882064E}" dt="2025-07-07T20:46:46.037" v="18" actId="14100"/>
          <ac:spMkLst>
            <pc:docMk/>
            <pc:sldMk cId="3643486903" sldId="290"/>
            <ac:spMk id="10" creationId="{34C251D1-D5FA-5A1D-5FD0-55CA7F52F669}"/>
          </ac:spMkLst>
        </pc:spChg>
        <pc:spChg chg="mod">
          <ac:chgData name="Gregory Gunther" userId="28753bda5917ba3e" providerId="LiveId" clId="{A8EEC461-4022-4F69-9F59-28101882064E}" dt="2025-07-07T20:46:10.366" v="15" actId="14100"/>
          <ac:spMkLst>
            <pc:docMk/>
            <pc:sldMk cId="3643486903" sldId="290"/>
            <ac:spMk id="12" creationId="{E13F2396-BCAF-796A-6BE8-3B73C06ED97A}"/>
          </ac:spMkLst>
        </pc:spChg>
        <pc:spChg chg="add mod">
          <ac:chgData name="Gregory Gunther" userId="28753bda5917ba3e" providerId="LiveId" clId="{A8EEC461-4022-4F69-9F59-28101882064E}" dt="2025-07-07T20:46:36.640" v="17" actId="14100"/>
          <ac:spMkLst>
            <pc:docMk/>
            <pc:sldMk cId="3643486903" sldId="290"/>
            <ac:spMk id="13" creationId="{0AE0BF37-233A-3870-78A8-30230CA46F62}"/>
          </ac:spMkLst>
        </pc:spChg>
        <pc:picChg chg="mod">
          <ac:chgData name="Gregory Gunther" userId="28753bda5917ba3e" providerId="LiveId" clId="{A8EEC461-4022-4F69-9F59-28101882064E}" dt="2025-07-07T20:44:36.642" v="3" actId="1076"/>
          <ac:picMkLst>
            <pc:docMk/>
            <pc:sldMk cId="3643486903" sldId="290"/>
            <ac:picMk id="3" creationId="{CEC0CA32-7530-F34F-D4CF-2A3796FA8974}"/>
          </ac:picMkLst>
        </pc:picChg>
      </pc:sldChg>
      <pc:sldChg chg="del">
        <pc:chgData name="Gregory Gunther" userId="28753bda5917ba3e" providerId="LiveId" clId="{A8EEC461-4022-4F69-9F59-28101882064E}" dt="2025-07-07T20:30:21.542" v="0" actId="2696"/>
        <pc:sldMkLst>
          <pc:docMk/>
          <pc:sldMk cId="2324957710" sldId="291"/>
        </pc:sldMkLst>
      </pc:sldChg>
      <pc:sldChg chg="addSp delSp modSp add mod delAnim modNotesTx">
        <pc:chgData name="Gregory Gunther" userId="28753bda5917ba3e" providerId="LiveId" clId="{A8EEC461-4022-4F69-9F59-28101882064E}" dt="2025-07-07T21:07:58.930" v="86" actId="20577"/>
        <pc:sldMkLst>
          <pc:docMk/>
          <pc:sldMk cId="1351655734" sldId="295"/>
        </pc:sldMkLst>
        <pc:spChg chg="mod">
          <ac:chgData name="Gregory Gunther" userId="28753bda5917ba3e" providerId="LiveId" clId="{A8EEC461-4022-4F69-9F59-28101882064E}" dt="2025-07-07T21:03:02.496" v="35" actId="20577"/>
          <ac:spMkLst>
            <pc:docMk/>
            <pc:sldMk cId="1351655734" sldId="295"/>
            <ac:spMk id="4" creationId="{1ACCDBBE-E5F2-4346-FDCE-FFFD8ACDA4C5}"/>
          </ac:spMkLst>
        </pc:spChg>
        <pc:spChg chg="del">
          <ac:chgData name="Gregory Gunther" userId="28753bda5917ba3e" providerId="LiveId" clId="{A8EEC461-4022-4F69-9F59-28101882064E}" dt="2025-07-07T21:05:20.517" v="36" actId="478"/>
          <ac:spMkLst>
            <pc:docMk/>
            <pc:sldMk cId="1351655734" sldId="295"/>
            <ac:spMk id="10" creationId="{0FD2A349-4A11-E024-2D38-BC049797A01F}"/>
          </ac:spMkLst>
        </pc:spChg>
        <pc:spChg chg="mod">
          <ac:chgData name="Gregory Gunther" userId="28753bda5917ba3e" providerId="LiveId" clId="{A8EEC461-4022-4F69-9F59-28101882064E}" dt="2025-07-07T21:07:33.444" v="77" actId="1076"/>
          <ac:spMkLst>
            <pc:docMk/>
            <pc:sldMk cId="1351655734" sldId="295"/>
            <ac:spMk id="12" creationId="{478144E0-1F22-C645-D9C8-4BAB687F7A30}"/>
          </ac:spMkLst>
        </pc:spChg>
        <pc:picChg chg="del">
          <ac:chgData name="Gregory Gunther" userId="28753bda5917ba3e" providerId="LiveId" clId="{A8EEC461-4022-4F69-9F59-28101882064E}" dt="2025-07-07T21:05:22.513" v="37" actId="478"/>
          <ac:picMkLst>
            <pc:docMk/>
            <pc:sldMk cId="1351655734" sldId="295"/>
            <ac:picMk id="7" creationId="{6C8C6F68-DDD6-A4B7-10AD-71F5386667C2}"/>
          </ac:picMkLst>
        </pc:picChg>
        <pc:picChg chg="del">
          <ac:chgData name="Gregory Gunther" userId="28753bda5917ba3e" providerId="LiveId" clId="{A8EEC461-4022-4F69-9F59-28101882064E}" dt="2025-07-07T21:05:25.867" v="38" actId="478"/>
          <ac:picMkLst>
            <pc:docMk/>
            <pc:sldMk cId="1351655734" sldId="295"/>
            <ac:picMk id="15" creationId="{7B5525DD-531A-1DCE-718D-ECD12EFB6AB4}"/>
          </ac:picMkLst>
        </pc:picChg>
        <pc:picChg chg="del">
          <ac:chgData name="Gregory Gunther" userId="28753bda5917ba3e" providerId="LiveId" clId="{A8EEC461-4022-4F69-9F59-28101882064E}" dt="2025-07-07T21:05:57.316" v="58" actId="478"/>
          <ac:picMkLst>
            <pc:docMk/>
            <pc:sldMk cId="1351655734" sldId="295"/>
            <ac:picMk id="18" creationId="{73A050E3-2E03-5E1F-2E3E-50CDFDD3D62C}"/>
          </ac:picMkLst>
        </pc:picChg>
        <pc:picChg chg="del">
          <ac:chgData name="Gregory Gunther" userId="28753bda5917ba3e" providerId="LiveId" clId="{A8EEC461-4022-4F69-9F59-28101882064E}" dt="2025-07-07T21:05:59.996" v="59" actId="478"/>
          <ac:picMkLst>
            <pc:docMk/>
            <pc:sldMk cId="1351655734" sldId="295"/>
            <ac:picMk id="20" creationId="{B40CEB9F-4AB0-0C22-D61D-4CF88E5700FE}"/>
          </ac:picMkLst>
        </pc:picChg>
        <pc:picChg chg="add mod">
          <ac:chgData name="Gregory Gunther" userId="28753bda5917ba3e" providerId="LiveId" clId="{A8EEC461-4022-4F69-9F59-28101882064E}" dt="2025-07-07T21:07:43.032" v="85" actId="1036"/>
          <ac:picMkLst>
            <pc:docMk/>
            <pc:sldMk cId="1351655734" sldId="295"/>
            <ac:picMk id="1026" creationId="{3557D12B-799E-B82D-F440-E715E0244BDC}"/>
          </ac:picMkLst>
        </pc:picChg>
        <pc:picChg chg="add mod">
          <ac:chgData name="Gregory Gunther" userId="28753bda5917ba3e" providerId="LiveId" clId="{A8EEC461-4022-4F69-9F59-28101882064E}" dt="2025-07-07T21:07:40.309" v="81" actId="1035"/>
          <ac:picMkLst>
            <pc:docMk/>
            <pc:sldMk cId="1351655734" sldId="295"/>
            <ac:picMk id="1028" creationId="{6A9648AA-5EAB-FA92-3EE6-DCB98105383B}"/>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6B6E62-D0FA-412D-83ED-602ADD97DAD7}" type="doc">
      <dgm:prSet loTypeId="urn:microsoft.com/office/officeart/2005/8/layout/cycle5" loCatId="cycle" qsTypeId="urn:microsoft.com/office/officeart/2005/8/quickstyle/simple4" qsCatId="simple" csTypeId="urn:microsoft.com/office/officeart/2005/8/colors/accent4_4" csCatId="accent4" phldr="1"/>
      <dgm:spPr/>
      <dgm:t>
        <a:bodyPr/>
        <a:lstStyle/>
        <a:p>
          <a:endParaRPr lang="en-US"/>
        </a:p>
      </dgm:t>
    </dgm:pt>
    <dgm:pt modelId="{1EE5800D-27AB-49A4-A42E-59B82EE1406B}">
      <dgm:prSet phldrT="[Text]" custT="1"/>
      <dgm:spPr/>
      <dgm:t>
        <a:bodyPr/>
        <a:lstStyle/>
        <a:p>
          <a:r>
            <a:rPr lang="en-US" sz="1200" dirty="0"/>
            <a:t>Business Understanding</a:t>
          </a:r>
        </a:p>
      </dgm:t>
    </dgm:pt>
    <dgm:pt modelId="{EB8B3088-FAC9-4A51-BD05-37312759D990}" type="parTrans" cxnId="{27581A56-7062-4B01-8B9B-82589A7EA25E}">
      <dgm:prSet/>
      <dgm:spPr/>
      <dgm:t>
        <a:bodyPr/>
        <a:lstStyle/>
        <a:p>
          <a:endParaRPr lang="en-US" sz="1200"/>
        </a:p>
      </dgm:t>
    </dgm:pt>
    <dgm:pt modelId="{27871E55-E114-4FC2-82B3-D4EA6E697176}" type="sibTrans" cxnId="{27581A56-7062-4B01-8B9B-82589A7EA25E}">
      <dgm:prSet/>
      <dgm:spPr/>
      <dgm:t>
        <a:bodyPr/>
        <a:lstStyle/>
        <a:p>
          <a:endParaRPr lang="en-US" sz="1200"/>
        </a:p>
      </dgm:t>
    </dgm:pt>
    <dgm:pt modelId="{B0D0204D-615B-41FC-9090-62F90DADD2DD}">
      <dgm:prSet phldrT="[Text]" custT="1"/>
      <dgm:spPr/>
      <dgm:t>
        <a:bodyPr/>
        <a:lstStyle/>
        <a:p>
          <a:r>
            <a:rPr lang="en-US" sz="1200" dirty="0"/>
            <a:t>Data Collection</a:t>
          </a:r>
        </a:p>
      </dgm:t>
    </dgm:pt>
    <dgm:pt modelId="{461F9CD4-AB15-4254-BF61-0B4AA08C2CCD}" type="parTrans" cxnId="{424BE387-C65E-412C-82F0-2574BD0E4088}">
      <dgm:prSet/>
      <dgm:spPr/>
      <dgm:t>
        <a:bodyPr/>
        <a:lstStyle/>
        <a:p>
          <a:endParaRPr lang="en-US" sz="1200"/>
        </a:p>
      </dgm:t>
    </dgm:pt>
    <dgm:pt modelId="{DCA74DA4-0B96-4344-979A-9BC8BD464659}" type="sibTrans" cxnId="{424BE387-C65E-412C-82F0-2574BD0E4088}">
      <dgm:prSet/>
      <dgm:spPr/>
      <dgm:t>
        <a:bodyPr/>
        <a:lstStyle/>
        <a:p>
          <a:endParaRPr lang="en-US" sz="1200"/>
        </a:p>
      </dgm:t>
    </dgm:pt>
    <dgm:pt modelId="{53D38419-2855-4358-8F50-9DEFF8C93475}">
      <dgm:prSet phldrT="[Text]" custT="1"/>
      <dgm:spPr/>
      <dgm:t>
        <a:bodyPr/>
        <a:lstStyle/>
        <a:p>
          <a:r>
            <a:rPr lang="en-US" sz="1200" dirty="0"/>
            <a:t>Data Preparation</a:t>
          </a:r>
        </a:p>
      </dgm:t>
    </dgm:pt>
    <dgm:pt modelId="{BA002828-E1BF-4EDA-B980-D133B7D1C5A9}" type="parTrans" cxnId="{2A03225C-C763-4BD6-85E5-F7E86BC0D939}">
      <dgm:prSet/>
      <dgm:spPr/>
      <dgm:t>
        <a:bodyPr/>
        <a:lstStyle/>
        <a:p>
          <a:endParaRPr lang="en-US" sz="1200"/>
        </a:p>
      </dgm:t>
    </dgm:pt>
    <dgm:pt modelId="{4B96EE7C-79FC-4EDB-8302-415E6B13AB29}" type="sibTrans" cxnId="{2A03225C-C763-4BD6-85E5-F7E86BC0D939}">
      <dgm:prSet/>
      <dgm:spPr/>
      <dgm:t>
        <a:bodyPr/>
        <a:lstStyle/>
        <a:p>
          <a:endParaRPr lang="en-US" sz="1200"/>
        </a:p>
      </dgm:t>
    </dgm:pt>
    <dgm:pt modelId="{9C0F04C8-0F8A-4CEB-86AA-C881EE4F8BED}">
      <dgm:prSet phldrT="[Text]" custT="1"/>
      <dgm:spPr/>
      <dgm:t>
        <a:bodyPr/>
        <a:lstStyle/>
        <a:p>
          <a:r>
            <a:rPr lang="en-US" sz="1200" dirty="0"/>
            <a:t>Exploratory Data Analysis (EDA)</a:t>
          </a:r>
        </a:p>
      </dgm:t>
    </dgm:pt>
    <dgm:pt modelId="{51601F8C-F65B-458F-AF29-F13C568B3BF1}" type="parTrans" cxnId="{A7F53E4D-F5B7-4031-AE1C-6CEB5A12F915}">
      <dgm:prSet/>
      <dgm:spPr/>
      <dgm:t>
        <a:bodyPr/>
        <a:lstStyle/>
        <a:p>
          <a:endParaRPr lang="en-US" sz="1200"/>
        </a:p>
      </dgm:t>
    </dgm:pt>
    <dgm:pt modelId="{1B948610-C01F-427B-ABDC-FFD8CEFDFEE6}" type="sibTrans" cxnId="{A7F53E4D-F5B7-4031-AE1C-6CEB5A12F915}">
      <dgm:prSet/>
      <dgm:spPr/>
      <dgm:t>
        <a:bodyPr/>
        <a:lstStyle/>
        <a:p>
          <a:endParaRPr lang="en-US" sz="1200"/>
        </a:p>
      </dgm:t>
    </dgm:pt>
    <dgm:pt modelId="{FB9719EE-A282-4B22-A7B4-389F694BC34F}">
      <dgm:prSet phldrT="[Text]" custT="1"/>
      <dgm:spPr/>
      <dgm:t>
        <a:bodyPr/>
        <a:lstStyle/>
        <a:p>
          <a:r>
            <a:rPr lang="en-US" sz="1200" dirty="0"/>
            <a:t>Modeling the Data</a:t>
          </a:r>
        </a:p>
      </dgm:t>
    </dgm:pt>
    <dgm:pt modelId="{0DF2B60A-8734-4A71-B9BF-E650C0AB2139}" type="parTrans" cxnId="{3DFB24EA-3F2E-45A5-B950-40E9EF6D2328}">
      <dgm:prSet/>
      <dgm:spPr/>
      <dgm:t>
        <a:bodyPr/>
        <a:lstStyle/>
        <a:p>
          <a:endParaRPr lang="en-US" sz="1200"/>
        </a:p>
      </dgm:t>
    </dgm:pt>
    <dgm:pt modelId="{5B751DB2-2896-4E89-A82B-5DD6F51FB826}" type="sibTrans" cxnId="{3DFB24EA-3F2E-45A5-B950-40E9EF6D2328}">
      <dgm:prSet/>
      <dgm:spPr/>
      <dgm:t>
        <a:bodyPr/>
        <a:lstStyle/>
        <a:p>
          <a:endParaRPr lang="en-US" sz="1200"/>
        </a:p>
      </dgm:t>
    </dgm:pt>
    <dgm:pt modelId="{D1874092-E20B-43D3-9EC9-7C96A64FFB4A}">
      <dgm:prSet phldrT="[Text]" custT="1"/>
      <dgm:spPr/>
      <dgm:t>
        <a:bodyPr/>
        <a:lstStyle/>
        <a:p>
          <a:r>
            <a:rPr lang="en-US" sz="1200" dirty="0"/>
            <a:t>Model Evaluation</a:t>
          </a:r>
        </a:p>
      </dgm:t>
    </dgm:pt>
    <dgm:pt modelId="{03FC8950-8C10-4BF0-A8CC-0A8CC31F9D36}" type="parTrans" cxnId="{EFE9194C-D6AF-454F-B08F-2AAD185B5CAD}">
      <dgm:prSet/>
      <dgm:spPr/>
      <dgm:t>
        <a:bodyPr/>
        <a:lstStyle/>
        <a:p>
          <a:endParaRPr lang="en-US" sz="1200"/>
        </a:p>
      </dgm:t>
    </dgm:pt>
    <dgm:pt modelId="{FDB9AA62-6317-43EE-97D6-E2C8B4D7EBB8}" type="sibTrans" cxnId="{EFE9194C-D6AF-454F-B08F-2AAD185B5CAD}">
      <dgm:prSet/>
      <dgm:spPr/>
      <dgm:t>
        <a:bodyPr/>
        <a:lstStyle/>
        <a:p>
          <a:endParaRPr lang="en-US" sz="1200"/>
        </a:p>
      </dgm:t>
    </dgm:pt>
    <dgm:pt modelId="{F7EC6C4F-80C7-4C2E-ADB8-489912BAFB6E}">
      <dgm:prSet phldrT="[Text]" custT="1"/>
      <dgm:spPr/>
      <dgm:t>
        <a:bodyPr/>
        <a:lstStyle/>
        <a:p>
          <a:r>
            <a:rPr lang="en-US" sz="1200" dirty="0"/>
            <a:t>Model Deployment</a:t>
          </a:r>
        </a:p>
      </dgm:t>
    </dgm:pt>
    <dgm:pt modelId="{0EE8EB76-CE44-43F1-B7A9-10CB7252E685}" type="parTrans" cxnId="{7C80CD90-E3B7-4D39-B4EC-D2CD4EC9B360}">
      <dgm:prSet/>
      <dgm:spPr/>
      <dgm:t>
        <a:bodyPr/>
        <a:lstStyle/>
        <a:p>
          <a:endParaRPr lang="en-US" sz="1200"/>
        </a:p>
      </dgm:t>
    </dgm:pt>
    <dgm:pt modelId="{24ADF289-9449-4849-AB26-7D12BABDE029}" type="sibTrans" cxnId="{7C80CD90-E3B7-4D39-B4EC-D2CD4EC9B360}">
      <dgm:prSet/>
      <dgm:spPr/>
      <dgm:t>
        <a:bodyPr/>
        <a:lstStyle/>
        <a:p>
          <a:endParaRPr lang="en-US" sz="1200"/>
        </a:p>
      </dgm:t>
    </dgm:pt>
    <dgm:pt modelId="{E3CD0638-D1B9-4B6E-A290-49A940733C67}" type="pres">
      <dgm:prSet presAssocID="{006B6E62-D0FA-412D-83ED-602ADD97DAD7}" presName="cycle" presStyleCnt="0">
        <dgm:presLayoutVars>
          <dgm:dir/>
          <dgm:resizeHandles val="exact"/>
        </dgm:presLayoutVars>
      </dgm:prSet>
      <dgm:spPr/>
    </dgm:pt>
    <dgm:pt modelId="{A64087FE-A209-4701-9477-CE2AE4EC07A9}" type="pres">
      <dgm:prSet presAssocID="{1EE5800D-27AB-49A4-A42E-59B82EE1406B}" presName="node" presStyleLbl="node1" presStyleIdx="0" presStyleCnt="7">
        <dgm:presLayoutVars>
          <dgm:bulletEnabled val="1"/>
        </dgm:presLayoutVars>
      </dgm:prSet>
      <dgm:spPr/>
    </dgm:pt>
    <dgm:pt modelId="{799EE3A2-FF05-470C-8F1D-577412DA929C}" type="pres">
      <dgm:prSet presAssocID="{1EE5800D-27AB-49A4-A42E-59B82EE1406B}" presName="spNode" presStyleCnt="0"/>
      <dgm:spPr/>
    </dgm:pt>
    <dgm:pt modelId="{0740FD75-4AAC-4264-B51B-2F623E711E94}" type="pres">
      <dgm:prSet presAssocID="{27871E55-E114-4FC2-82B3-D4EA6E697176}" presName="sibTrans" presStyleLbl="sibTrans1D1" presStyleIdx="0" presStyleCnt="7"/>
      <dgm:spPr/>
    </dgm:pt>
    <dgm:pt modelId="{AD88B173-317C-4438-B152-2C626190F277}" type="pres">
      <dgm:prSet presAssocID="{B0D0204D-615B-41FC-9090-62F90DADD2DD}" presName="node" presStyleLbl="node1" presStyleIdx="1" presStyleCnt="7">
        <dgm:presLayoutVars>
          <dgm:bulletEnabled val="1"/>
        </dgm:presLayoutVars>
      </dgm:prSet>
      <dgm:spPr/>
    </dgm:pt>
    <dgm:pt modelId="{86051931-F2BF-43BC-B222-A02F8553C134}" type="pres">
      <dgm:prSet presAssocID="{B0D0204D-615B-41FC-9090-62F90DADD2DD}" presName="spNode" presStyleCnt="0"/>
      <dgm:spPr/>
    </dgm:pt>
    <dgm:pt modelId="{EABA8D48-584B-4778-8E71-08ACD6FEC110}" type="pres">
      <dgm:prSet presAssocID="{DCA74DA4-0B96-4344-979A-9BC8BD464659}" presName="sibTrans" presStyleLbl="sibTrans1D1" presStyleIdx="1" presStyleCnt="7"/>
      <dgm:spPr/>
    </dgm:pt>
    <dgm:pt modelId="{14FA55CA-D724-495F-8808-E908B679EBA9}" type="pres">
      <dgm:prSet presAssocID="{53D38419-2855-4358-8F50-9DEFF8C93475}" presName="node" presStyleLbl="node1" presStyleIdx="2" presStyleCnt="7">
        <dgm:presLayoutVars>
          <dgm:bulletEnabled val="1"/>
        </dgm:presLayoutVars>
      </dgm:prSet>
      <dgm:spPr/>
    </dgm:pt>
    <dgm:pt modelId="{0CB9D1C6-6BE9-43E1-A437-6D9768E34DF7}" type="pres">
      <dgm:prSet presAssocID="{53D38419-2855-4358-8F50-9DEFF8C93475}" presName="spNode" presStyleCnt="0"/>
      <dgm:spPr/>
    </dgm:pt>
    <dgm:pt modelId="{2980DDF2-461F-468B-9B72-757BE59D6E5C}" type="pres">
      <dgm:prSet presAssocID="{4B96EE7C-79FC-4EDB-8302-415E6B13AB29}" presName="sibTrans" presStyleLbl="sibTrans1D1" presStyleIdx="2" presStyleCnt="7"/>
      <dgm:spPr/>
    </dgm:pt>
    <dgm:pt modelId="{85A9FFB3-5155-45E7-94A6-B30405A00B21}" type="pres">
      <dgm:prSet presAssocID="{9C0F04C8-0F8A-4CEB-86AA-C881EE4F8BED}" presName="node" presStyleLbl="node1" presStyleIdx="3" presStyleCnt="7">
        <dgm:presLayoutVars>
          <dgm:bulletEnabled val="1"/>
        </dgm:presLayoutVars>
      </dgm:prSet>
      <dgm:spPr/>
    </dgm:pt>
    <dgm:pt modelId="{B90F44ED-D191-4C01-8DD3-E2D2DC247FAD}" type="pres">
      <dgm:prSet presAssocID="{9C0F04C8-0F8A-4CEB-86AA-C881EE4F8BED}" presName="spNode" presStyleCnt="0"/>
      <dgm:spPr/>
    </dgm:pt>
    <dgm:pt modelId="{106951E2-135E-4416-ABBF-40E39E50B3BA}" type="pres">
      <dgm:prSet presAssocID="{1B948610-C01F-427B-ABDC-FFD8CEFDFEE6}" presName="sibTrans" presStyleLbl="sibTrans1D1" presStyleIdx="3" presStyleCnt="7"/>
      <dgm:spPr/>
    </dgm:pt>
    <dgm:pt modelId="{7BA1EB45-0AC8-489B-8843-CFEC42F12FEA}" type="pres">
      <dgm:prSet presAssocID="{FB9719EE-A282-4B22-A7B4-389F694BC34F}" presName="node" presStyleLbl="node1" presStyleIdx="4" presStyleCnt="7">
        <dgm:presLayoutVars>
          <dgm:bulletEnabled val="1"/>
        </dgm:presLayoutVars>
      </dgm:prSet>
      <dgm:spPr/>
    </dgm:pt>
    <dgm:pt modelId="{C838F0C8-8446-47B6-90BF-78FE6078ADB1}" type="pres">
      <dgm:prSet presAssocID="{FB9719EE-A282-4B22-A7B4-389F694BC34F}" presName="spNode" presStyleCnt="0"/>
      <dgm:spPr/>
    </dgm:pt>
    <dgm:pt modelId="{0DEDBB61-F1F7-4C6D-964A-63C31A3A6BD3}" type="pres">
      <dgm:prSet presAssocID="{5B751DB2-2896-4E89-A82B-5DD6F51FB826}" presName="sibTrans" presStyleLbl="sibTrans1D1" presStyleIdx="4" presStyleCnt="7"/>
      <dgm:spPr/>
    </dgm:pt>
    <dgm:pt modelId="{D23F3297-E9C6-4BB4-8160-38A7459E6B06}" type="pres">
      <dgm:prSet presAssocID="{D1874092-E20B-43D3-9EC9-7C96A64FFB4A}" presName="node" presStyleLbl="node1" presStyleIdx="5" presStyleCnt="7">
        <dgm:presLayoutVars>
          <dgm:bulletEnabled val="1"/>
        </dgm:presLayoutVars>
      </dgm:prSet>
      <dgm:spPr/>
    </dgm:pt>
    <dgm:pt modelId="{1F09D127-AFA2-45C5-B81F-BCE51F8B27D2}" type="pres">
      <dgm:prSet presAssocID="{D1874092-E20B-43D3-9EC9-7C96A64FFB4A}" presName="spNode" presStyleCnt="0"/>
      <dgm:spPr/>
    </dgm:pt>
    <dgm:pt modelId="{2D456DF9-8145-4899-B4D0-BBF0090E1C3F}" type="pres">
      <dgm:prSet presAssocID="{FDB9AA62-6317-43EE-97D6-E2C8B4D7EBB8}" presName="sibTrans" presStyleLbl="sibTrans1D1" presStyleIdx="5" presStyleCnt="7"/>
      <dgm:spPr/>
    </dgm:pt>
    <dgm:pt modelId="{F1FB4F8C-7DE0-46A0-A1D0-28EA321CB699}" type="pres">
      <dgm:prSet presAssocID="{F7EC6C4F-80C7-4C2E-ADB8-489912BAFB6E}" presName="node" presStyleLbl="node1" presStyleIdx="6" presStyleCnt="7">
        <dgm:presLayoutVars>
          <dgm:bulletEnabled val="1"/>
        </dgm:presLayoutVars>
      </dgm:prSet>
      <dgm:spPr/>
    </dgm:pt>
    <dgm:pt modelId="{9DE5AF1A-A3CB-481A-A62C-D6A135777097}" type="pres">
      <dgm:prSet presAssocID="{F7EC6C4F-80C7-4C2E-ADB8-489912BAFB6E}" presName="spNode" presStyleCnt="0"/>
      <dgm:spPr/>
    </dgm:pt>
    <dgm:pt modelId="{08205C19-86DC-4E7B-AE5D-1EBF441C6A90}" type="pres">
      <dgm:prSet presAssocID="{24ADF289-9449-4849-AB26-7D12BABDE029}" presName="sibTrans" presStyleLbl="sibTrans1D1" presStyleIdx="6" presStyleCnt="7"/>
      <dgm:spPr/>
    </dgm:pt>
  </dgm:ptLst>
  <dgm:cxnLst>
    <dgm:cxn modelId="{C7D64902-9D40-4268-AE5A-EFB7B3CA40CE}" type="presOf" srcId="{5B751DB2-2896-4E89-A82B-5DD6F51FB826}" destId="{0DEDBB61-F1F7-4C6D-964A-63C31A3A6BD3}" srcOrd="0" destOrd="0" presId="urn:microsoft.com/office/officeart/2005/8/layout/cycle5"/>
    <dgm:cxn modelId="{D7B83C04-41AD-419F-9F06-A4B8E9F18CF4}" type="presOf" srcId="{006B6E62-D0FA-412D-83ED-602ADD97DAD7}" destId="{E3CD0638-D1B9-4B6E-A290-49A940733C67}" srcOrd="0" destOrd="0" presId="urn:microsoft.com/office/officeart/2005/8/layout/cycle5"/>
    <dgm:cxn modelId="{1B341F19-C562-40DA-AC69-898573212EB1}" type="presOf" srcId="{9C0F04C8-0F8A-4CEB-86AA-C881EE4F8BED}" destId="{85A9FFB3-5155-45E7-94A6-B30405A00B21}" srcOrd="0" destOrd="0" presId="urn:microsoft.com/office/officeart/2005/8/layout/cycle5"/>
    <dgm:cxn modelId="{0A14E21D-AC27-4B09-94C5-BFFDBBCEFFD2}" type="presOf" srcId="{F7EC6C4F-80C7-4C2E-ADB8-489912BAFB6E}" destId="{F1FB4F8C-7DE0-46A0-A1D0-28EA321CB699}" srcOrd="0" destOrd="0" presId="urn:microsoft.com/office/officeart/2005/8/layout/cycle5"/>
    <dgm:cxn modelId="{31436A26-7430-4CF8-8E3B-D7817DA09103}" type="presOf" srcId="{FDB9AA62-6317-43EE-97D6-E2C8B4D7EBB8}" destId="{2D456DF9-8145-4899-B4D0-BBF0090E1C3F}" srcOrd="0" destOrd="0" presId="urn:microsoft.com/office/officeart/2005/8/layout/cycle5"/>
    <dgm:cxn modelId="{2A03225C-C763-4BD6-85E5-F7E86BC0D939}" srcId="{006B6E62-D0FA-412D-83ED-602ADD97DAD7}" destId="{53D38419-2855-4358-8F50-9DEFF8C93475}" srcOrd="2" destOrd="0" parTransId="{BA002828-E1BF-4EDA-B980-D133B7D1C5A9}" sibTransId="{4B96EE7C-79FC-4EDB-8302-415E6B13AB29}"/>
    <dgm:cxn modelId="{C241EE60-3D95-4829-ADFF-B3C5FE50059A}" type="presOf" srcId="{53D38419-2855-4358-8F50-9DEFF8C93475}" destId="{14FA55CA-D724-495F-8808-E908B679EBA9}" srcOrd="0" destOrd="0" presId="urn:microsoft.com/office/officeart/2005/8/layout/cycle5"/>
    <dgm:cxn modelId="{5A4F0266-42DA-42EB-B9AE-86913E2309E5}" type="presOf" srcId="{24ADF289-9449-4849-AB26-7D12BABDE029}" destId="{08205C19-86DC-4E7B-AE5D-1EBF441C6A90}" srcOrd="0" destOrd="0" presId="urn:microsoft.com/office/officeart/2005/8/layout/cycle5"/>
    <dgm:cxn modelId="{FC350468-8FC7-4765-B779-63C07A1842B2}" type="presOf" srcId="{27871E55-E114-4FC2-82B3-D4EA6E697176}" destId="{0740FD75-4AAC-4264-B51B-2F623E711E94}" srcOrd="0" destOrd="0" presId="urn:microsoft.com/office/officeart/2005/8/layout/cycle5"/>
    <dgm:cxn modelId="{EFE9194C-D6AF-454F-B08F-2AAD185B5CAD}" srcId="{006B6E62-D0FA-412D-83ED-602ADD97DAD7}" destId="{D1874092-E20B-43D3-9EC9-7C96A64FFB4A}" srcOrd="5" destOrd="0" parTransId="{03FC8950-8C10-4BF0-A8CC-0A8CC31F9D36}" sibTransId="{FDB9AA62-6317-43EE-97D6-E2C8B4D7EBB8}"/>
    <dgm:cxn modelId="{A7F53E4D-F5B7-4031-AE1C-6CEB5A12F915}" srcId="{006B6E62-D0FA-412D-83ED-602ADD97DAD7}" destId="{9C0F04C8-0F8A-4CEB-86AA-C881EE4F8BED}" srcOrd="3" destOrd="0" parTransId="{51601F8C-F65B-458F-AF29-F13C568B3BF1}" sibTransId="{1B948610-C01F-427B-ABDC-FFD8CEFDFEE6}"/>
    <dgm:cxn modelId="{27581A56-7062-4B01-8B9B-82589A7EA25E}" srcId="{006B6E62-D0FA-412D-83ED-602ADD97DAD7}" destId="{1EE5800D-27AB-49A4-A42E-59B82EE1406B}" srcOrd="0" destOrd="0" parTransId="{EB8B3088-FAC9-4A51-BD05-37312759D990}" sibTransId="{27871E55-E114-4FC2-82B3-D4EA6E697176}"/>
    <dgm:cxn modelId="{424BE387-C65E-412C-82F0-2574BD0E4088}" srcId="{006B6E62-D0FA-412D-83ED-602ADD97DAD7}" destId="{B0D0204D-615B-41FC-9090-62F90DADD2DD}" srcOrd="1" destOrd="0" parTransId="{461F9CD4-AB15-4254-BF61-0B4AA08C2CCD}" sibTransId="{DCA74DA4-0B96-4344-979A-9BC8BD464659}"/>
    <dgm:cxn modelId="{69195188-D0CD-424F-A22C-E3A6B13DD3C8}" type="presOf" srcId="{D1874092-E20B-43D3-9EC9-7C96A64FFB4A}" destId="{D23F3297-E9C6-4BB4-8160-38A7459E6B06}" srcOrd="0" destOrd="0" presId="urn:microsoft.com/office/officeart/2005/8/layout/cycle5"/>
    <dgm:cxn modelId="{DA22578C-2F27-4C82-B749-833CD2DA17C2}" type="presOf" srcId="{B0D0204D-615B-41FC-9090-62F90DADD2DD}" destId="{AD88B173-317C-4438-B152-2C626190F277}" srcOrd="0" destOrd="0" presId="urn:microsoft.com/office/officeart/2005/8/layout/cycle5"/>
    <dgm:cxn modelId="{258F768D-EF59-4CD4-8DEB-30859BCB17D9}" type="presOf" srcId="{1B948610-C01F-427B-ABDC-FFD8CEFDFEE6}" destId="{106951E2-135E-4416-ABBF-40E39E50B3BA}" srcOrd="0" destOrd="0" presId="urn:microsoft.com/office/officeart/2005/8/layout/cycle5"/>
    <dgm:cxn modelId="{7C80CD90-E3B7-4D39-B4EC-D2CD4EC9B360}" srcId="{006B6E62-D0FA-412D-83ED-602ADD97DAD7}" destId="{F7EC6C4F-80C7-4C2E-ADB8-489912BAFB6E}" srcOrd="6" destOrd="0" parTransId="{0EE8EB76-CE44-43F1-B7A9-10CB7252E685}" sibTransId="{24ADF289-9449-4849-AB26-7D12BABDE029}"/>
    <dgm:cxn modelId="{C476A193-23D5-408D-8CCE-104FE7FCE360}" type="presOf" srcId="{4B96EE7C-79FC-4EDB-8302-415E6B13AB29}" destId="{2980DDF2-461F-468B-9B72-757BE59D6E5C}" srcOrd="0" destOrd="0" presId="urn:microsoft.com/office/officeart/2005/8/layout/cycle5"/>
    <dgm:cxn modelId="{E53A92AB-B618-47D1-A242-57AD24A4E8BC}" type="presOf" srcId="{FB9719EE-A282-4B22-A7B4-389F694BC34F}" destId="{7BA1EB45-0AC8-489B-8843-CFEC42F12FEA}" srcOrd="0" destOrd="0" presId="urn:microsoft.com/office/officeart/2005/8/layout/cycle5"/>
    <dgm:cxn modelId="{7A9105E0-BC5C-4F32-963C-3A5E98007FFD}" type="presOf" srcId="{1EE5800D-27AB-49A4-A42E-59B82EE1406B}" destId="{A64087FE-A209-4701-9477-CE2AE4EC07A9}" srcOrd="0" destOrd="0" presId="urn:microsoft.com/office/officeart/2005/8/layout/cycle5"/>
    <dgm:cxn modelId="{3DFB24EA-3F2E-45A5-B950-40E9EF6D2328}" srcId="{006B6E62-D0FA-412D-83ED-602ADD97DAD7}" destId="{FB9719EE-A282-4B22-A7B4-389F694BC34F}" srcOrd="4" destOrd="0" parTransId="{0DF2B60A-8734-4A71-B9BF-E650C0AB2139}" sibTransId="{5B751DB2-2896-4E89-A82B-5DD6F51FB826}"/>
    <dgm:cxn modelId="{E5264EEC-0EF6-4679-BAF0-B9494D82D2B4}" type="presOf" srcId="{DCA74DA4-0B96-4344-979A-9BC8BD464659}" destId="{EABA8D48-584B-4778-8E71-08ACD6FEC110}" srcOrd="0" destOrd="0" presId="urn:microsoft.com/office/officeart/2005/8/layout/cycle5"/>
    <dgm:cxn modelId="{1A587525-C62D-4FC4-AB0B-02E1795362C5}" type="presParOf" srcId="{E3CD0638-D1B9-4B6E-A290-49A940733C67}" destId="{A64087FE-A209-4701-9477-CE2AE4EC07A9}" srcOrd="0" destOrd="0" presId="urn:microsoft.com/office/officeart/2005/8/layout/cycle5"/>
    <dgm:cxn modelId="{E6602D20-75DB-4972-BC19-AA2C2BA92B72}" type="presParOf" srcId="{E3CD0638-D1B9-4B6E-A290-49A940733C67}" destId="{799EE3A2-FF05-470C-8F1D-577412DA929C}" srcOrd="1" destOrd="0" presId="urn:microsoft.com/office/officeart/2005/8/layout/cycle5"/>
    <dgm:cxn modelId="{55E5D3D0-DB76-4FDE-A693-570A6CE1FBF9}" type="presParOf" srcId="{E3CD0638-D1B9-4B6E-A290-49A940733C67}" destId="{0740FD75-4AAC-4264-B51B-2F623E711E94}" srcOrd="2" destOrd="0" presId="urn:microsoft.com/office/officeart/2005/8/layout/cycle5"/>
    <dgm:cxn modelId="{28498284-83A7-4FB5-AD82-F6AF7015EF14}" type="presParOf" srcId="{E3CD0638-D1B9-4B6E-A290-49A940733C67}" destId="{AD88B173-317C-4438-B152-2C626190F277}" srcOrd="3" destOrd="0" presId="urn:microsoft.com/office/officeart/2005/8/layout/cycle5"/>
    <dgm:cxn modelId="{E5063E2E-A630-47D6-A3FB-1A649B338799}" type="presParOf" srcId="{E3CD0638-D1B9-4B6E-A290-49A940733C67}" destId="{86051931-F2BF-43BC-B222-A02F8553C134}" srcOrd="4" destOrd="0" presId="urn:microsoft.com/office/officeart/2005/8/layout/cycle5"/>
    <dgm:cxn modelId="{A73E895B-83FE-4A05-AE7A-882A57124330}" type="presParOf" srcId="{E3CD0638-D1B9-4B6E-A290-49A940733C67}" destId="{EABA8D48-584B-4778-8E71-08ACD6FEC110}" srcOrd="5" destOrd="0" presId="urn:microsoft.com/office/officeart/2005/8/layout/cycle5"/>
    <dgm:cxn modelId="{88B63B75-C7E2-44E6-A7F3-9DAF9C4B0C24}" type="presParOf" srcId="{E3CD0638-D1B9-4B6E-A290-49A940733C67}" destId="{14FA55CA-D724-495F-8808-E908B679EBA9}" srcOrd="6" destOrd="0" presId="urn:microsoft.com/office/officeart/2005/8/layout/cycle5"/>
    <dgm:cxn modelId="{13A4A668-65FB-4BC4-982C-82F783F33C6E}" type="presParOf" srcId="{E3CD0638-D1B9-4B6E-A290-49A940733C67}" destId="{0CB9D1C6-6BE9-43E1-A437-6D9768E34DF7}" srcOrd="7" destOrd="0" presId="urn:microsoft.com/office/officeart/2005/8/layout/cycle5"/>
    <dgm:cxn modelId="{CE87E0D5-31C3-4E6C-85A0-1263910B6205}" type="presParOf" srcId="{E3CD0638-D1B9-4B6E-A290-49A940733C67}" destId="{2980DDF2-461F-468B-9B72-757BE59D6E5C}" srcOrd="8" destOrd="0" presId="urn:microsoft.com/office/officeart/2005/8/layout/cycle5"/>
    <dgm:cxn modelId="{9A861545-C011-4423-9D28-F12EFB57008C}" type="presParOf" srcId="{E3CD0638-D1B9-4B6E-A290-49A940733C67}" destId="{85A9FFB3-5155-45E7-94A6-B30405A00B21}" srcOrd="9" destOrd="0" presId="urn:microsoft.com/office/officeart/2005/8/layout/cycle5"/>
    <dgm:cxn modelId="{5DBC2DBE-760C-497C-9E94-282053742EA2}" type="presParOf" srcId="{E3CD0638-D1B9-4B6E-A290-49A940733C67}" destId="{B90F44ED-D191-4C01-8DD3-E2D2DC247FAD}" srcOrd="10" destOrd="0" presId="urn:microsoft.com/office/officeart/2005/8/layout/cycle5"/>
    <dgm:cxn modelId="{87C77528-86DF-4C03-8A4D-425E6FDA6577}" type="presParOf" srcId="{E3CD0638-D1B9-4B6E-A290-49A940733C67}" destId="{106951E2-135E-4416-ABBF-40E39E50B3BA}" srcOrd="11" destOrd="0" presId="urn:microsoft.com/office/officeart/2005/8/layout/cycle5"/>
    <dgm:cxn modelId="{A561203D-B994-4B2C-A73E-3BDB899EA8D1}" type="presParOf" srcId="{E3CD0638-D1B9-4B6E-A290-49A940733C67}" destId="{7BA1EB45-0AC8-489B-8843-CFEC42F12FEA}" srcOrd="12" destOrd="0" presId="urn:microsoft.com/office/officeart/2005/8/layout/cycle5"/>
    <dgm:cxn modelId="{E04EB90D-6850-418D-B498-905544306EB6}" type="presParOf" srcId="{E3CD0638-D1B9-4B6E-A290-49A940733C67}" destId="{C838F0C8-8446-47B6-90BF-78FE6078ADB1}" srcOrd="13" destOrd="0" presId="urn:microsoft.com/office/officeart/2005/8/layout/cycle5"/>
    <dgm:cxn modelId="{0F266AFD-DE13-4300-ACD3-77327C02368E}" type="presParOf" srcId="{E3CD0638-D1B9-4B6E-A290-49A940733C67}" destId="{0DEDBB61-F1F7-4C6D-964A-63C31A3A6BD3}" srcOrd="14" destOrd="0" presId="urn:microsoft.com/office/officeart/2005/8/layout/cycle5"/>
    <dgm:cxn modelId="{DCABF1A0-1468-4E18-8660-70A25F749A17}" type="presParOf" srcId="{E3CD0638-D1B9-4B6E-A290-49A940733C67}" destId="{D23F3297-E9C6-4BB4-8160-38A7459E6B06}" srcOrd="15" destOrd="0" presId="urn:microsoft.com/office/officeart/2005/8/layout/cycle5"/>
    <dgm:cxn modelId="{F6CC3AF6-1CED-4399-B58F-4FE51C8925B4}" type="presParOf" srcId="{E3CD0638-D1B9-4B6E-A290-49A940733C67}" destId="{1F09D127-AFA2-45C5-B81F-BCE51F8B27D2}" srcOrd="16" destOrd="0" presId="urn:microsoft.com/office/officeart/2005/8/layout/cycle5"/>
    <dgm:cxn modelId="{EF80F0CF-2EC4-41E2-A9C1-B68D9DE0B511}" type="presParOf" srcId="{E3CD0638-D1B9-4B6E-A290-49A940733C67}" destId="{2D456DF9-8145-4899-B4D0-BBF0090E1C3F}" srcOrd="17" destOrd="0" presId="urn:microsoft.com/office/officeart/2005/8/layout/cycle5"/>
    <dgm:cxn modelId="{B8B35F89-3EA6-4F57-8CEE-56F14B34B9C7}" type="presParOf" srcId="{E3CD0638-D1B9-4B6E-A290-49A940733C67}" destId="{F1FB4F8C-7DE0-46A0-A1D0-28EA321CB699}" srcOrd="18" destOrd="0" presId="urn:microsoft.com/office/officeart/2005/8/layout/cycle5"/>
    <dgm:cxn modelId="{88E17C25-1383-44AA-9671-B7BC467E25DE}" type="presParOf" srcId="{E3CD0638-D1B9-4B6E-A290-49A940733C67}" destId="{9DE5AF1A-A3CB-481A-A62C-D6A135777097}" srcOrd="19" destOrd="0" presId="urn:microsoft.com/office/officeart/2005/8/layout/cycle5"/>
    <dgm:cxn modelId="{D11CA841-1CE5-412D-A2BD-BC1F743BDAB6}" type="presParOf" srcId="{E3CD0638-D1B9-4B6E-A290-49A940733C67}" destId="{08205C19-86DC-4E7B-AE5D-1EBF441C6A90}" srcOrd="20" destOrd="0" presId="urn:microsoft.com/office/officeart/2005/8/layout/cycle5"/>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006B6E62-D0FA-412D-83ED-602ADD97DAD7}" type="doc">
      <dgm:prSet loTypeId="urn:microsoft.com/office/officeart/2005/8/layout/cycle5" loCatId="cycle" qsTypeId="urn:microsoft.com/office/officeart/2005/8/quickstyle/simple4" qsCatId="simple" csTypeId="urn:microsoft.com/office/officeart/2005/8/colors/accent4_4" csCatId="accent4" phldr="1"/>
      <dgm:spPr/>
      <dgm:t>
        <a:bodyPr/>
        <a:lstStyle/>
        <a:p>
          <a:endParaRPr lang="en-US"/>
        </a:p>
      </dgm:t>
    </dgm:pt>
    <dgm:pt modelId="{E3CD0638-D1B9-4B6E-A290-49A940733C67}" type="pres">
      <dgm:prSet presAssocID="{006B6E62-D0FA-412D-83ED-602ADD97DAD7}" presName="cycle" presStyleCnt="0">
        <dgm:presLayoutVars>
          <dgm:dir/>
          <dgm:resizeHandles val="exact"/>
        </dgm:presLayoutVars>
      </dgm:prSet>
      <dgm:spPr/>
    </dgm:pt>
  </dgm:ptLst>
  <dgm:cxnLst>
    <dgm:cxn modelId="{D7B83C04-41AD-419F-9F06-A4B8E9F18CF4}" type="presOf" srcId="{006B6E62-D0FA-412D-83ED-602ADD97DAD7}" destId="{E3CD0638-D1B9-4B6E-A290-49A940733C67}" srcOrd="0" destOrd="0" presId="urn:microsoft.com/office/officeart/2005/8/layout/cycle5"/>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006B6E62-D0FA-412D-83ED-602ADD97DAD7}" type="doc">
      <dgm:prSet loTypeId="urn:microsoft.com/office/officeart/2005/8/layout/cycle5" loCatId="cycle" qsTypeId="urn:microsoft.com/office/officeart/2005/8/quickstyle/simple4" qsCatId="simple" csTypeId="urn:microsoft.com/office/officeart/2005/8/colors/accent4_4" csCatId="accent4" phldr="1"/>
      <dgm:spPr/>
      <dgm:t>
        <a:bodyPr/>
        <a:lstStyle/>
        <a:p>
          <a:endParaRPr lang="en-US"/>
        </a:p>
      </dgm:t>
    </dgm:pt>
    <dgm:pt modelId="{E3CD0638-D1B9-4B6E-A290-49A940733C67}" type="pres">
      <dgm:prSet presAssocID="{006B6E62-D0FA-412D-83ED-602ADD97DAD7}" presName="cycle" presStyleCnt="0">
        <dgm:presLayoutVars>
          <dgm:dir/>
          <dgm:resizeHandles val="exact"/>
        </dgm:presLayoutVars>
      </dgm:prSet>
      <dgm:spPr/>
    </dgm:pt>
  </dgm:ptLst>
  <dgm:cxnLst>
    <dgm:cxn modelId="{D7B83C04-41AD-419F-9F06-A4B8E9F18CF4}" type="presOf" srcId="{006B6E62-D0FA-412D-83ED-602ADD97DAD7}" destId="{E3CD0638-D1B9-4B6E-A290-49A940733C67}" srcOrd="0" destOrd="0" presId="urn:microsoft.com/office/officeart/2005/8/layout/cycle5"/>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006B6E62-D0FA-412D-83ED-602ADD97DAD7}" type="doc">
      <dgm:prSet loTypeId="urn:microsoft.com/office/officeart/2005/8/layout/cycle5" loCatId="cycle" qsTypeId="urn:microsoft.com/office/officeart/2005/8/quickstyle/simple4" qsCatId="simple" csTypeId="urn:microsoft.com/office/officeart/2005/8/colors/accent4_4" csCatId="accent4" phldr="1"/>
      <dgm:spPr/>
      <dgm:t>
        <a:bodyPr/>
        <a:lstStyle/>
        <a:p>
          <a:endParaRPr lang="en-US"/>
        </a:p>
      </dgm:t>
    </dgm:pt>
    <dgm:pt modelId="{E3CD0638-D1B9-4B6E-A290-49A940733C67}" type="pres">
      <dgm:prSet presAssocID="{006B6E62-D0FA-412D-83ED-602ADD97DAD7}" presName="cycle" presStyleCnt="0">
        <dgm:presLayoutVars>
          <dgm:dir/>
          <dgm:resizeHandles val="exact"/>
        </dgm:presLayoutVars>
      </dgm:prSet>
      <dgm:spPr/>
    </dgm:pt>
  </dgm:ptLst>
  <dgm:cxnLst>
    <dgm:cxn modelId="{D7B83C04-41AD-419F-9F06-A4B8E9F18CF4}" type="presOf" srcId="{006B6E62-D0FA-412D-83ED-602ADD97DAD7}" destId="{E3CD0638-D1B9-4B6E-A290-49A940733C67}" srcOrd="0" destOrd="0" presId="urn:microsoft.com/office/officeart/2005/8/layout/cycle5"/>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4087FE-A209-4701-9477-CE2AE4EC07A9}">
      <dsp:nvSpPr>
        <dsp:cNvPr id="0" name=""/>
        <dsp:cNvSpPr/>
      </dsp:nvSpPr>
      <dsp:spPr>
        <a:xfrm>
          <a:off x="2999989" y="1737"/>
          <a:ext cx="1177565" cy="765417"/>
        </a:xfrm>
        <a:prstGeom prst="roundRect">
          <a:avLst/>
        </a:prstGeom>
        <a:gradFill rotWithShape="0">
          <a:gsLst>
            <a:gs pos="0">
              <a:schemeClr val="accent4">
                <a:shade val="50000"/>
                <a:hueOff val="0"/>
                <a:satOff val="0"/>
                <a:lumOff val="0"/>
                <a:alphaOff val="0"/>
                <a:tint val="100000"/>
                <a:shade val="100000"/>
                <a:satMod val="130000"/>
              </a:schemeClr>
            </a:gs>
            <a:gs pos="100000">
              <a:schemeClr val="accent4">
                <a:shade val="5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Business Understanding</a:t>
          </a:r>
        </a:p>
      </dsp:txBody>
      <dsp:txXfrm>
        <a:off x="3037354" y="39102"/>
        <a:ext cx="1102835" cy="690687"/>
      </dsp:txXfrm>
    </dsp:sp>
    <dsp:sp modelId="{0740FD75-4AAC-4264-B51B-2F623E711E94}">
      <dsp:nvSpPr>
        <dsp:cNvPr id="0" name=""/>
        <dsp:cNvSpPr/>
      </dsp:nvSpPr>
      <dsp:spPr>
        <a:xfrm>
          <a:off x="1404911" y="384446"/>
          <a:ext cx="4367721" cy="4367721"/>
        </a:xfrm>
        <a:custGeom>
          <a:avLst/>
          <a:gdLst/>
          <a:ahLst/>
          <a:cxnLst/>
          <a:rect l="0" t="0" r="0" b="0"/>
          <a:pathLst>
            <a:path>
              <a:moveTo>
                <a:pt x="2926705" y="130222"/>
              </a:moveTo>
              <a:arcTo wR="2183860" hR="2183860" stAng="17393169" swAng="771551"/>
            </a:path>
          </a:pathLst>
        </a:custGeom>
        <a:noFill/>
        <a:ln w="9525" cap="flat" cmpd="sng" algn="ctr">
          <a:solidFill>
            <a:schemeClr val="accent4">
              <a:shade val="90000"/>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AD88B173-317C-4438-B152-2C626190F277}">
      <dsp:nvSpPr>
        <dsp:cNvPr id="0" name=""/>
        <dsp:cNvSpPr/>
      </dsp:nvSpPr>
      <dsp:spPr>
        <a:xfrm>
          <a:off x="4707400" y="823982"/>
          <a:ext cx="1177565" cy="765417"/>
        </a:xfrm>
        <a:prstGeom prst="roundRect">
          <a:avLst/>
        </a:prstGeom>
        <a:gradFill rotWithShape="0">
          <a:gsLst>
            <a:gs pos="0">
              <a:schemeClr val="accent4">
                <a:shade val="50000"/>
                <a:hueOff val="-59838"/>
                <a:satOff val="-1811"/>
                <a:lumOff val="11889"/>
                <a:alphaOff val="0"/>
                <a:tint val="100000"/>
                <a:shade val="100000"/>
                <a:satMod val="130000"/>
              </a:schemeClr>
            </a:gs>
            <a:gs pos="100000">
              <a:schemeClr val="accent4">
                <a:shade val="50000"/>
                <a:hueOff val="-59838"/>
                <a:satOff val="-1811"/>
                <a:lumOff val="11889"/>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Data Collection</a:t>
          </a:r>
        </a:p>
      </dsp:txBody>
      <dsp:txXfrm>
        <a:off x="4744765" y="861347"/>
        <a:ext cx="1102835" cy="690687"/>
      </dsp:txXfrm>
    </dsp:sp>
    <dsp:sp modelId="{EABA8D48-584B-4778-8E71-08ACD6FEC110}">
      <dsp:nvSpPr>
        <dsp:cNvPr id="0" name=""/>
        <dsp:cNvSpPr/>
      </dsp:nvSpPr>
      <dsp:spPr>
        <a:xfrm>
          <a:off x="1404911" y="384446"/>
          <a:ext cx="4367721" cy="4367721"/>
        </a:xfrm>
        <a:custGeom>
          <a:avLst/>
          <a:gdLst/>
          <a:ahLst/>
          <a:cxnLst/>
          <a:rect l="0" t="0" r="0" b="0"/>
          <a:pathLst>
            <a:path>
              <a:moveTo>
                <a:pt x="4225025" y="1407398"/>
              </a:moveTo>
              <a:arcTo wR="2183860" hR="2183860" stAng="20350386" swAng="1063943"/>
            </a:path>
          </a:pathLst>
        </a:custGeom>
        <a:noFill/>
        <a:ln w="9525" cap="flat" cmpd="sng" algn="ctr">
          <a:solidFill>
            <a:schemeClr val="accent4">
              <a:shade val="90000"/>
              <a:hueOff val="-62162"/>
              <a:satOff val="-1694"/>
              <a:lumOff val="9157"/>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14FA55CA-D724-495F-8808-E908B679EBA9}">
      <dsp:nvSpPr>
        <dsp:cNvPr id="0" name=""/>
        <dsp:cNvSpPr/>
      </dsp:nvSpPr>
      <dsp:spPr>
        <a:xfrm>
          <a:off x="5129095" y="2671552"/>
          <a:ext cx="1177565" cy="765417"/>
        </a:xfrm>
        <a:prstGeom prst="roundRect">
          <a:avLst/>
        </a:prstGeom>
        <a:gradFill rotWithShape="0">
          <a:gsLst>
            <a:gs pos="0">
              <a:schemeClr val="accent4">
                <a:shade val="50000"/>
                <a:hueOff val="-119677"/>
                <a:satOff val="-3621"/>
                <a:lumOff val="23778"/>
                <a:alphaOff val="0"/>
                <a:tint val="100000"/>
                <a:shade val="100000"/>
                <a:satMod val="130000"/>
              </a:schemeClr>
            </a:gs>
            <a:gs pos="100000">
              <a:schemeClr val="accent4">
                <a:shade val="50000"/>
                <a:hueOff val="-119677"/>
                <a:satOff val="-3621"/>
                <a:lumOff val="2377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Data Preparation</a:t>
          </a:r>
        </a:p>
      </dsp:txBody>
      <dsp:txXfrm>
        <a:off x="5166460" y="2708917"/>
        <a:ext cx="1102835" cy="690687"/>
      </dsp:txXfrm>
    </dsp:sp>
    <dsp:sp modelId="{2980DDF2-461F-468B-9B72-757BE59D6E5C}">
      <dsp:nvSpPr>
        <dsp:cNvPr id="0" name=""/>
        <dsp:cNvSpPr/>
      </dsp:nvSpPr>
      <dsp:spPr>
        <a:xfrm>
          <a:off x="1404911" y="384446"/>
          <a:ext cx="4367721" cy="4367721"/>
        </a:xfrm>
        <a:custGeom>
          <a:avLst/>
          <a:gdLst/>
          <a:ahLst/>
          <a:cxnLst/>
          <a:rect l="0" t="0" r="0" b="0"/>
          <a:pathLst>
            <a:path>
              <a:moveTo>
                <a:pt x="4111638" y="3209978"/>
              </a:moveTo>
              <a:arcTo wR="2183860" hR="2183860" stAng="1681529" swAng="835005"/>
            </a:path>
          </a:pathLst>
        </a:custGeom>
        <a:noFill/>
        <a:ln w="9525" cap="flat" cmpd="sng" algn="ctr">
          <a:solidFill>
            <a:schemeClr val="accent4">
              <a:shade val="90000"/>
              <a:hueOff val="-124323"/>
              <a:satOff val="-3388"/>
              <a:lumOff val="18315"/>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85A9FFB3-5155-45E7-94A6-B30405A00B21}">
      <dsp:nvSpPr>
        <dsp:cNvPr id="0" name=""/>
        <dsp:cNvSpPr/>
      </dsp:nvSpPr>
      <dsp:spPr>
        <a:xfrm>
          <a:off x="3947530" y="4153188"/>
          <a:ext cx="1177565" cy="765417"/>
        </a:xfrm>
        <a:prstGeom prst="roundRect">
          <a:avLst/>
        </a:prstGeom>
        <a:gradFill rotWithShape="0">
          <a:gsLst>
            <a:gs pos="0">
              <a:schemeClr val="accent4">
                <a:shade val="50000"/>
                <a:hueOff val="-179515"/>
                <a:satOff val="-5432"/>
                <a:lumOff val="35667"/>
                <a:alphaOff val="0"/>
                <a:tint val="100000"/>
                <a:shade val="100000"/>
                <a:satMod val="130000"/>
              </a:schemeClr>
            </a:gs>
            <a:gs pos="100000">
              <a:schemeClr val="accent4">
                <a:shade val="50000"/>
                <a:hueOff val="-179515"/>
                <a:satOff val="-5432"/>
                <a:lumOff val="35667"/>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Exploratory Data Analysis (EDA)</a:t>
          </a:r>
        </a:p>
      </dsp:txBody>
      <dsp:txXfrm>
        <a:off x="3984895" y="4190553"/>
        <a:ext cx="1102835" cy="690687"/>
      </dsp:txXfrm>
    </dsp:sp>
    <dsp:sp modelId="{106951E2-135E-4416-ABBF-40E39E50B3BA}">
      <dsp:nvSpPr>
        <dsp:cNvPr id="0" name=""/>
        <dsp:cNvSpPr/>
      </dsp:nvSpPr>
      <dsp:spPr>
        <a:xfrm>
          <a:off x="1404911" y="384446"/>
          <a:ext cx="4367721" cy="4367721"/>
        </a:xfrm>
        <a:custGeom>
          <a:avLst/>
          <a:gdLst/>
          <a:ahLst/>
          <a:cxnLst/>
          <a:rect l="0" t="0" r="0" b="0"/>
          <a:pathLst>
            <a:path>
              <a:moveTo>
                <a:pt x="2400392" y="4356959"/>
              </a:moveTo>
              <a:arcTo wR="2183860" hR="2183860" stAng="5058582" swAng="682835"/>
            </a:path>
          </a:pathLst>
        </a:custGeom>
        <a:noFill/>
        <a:ln w="9525" cap="flat" cmpd="sng" algn="ctr">
          <a:solidFill>
            <a:schemeClr val="accent4">
              <a:shade val="90000"/>
              <a:hueOff val="-186485"/>
              <a:satOff val="-5082"/>
              <a:lumOff val="27472"/>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7BA1EB45-0AC8-489B-8843-CFEC42F12FEA}">
      <dsp:nvSpPr>
        <dsp:cNvPr id="0" name=""/>
        <dsp:cNvSpPr/>
      </dsp:nvSpPr>
      <dsp:spPr>
        <a:xfrm>
          <a:off x="2052447" y="4153188"/>
          <a:ext cx="1177565" cy="765417"/>
        </a:xfrm>
        <a:prstGeom prst="roundRect">
          <a:avLst/>
        </a:prstGeom>
        <a:gradFill rotWithShape="0">
          <a:gsLst>
            <a:gs pos="0">
              <a:schemeClr val="accent4">
                <a:shade val="50000"/>
                <a:hueOff val="-179515"/>
                <a:satOff val="-5432"/>
                <a:lumOff val="35667"/>
                <a:alphaOff val="0"/>
                <a:tint val="100000"/>
                <a:shade val="100000"/>
                <a:satMod val="130000"/>
              </a:schemeClr>
            </a:gs>
            <a:gs pos="100000">
              <a:schemeClr val="accent4">
                <a:shade val="50000"/>
                <a:hueOff val="-179515"/>
                <a:satOff val="-5432"/>
                <a:lumOff val="35667"/>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Modeling the Data</a:t>
          </a:r>
        </a:p>
      </dsp:txBody>
      <dsp:txXfrm>
        <a:off x="2089812" y="4190553"/>
        <a:ext cx="1102835" cy="690687"/>
      </dsp:txXfrm>
    </dsp:sp>
    <dsp:sp modelId="{0DEDBB61-F1F7-4C6D-964A-63C31A3A6BD3}">
      <dsp:nvSpPr>
        <dsp:cNvPr id="0" name=""/>
        <dsp:cNvSpPr/>
      </dsp:nvSpPr>
      <dsp:spPr>
        <a:xfrm>
          <a:off x="1404911" y="384446"/>
          <a:ext cx="4367721" cy="4367721"/>
        </a:xfrm>
        <a:custGeom>
          <a:avLst/>
          <a:gdLst/>
          <a:ahLst/>
          <a:cxnLst/>
          <a:rect l="0" t="0" r="0" b="0"/>
          <a:pathLst>
            <a:path>
              <a:moveTo>
                <a:pt x="559463" y="3643511"/>
              </a:moveTo>
              <a:arcTo wR="2183860" hR="2183860" stAng="8283466" swAng="835005"/>
            </a:path>
          </a:pathLst>
        </a:custGeom>
        <a:noFill/>
        <a:ln w="9525" cap="flat" cmpd="sng" algn="ctr">
          <a:solidFill>
            <a:schemeClr val="accent4">
              <a:shade val="90000"/>
              <a:hueOff val="-186485"/>
              <a:satOff val="-5082"/>
              <a:lumOff val="27472"/>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D23F3297-E9C6-4BB4-8160-38A7459E6B06}">
      <dsp:nvSpPr>
        <dsp:cNvPr id="0" name=""/>
        <dsp:cNvSpPr/>
      </dsp:nvSpPr>
      <dsp:spPr>
        <a:xfrm>
          <a:off x="870882" y="2671552"/>
          <a:ext cx="1177565" cy="765417"/>
        </a:xfrm>
        <a:prstGeom prst="roundRect">
          <a:avLst/>
        </a:prstGeom>
        <a:gradFill rotWithShape="0">
          <a:gsLst>
            <a:gs pos="0">
              <a:schemeClr val="accent4">
                <a:shade val="50000"/>
                <a:hueOff val="-119677"/>
                <a:satOff val="-3621"/>
                <a:lumOff val="23778"/>
                <a:alphaOff val="0"/>
                <a:tint val="100000"/>
                <a:shade val="100000"/>
                <a:satMod val="130000"/>
              </a:schemeClr>
            </a:gs>
            <a:gs pos="100000">
              <a:schemeClr val="accent4">
                <a:shade val="50000"/>
                <a:hueOff val="-119677"/>
                <a:satOff val="-3621"/>
                <a:lumOff val="2377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Model Evaluation</a:t>
          </a:r>
        </a:p>
      </dsp:txBody>
      <dsp:txXfrm>
        <a:off x="908247" y="2708917"/>
        <a:ext cx="1102835" cy="690687"/>
      </dsp:txXfrm>
    </dsp:sp>
    <dsp:sp modelId="{2D456DF9-8145-4899-B4D0-BBF0090E1C3F}">
      <dsp:nvSpPr>
        <dsp:cNvPr id="0" name=""/>
        <dsp:cNvSpPr/>
      </dsp:nvSpPr>
      <dsp:spPr>
        <a:xfrm>
          <a:off x="1404911" y="384446"/>
          <a:ext cx="4367721" cy="4367721"/>
        </a:xfrm>
        <a:custGeom>
          <a:avLst/>
          <a:gdLst/>
          <a:ahLst/>
          <a:cxnLst/>
          <a:rect l="0" t="0" r="0" b="0"/>
          <a:pathLst>
            <a:path>
              <a:moveTo>
                <a:pt x="3184" y="2065968"/>
              </a:moveTo>
              <a:arcTo wR="2183860" hR="2183860" stAng="10985671" swAng="1063943"/>
            </a:path>
          </a:pathLst>
        </a:custGeom>
        <a:noFill/>
        <a:ln w="9525" cap="flat" cmpd="sng" algn="ctr">
          <a:solidFill>
            <a:schemeClr val="accent4">
              <a:shade val="90000"/>
              <a:hueOff val="-124323"/>
              <a:satOff val="-3388"/>
              <a:lumOff val="18315"/>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F1FB4F8C-7DE0-46A0-A1D0-28EA321CB699}">
      <dsp:nvSpPr>
        <dsp:cNvPr id="0" name=""/>
        <dsp:cNvSpPr/>
      </dsp:nvSpPr>
      <dsp:spPr>
        <a:xfrm>
          <a:off x="1292578" y="823982"/>
          <a:ext cx="1177565" cy="765417"/>
        </a:xfrm>
        <a:prstGeom prst="roundRect">
          <a:avLst/>
        </a:prstGeom>
        <a:gradFill rotWithShape="0">
          <a:gsLst>
            <a:gs pos="0">
              <a:schemeClr val="accent4">
                <a:shade val="50000"/>
                <a:hueOff val="-59838"/>
                <a:satOff val="-1811"/>
                <a:lumOff val="11889"/>
                <a:alphaOff val="0"/>
                <a:tint val="100000"/>
                <a:shade val="100000"/>
                <a:satMod val="130000"/>
              </a:schemeClr>
            </a:gs>
            <a:gs pos="100000">
              <a:schemeClr val="accent4">
                <a:shade val="50000"/>
                <a:hueOff val="-59838"/>
                <a:satOff val="-1811"/>
                <a:lumOff val="11889"/>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Model Deployment</a:t>
          </a:r>
        </a:p>
      </dsp:txBody>
      <dsp:txXfrm>
        <a:off x="1329943" y="861347"/>
        <a:ext cx="1102835" cy="690687"/>
      </dsp:txXfrm>
    </dsp:sp>
    <dsp:sp modelId="{08205C19-86DC-4E7B-AE5D-1EBF441C6A90}">
      <dsp:nvSpPr>
        <dsp:cNvPr id="0" name=""/>
        <dsp:cNvSpPr/>
      </dsp:nvSpPr>
      <dsp:spPr>
        <a:xfrm>
          <a:off x="1404911" y="384446"/>
          <a:ext cx="4367721" cy="4367721"/>
        </a:xfrm>
        <a:custGeom>
          <a:avLst/>
          <a:gdLst/>
          <a:ahLst/>
          <a:cxnLst/>
          <a:rect l="0" t="0" r="0" b="0"/>
          <a:pathLst>
            <a:path>
              <a:moveTo>
                <a:pt x="1002597" y="347052"/>
              </a:moveTo>
              <a:arcTo wR="2183860" hR="2183860" stAng="14235280" swAng="771551"/>
            </a:path>
          </a:pathLst>
        </a:custGeom>
        <a:noFill/>
        <a:ln w="9525" cap="flat" cmpd="sng" algn="ctr">
          <a:solidFill>
            <a:schemeClr val="accent4">
              <a:shade val="90000"/>
              <a:hueOff val="-62162"/>
              <a:satOff val="-1694"/>
              <a:lumOff val="9157"/>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7b70f739eb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17b70f739eb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17b70f739eb_2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39" name="Google Shape;239;g17b70f739eb_2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7b70f739eb_2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US" dirty="0"/>
              <a:t>Before we begin, lets review the Data Science Life Cycle and where regression fits in</a:t>
            </a:r>
          </a:p>
          <a:p>
            <a:pPr marL="228600" lvl="0" indent="-228600" algn="l" rtl="0">
              <a:spcBef>
                <a:spcPts val="0"/>
              </a:spcBef>
              <a:spcAft>
                <a:spcPts val="0"/>
              </a:spcAft>
              <a:buAutoNum type="arabicPeriod"/>
            </a:pPr>
            <a:r>
              <a:rPr lang="en-US" dirty="0"/>
              <a:t>At first glance, linear regression is a modeling technique</a:t>
            </a:r>
          </a:p>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endParaRPr dirty="0"/>
          </a:p>
        </p:txBody>
      </p:sp>
      <p:sp>
        <p:nvSpPr>
          <p:cNvPr id="382" name="Google Shape;382;g17b70f739eb_2_3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17b70f739eb_2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 name="Google Shape;221;g17b70f739eb_2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B1723099-BFDA-32BB-4671-62697C47B1E9}"/>
            </a:ext>
          </a:extLst>
        </p:cNvPr>
        <p:cNvGrpSpPr/>
        <p:nvPr/>
      </p:nvGrpSpPr>
      <p:grpSpPr>
        <a:xfrm>
          <a:off x="0" y="0"/>
          <a:ext cx="0" cy="0"/>
          <a:chOff x="0" y="0"/>
          <a:chExt cx="0" cy="0"/>
        </a:xfrm>
      </p:grpSpPr>
      <p:sp>
        <p:nvSpPr>
          <p:cNvPr id="220" name="Google Shape;220;g17b70f739eb_2_165:notes">
            <a:extLst>
              <a:ext uri="{FF2B5EF4-FFF2-40B4-BE49-F238E27FC236}">
                <a16:creationId xmlns:a16="http://schemas.microsoft.com/office/drawing/2014/main" id="{3559AEC7-3134-3F89-FF8B-77B443743C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100" dirty="0">
                <a:solidFill>
                  <a:schemeClr val="tx1"/>
                </a:solidFill>
              </a:rPr>
              <a:t>The relevance, quality and number of input variables impacts the quality of your regression model! </a:t>
            </a:r>
          </a:p>
        </p:txBody>
      </p:sp>
      <p:sp>
        <p:nvSpPr>
          <p:cNvPr id="221" name="Google Shape;221;g17b70f739eb_2_165:notes">
            <a:extLst>
              <a:ext uri="{FF2B5EF4-FFF2-40B4-BE49-F238E27FC236}">
                <a16:creationId xmlns:a16="http://schemas.microsoft.com/office/drawing/2014/main" id="{2E78A17A-2BC4-0C3B-B85E-7D22653B4D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6929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7b70f739eb_2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17b70f739eb_2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a:extLst>
            <a:ext uri="{FF2B5EF4-FFF2-40B4-BE49-F238E27FC236}">
              <a16:creationId xmlns:a16="http://schemas.microsoft.com/office/drawing/2014/main" id="{FD64A84D-AAC9-B323-BDA8-400068380615}"/>
            </a:ext>
          </a:extLst>
        </p:cNvPr>
        <p:cNvGrpSpPr/>
        <p:nvPr/>
      </p:nvGrpSpPr>
      <p:grpSpPr>
        <a:xfrm>
          <a:off x="0" y="0"/>
          <a:ext cx="0" cy="0"/>
          <a:chOff x="0" y="0"/>
          <a:chExt cx="0" cy="0"/>
        </a:xfrm>
      </p:grpSpPr>
      <p:sp>
        <p:nvSpPr>
          <p:cNvPr id="381" name="Google Shape;381;g17b70f739eb_2_318:notes">
            <a:extLst>
              <a:ext uri="{FF2B5EF4-FFF2-40B4-BE49-F238E27FC236}">
                <a16:creationId xmlns:a16="http://schemas.microsoft.com/office/drawing/2014/main" id="{F71A9584-EAB7-4926-98C1-448258F611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US" dirty="0"/>
              <a:t>Before we begin, lets review the Data Science Life Cycle and where regression fits in</a:t>
            </a:r>
          </a:p>
          <a:p>
            <a:pPr marL="228600" lvl="0" indent="-228600" algn="l" rtl="0">
              <a:spcBef>
                <a:spcPts val="0"/>
              </a:spcBef>
              <a:spcAft>
                <a:spcPts val="0"/>
              </a:spcAft>
              <a:buAutoNum type="arabicPeriod"/>
            </a:pPr>
            <a:r>
              <a:rPr lang="en-US" dirty="0"/>
              <a:t>At first glance, linear regression is a modeling technique</a:t>
            </a:r>
          </a:p>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endParaRPr dirty="0"/>
          </a:p>
        </p:txBody>
      </p:sp>
      <p:sp>
        <p:nvSpPr>
          <p:cNvPr id="382" name="Google Shape;382;g17b70f739eb_2_318:notes">
            <a:extLst>
              <a:ext uri="{FF2B5EF4-FFF2-40B4-BE49-F238E27FC236}">
                <a16:creationId xmlns:a16="http://schemas.microsoft.com/office/drawing/2014/main" id="{B57FB37A-F3FF-D391-02DC-813360332A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8010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8EEEA51F-0FFA-3ED8-FAAB-CCFFA6F44987}"/>
            </a:ext>
          </a:extLst>
        </p:cNvPr>
        <p:cNvGrpSpPr/>
        <p:nvPr/>
      </p:nvGrpSpPr>
      <p:grpSpPr>
        <a:xfrm>
          <a:off x="0" y="0"/>
          <a:ext cx="0" cy="0"/>
          <a:chOff x="0" y="0"/>
          <a:chExt cx="0" cy="0"/>
        </a:xfrm>
      </p:grpSpPr>
      <p:sp>
        <p:nvSpPr>
          <p:cNvPr id="200" name="Google Shape;200;g17b70f739eb_2_146:notes">
            <a:extLst>
              <a:ext uri="{FF2B5EF4-FFF2-40B4-BE49-F238E27FC236}">
                <a16:creationId xmlns:a16="http://schemas.microsoft.com/office/drawing/2014/main" id="{CE7B7AEC-A1EC-81C9-C24B-23C0365320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Regression is the cornerstone of predictive analytics in data science, enabling us to quantify relationships between variables and make data-driven predictions, with dozens of specialized models ranging from simple linear regression to complex neural networks, each designed to capture different types of patterns in data and solve diverse business problems across industries.</a:t>
            </a:r>
            <a:endParaRPr dirty="0"/>
          </a:p>
        </p:txBody>
      </p:sp>
      <p:sp>
        <p:nvSpPr>
          <p:cNvPr id="201" name="Google Shape;201;g17b70f739eb_2_146:notes">
            <a:extLst>
              <a:ext uri="{FF2B5EF4-FFF2-40B4-BE49-F238E27FC236}">
                <a16:creationId xmlns:a16="http://schemas.microsoft.com/office/drawing/2014/main" id="{9087603F-5415-EE74-0090-E55C97630A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1058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a:extLst>
            <a:ext uri="{FF2B5EF4-FFF2-40B4-BE49-F238E27FC236}">
              <a16:creationId xmlns:a16="http://schemas.microsoft.com/office/drawing/2014/main" id="{DCDA15C8-B864-59AF-B9F5-64C67B8D64E8}"/>
            </a:ext>
          </a:extLst>
        </p:cNvPr>
        <p:cNvGrpSpPr/>
        <p:nvPr/>
      </p:nvGrpSpPr>
      <p:grpSpPr>
        <a:xfrm>
          <a:off x="0" y="0"/>
          <a:ext cx="0" cy="0"/>
          <a:chOff x="0" y="0"/>
          <a:chExt cx="0" cy="0"/>
        </a:xfrm>
      </p:grpSpPr>
      <p:sp>
        <p:nvSpPr>
          <p:cNvPr id="381" name="Google Shape;381;g17b70f739eb_2_318:notes">
            <a:extLst>
              <a:ext uri="{FF2B5EF4-FFF2-40B4-BE49-F238E27FC236}">
                <a16:creationId xmlns:a16="http://schemas.microsoft.com/office/drawing/2014/main" id="{BEB787C3-EF4E-60ED-2C8C-8264361431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228600" lvl="0" indent="-228600" algn="l" rtl="0">
              <a:spcBef>
                <a:spcPts val="0"/>
              </a:spcBef>
              <a:spcAft>
                <a:spcPts val="0"/>
              </a:spcAft>
              <a:buAutoNum type="arabicPeriod"/>
            </a:pPr>
            <a:endParaRPr dirty="0"/>
          </a:p>
        </p:txBody>
      </p:sp>
      <p:sp>
        <p:nvSpPr>
          <p:cNvPr id="382" name="Google Shape;382;g17b70f739eb_2_318:notes">
            <a:extLst>
              <a:ext uri="{FF2B5EF4-FFF2-40B4-BE49-F238E27FC236}">
                <a16:creationId xmlns:a16="http://schemas.microsoft.com/office/drawing/2014/main" id="{61F98AB8-710B-539D-FEA1-5360FE206B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1350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a:extLst>
            <a:ext uri="{FF2B5EF4-FFF2-40B4-BE49-F238E27FC236}">
              <a16:creationId xmlns:a16="http://schemas.microsoft.com/office/drawing/2014/main" id="{F64A9708-B920-0E8B-90DA-0EDFC895974B}"/>
            </a:ext>
          </a:extLst>
        </p:cNvPr>
        <p:cNvGrpSpPr/>
        <p:nvPr/>
      </p:nvGrpSpPr>
      <p:grpSpPr>
        <a:xfrm>
          <a:off x="0" y="0"/>
          <a:ext cx="0" cy="0"/>
          <a:chOff x="0" y="0"/>
          <a:chExt cx="0" cy="0"/>
        </a:xfrm>
      </p:grpSpPr>
      <p:sp>
        <p:nvSpPr>
          <p:cNvPr id="381" name="Google Shape;381;g17b70f739eb_2_318:notes">
            <a:extLst>
              <a:ext uri="{FF2B5EF4-FFF2-40B4-BE49-F238E27FC236}">
                <a16:creationId xmlns:a16="http://schemas.microsoft.com/office/drawing/2014/main" id="{0F5372D5-89CB-9483-1421-F08DD08CF8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228600" lvl="0" indent="-228600" algn="l" rtl="0">
              <a:spcBef>
                <a:spcPts val="0"/>
              </a:spcBef>
              <a:spcAft>
                <a:spcPts val="0"/>
              </a:spcAft>
              <a:buAutoNum type="arabicPeriod"/>
            </a:pPr>
            <a:endParaRPr dirty="0"/>
          </a:p>
        </p:txBody>
      </p:sp>
      <p:sp>
        <p:nvSpPr>
          <p:cNvPr id="382" name="Google Shape;382;g17b70f739eb_2_318:notes">
            <a:extLst>
              <a:ext uri="{FF2B5EF4-FFF2-40B4-BE49-F238E27FC236}">
                <a16:creationId xmlns:a16="http://schemas.microsoft.com/office/drawing/2014/main" id="{BD10EF34-029E-4473-6DB5-93193C59F7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1519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a:extLst>
            <a:ext uri="{FF2B5EF4-FFF2-40B4-BE49-F238E27FC236}">
              <a16:creationId xmlns:a16="http://schemas.microsoft.com/office/drawing/2014/main" id="{74B734A2-68A2-6432-C5C2-86F0E8AB218C}"/>
            </a:ext>
          </a:extLst>
        </p:cNvPr>
        <p:cNvGrpSpPr/>
        <p:nvPr/>
      </p:nvGrpSpPr>
      <p:grpSpPr>
        <a:xfrm>
          <a:off x="0" y="0"/>
          <a:ext cx="0" cy="0"/>
          <a:chOff x="0" y="0"/>
          <a:chExt cx="0" cy="0"/>
        </a:xfrm>
      </p:grpSpPr>
      <p:sp>
        <p:nvSpPr>
          <p:cNvPr id="381" name="Google Shape;381;g17b70f739eb_2_318:notes">
            <a:extLst>
              <a:ext uri="{FF2B5EF4-FFF2-40B4-BE49-F238E27FC236}">
                <a16:creationId xmlns:a16="http://schemas.microsoft.com/office/drawing/2014/main" id="{F125F99C-D958-FA6E-1BCB-61BBA6ECE1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228600" lvl="0" indent="-228600" algn="l" rtl="0">
              <a:spcBef>
                <a:spcPts val="0"/>
              </a:spcBef>
              <a:spcAft>
                <a:spcPts val="0"/>
              </a:spcAft>
              <a:buAutoNum type="arabicPeriod"/>
            </a:pPr>
            <a:endParaRPr dirty="0"/>
          </a:p>
        </p:txBody>
      </p:sp>
      <p:sp>
        <p:nvSpPr>
          <p:cNvPr id="382" name="Google Shape;382;g17b70f739eb_2_318:notes">
            <a:extLst>
              <a:ext uri="{FF2B5EF4-FFF2-40B4-BE49-F238E27FC236}">
                <a16:creationId xmlns:a16="http://schemas.microsoft.com/office/drawing/2014/main" id="{6AE2C868-6E6A-79CC-2BCF-82BA56EC63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24592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a:extLst>
            <a:ext uri="{FF2B5EF4-FFF2-40B4-BE49-F238E27FC236}">
              <a16:creationId xmlns:a16="http://schemas.microsoft.com/office/drawing/2014/main" id="{ED853D75-4D3C-C3CF-19A1-81F417E2E96A}"/>
            </a:ext>
          </a:extLst>
        </p:cNvPr>
        <p:cNvGrpSpPr/>
        <p:nvPr/>
      </p:nvGrpSpPr>
      <p:grpSpPr>
        <a:xfrm>
          <a:off x="0" y="0"/>
          <a:ext cx="0" cy="0"/>
          <a:chOff x="0" y="0"/>
          <a:chExt cx="0" cy="0"/>
        </a:xfrm>
      </p:grpSpPr>
      <p:sp>
        <p:nvSpPr>
          <p:cNvPr id="381" name="Google Shape;381;g17b70f739eb_2_318:notes">
            <a:extLst>
              <a:ext uri="{FF2B5EF4-FFF2-40B4-BE49-F238E27FC236}">
                <a16:creationId xmlns:a16="http://schemas.microsoft.com/office/drawing/2014/main" id="{AD328DB1-38E1-8E7E-C1D3-05D2E64B53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endParaRPr dirty="0"/>
          </a:p>
        </p:txBody>
      </p:sp>
      <p:sp>
        <p:nvSpPr>
          <p:cNvPr id="382" name="Google Shape;382;g17b70f739eb_2_318:notes">
            <a:extLst>
              <a:ext uri="{FF2B5EF4-FFF2-40B4-BE49-F238E27FC236}">
                <a16:creationId xmlns:a16="http://schemas.microsoft.com/office/drawing/2014/main" id="{347FBE7A-F1EB-5863-EC31-2212172FEC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9759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55AD766E-4C78-FCEB-6660-B67F54C9C8DB}"/>
            </a:ext>
          </a:extLst>
        </p:cNvPr>
        <p:cNvGrpSpPr/>
        <p:nvPr/>
      </p:nvGrpSpPr>
      <p:grpSpPr>
        <a:xfrm>
          <a:off x="0" y="0"/>
          <a:ext cx="0" cy="0"/>
          <a:chOff x="0" y="0"/>
          <a:chExt cx="0" cy="0"/>
        </a:xfrm>
      </p:grpSpPr>
      <p:sp>
        <p:nvSpPr>
          <p:cNvPr id="220" name="Google Shape;220;g17b70f739eb_2_165:notes">
            <a:extLst>
              <a:ext uri="{FF2B5EF4-FFF2-40B4-BE49-F238E27FC236}">
                <a16:creationId xmlns:a16="http://schemas.microsoft.com/office/drawing/2014/main" id="{91AACE04-F77C-4068-0488-6B56943386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g17b70f739eb_2_165:notes">
            <a:extLst>
              <a:ext uri="{FF2B5EF4-FFF2-40B4-BE49-F238E27FC236}">
                <a16:creationId xmlns:a16="http://schemas.microsoft.com/office/drawing/2014/main" id="{78253D5D-712E-DA01-6F78-F8ED005C2E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7117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p1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p1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342900" y="1065213"/>
            <a:ext cx="3886200" cy="735013"/>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2" name="Google Shape;62;p15"/>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63" name="Google Shape;63;p15"/>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4" name="Google Shape;64;p15"/>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5" name="Google Shape;65;p15"/>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8" name="Google Shape;68;p16"/>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69" name="Google Shape;69;p16"/>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0" name="Google Shape;70;p16"/>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1" name="Google Shape;71;p16"/>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4" name="Google Shape;74;p17"/>
          <p:cNvSpPr txBox="1">
            <a:spLocks noGrp="1"/>
          </p:cNvSpPr>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75" name="Google Shape;75;p17"/>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6" name="Google Shape;76;p17"/>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7" name="Google Shape;77;p17"/>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0" name="Google Shape;80;p18"/>
          <p:cNvSpPr txBox="1">
            <a:spLocks noGrp="1"/>
          </p:cNvSpPr>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1" name="Google Shape;81;p18"/>
          <p:cNvSpPr txBox="1">
            <a:spLocks noGrp="1"/>
          </p:cNvSpPr>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2" name="Google Shape;82;p18"/>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3" name="Google Shape;83;p18"/>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4" name="Google Shape;84;p18"/>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7" name="Google Shape;87;p19"/>
          <p:cNvSpPr txBox="1">
            <a:spLocks noGrp="1"/>
          </p:cNvSpPr>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88" name="Google Shape;88;p19"/>
          <p:cNvSpPr txBox="1">
            <a:spLocks noGrp="1"/>
          </p:cNvSpPr>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89" name="Google Shape;89;p19"/>
          <p:cNvSpPr txBox="1">
            <a:spLocks noGrp="1"/>
          </p:cNvSpPr>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90" name="Google Shape;90;p19"/>
          <p:cNvSpPr txBox="1">
            <a:spLocks noGrp="1"/>
          </p:cNvSpPr>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91" name="Google Shape;91;p19"/>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2" name="Google Shape;92;p19"/>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3" name="Google Shape;93;p19"/>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96" name="Google Shape;96;p20"/>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7" name="Google Shape;97;p20"/>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8" name="Google Shape;98;p20"/>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1" name="Google Shape;101;p21"/>
          <p:cNvSpPr txBox="1">
            <a:spLocks noGrp="1"/>
          </p:cNvSpPr>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102" name="Google Shape;102;p21"/>
          <p:cNvSpPr txBox="1">
            <a:spLocks noGrp="1"/>
          </p:cNvSpPr>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03" name="Google Shape;103;p21"/>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4" name="Google Shape;104;p21"/>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5" name="Google Shape;105;p21"/>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8" name="Google Shape;108;p22"/>
          <p:cNvSpPr>
            <a:spLocks noGrp="1"/>
          </p:cNvSpPr>
          <p:nvPr>
            <p:ph type="pic" idx="2"/>
          </p:nvPr>
        </p:nvSpPr>
        <p:spPr>
          <a:xfrm>
            <a:off x="896144" y="306388"/>
            <a:ext cx="2743200" cy="2057400"/>
          </a:xfrm>
          <a:prstGeom prst="rect">
            <a:avLst/>
          </a:prstGeom>
          <a:noFill/>
          <a:ln>
            <a:noFill/>
          </a:ln>
        </p:spPr>
      </p:sp>
      <p:sp>
        <p:nvSpPr>
          <p:cNvPr id="109" name="Google Shape;109;p22"/>
          <p:cNvSpPr txBox="1">
            <a:spLocks noGrp="1"/>
          </p:cNvSpPr>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10" name="Google Shape;110;p22"/>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1" name="Google Shape;111;p22"/>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2" name="Google Shape;112;p22"/>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5" name="Google Shape;115;p23"/>
          <p:cNvSpPr txBox="1">
            <a:spLocks noGrp="1"/>
          </p:cNvSpPr>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16" name="Google Shape;116;p2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7" name="Google Shape;117;p2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8" name="Google Shape;118;p2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21" name="Google Shape;121;p24"/>
          <p:cNvSpPr txBox="1">
            <a:spLocks noGrp="1"/>
          </p:cNvSpPr>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22" name="Google Shape;122;p2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3" name="Google Shape;123;p2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4" name="Google Shape;124;p2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52" name="Google Shape;52;p13"/>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hyperlink" Target="https://cf-courses-data.s3.us.cloud-object-storage.appdomain.cloud/IBMDeveloperSkillsNetwork-DA0101EN-SkillsNetwork/labs/Data%20files/automobileEDA.csv"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2.xml"/><Relationship Id="rId13" Type="http://schemas.openxmlformats.org/officeDocument/2006/relationships/image" Target="../media/image16.png"/><Relationship Id="rId3" Type="http://schemas.openxmlformats.org/officeDocument/2006/relationships/image" Target="../media/image4.jpg"/><Relationship Id="rId7" Type="http://schemas.openxmlformats.org/officeDocument/2006/relationships/diagramQuickStyle" Target="../diagrams/quickStyle2.xml"/><Relationship Id="rId12"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Layout" Target="../diagrams/layout2.xml"/><Relationship Id="rId11" Type="http://schemas.openxmlformats.org/officeDocument/2006/relationships/image" Target="../media/image14.png"/><Relationship Id="rId5" Type="http://schemas.openxmlformats.org/officeDocument/2006/relationships/diagramData" Target="../diagrams/data2.xml"/><Relationship Id="rId10" Type="http://schemas.openxmlformats.org/officeDocument/2006/relationships/image" Target="../media/image13.png"/><Relationship Id="rId4" Type="http://schemas.openxmlformats.org/officeDocument/2006/relationships/image" Target="../media/image12.jpg"/><Relationship Id="rId9" Type="http://schemas.microsoft.com/office/2007/relationships/diagramDrawing" Target="../diagrams/drawing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jpg"/><Relationship Id="rId7" Type="http://schemas.openxmlformats.org/officeDocument/2006/relationships/hyperlink" Target="https://medium.com/@sachin.hs20/simple-linear-regression-using-example-e4e2a89df54c" TargetMode="Externa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jpg"/><Relationship Id="rId7" Type="http://schemas.openxmlformats.org/officeDocument/2006/relationships/diagramColors" Target="../diagrams/colors3.xml"/><Relationship Id="rId12" Type="http://schemas.openxmlformats.org/officeDocument/2006/relationships/image" Target="../media/image20.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QuickStyle" Target="../diagrams/quickStyle3.xml"/><Relationship Id="rId11" Type="http://schemas.openxmlformats.org/officeDocument/2006/relationships/image" Target="../media/image19.png"/><Relationship Id="rId5" Type="http://schemas.openxmlformats.org/officeDocument/2006/relationships/diagramLayout" Target="../diagrams/layout3.xml"/><Relationship Id="rId10" Type="http://schemas.openxmlformats.org/officeDocument/2006/relationships/image" Target="../media/image22.png"/><Relationship Id="rId4" Type="http://schemas.openxmlformats.org/officeDocument/2006/relationships/diagramData" Target="../diagrams/data3.xml"/><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4.jpg"/><Relationship Id="rId7" Type="http://schemas.openxmlformats.org/officeDocument/2006/relationships/diagramQuickStyle" Target="../diagrams/quickStyle4.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Layout" Target="../diagrams/layout4.xml"/><Relationship Id="rId11" Type="http://schemas.openxmlformats.org/officeDocument/2006/relationships/image" Target="../media/image25.jpeg"/><Relationship Id="rId5" Type="http://schemas.openxmlformats.org/officeDocument/2006/relationships/diagramData" Target="../diagrams/data4.xml"/><Relationship Id="rId10" Type="http://schemas.openxmlformats.org/officeDocument/2006/relationships/image" Target="../media/image24.jpeg"/><Relationship Id="rId4" Type="http://schemas.openxmlformats.org/officeDocument/2006/relationships/image" Target="../media/image12.jpg"/><Relationship Id="rId9" Type="http://schemas.microsoft.com/office/2007/relationships/diagramDrawing" Target="../diagrams/drawing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1499E-5338-AFDC-D792-52A2E45AAC72}"/>
              </a:ext>
            </a:extLst>
          </p:cNvPr>
          <p:cNvSpPr>
            <a:spLocks noGrp="1"/>
          </p:cNvSpPr>
          <p:nvPr>
            <p:ph type="ctrTitle"/>
          </p:nvPr>
        </p:nvSpPr>
        <p:spPr>
          <a:xfrm>
            <a:off x="-1105989" y="-1328065"/>
            <a:ext cx="8520600" cy="2052600"/>
          </a:xfrm>
        </p:spPr>
        <p:txBody>
          <a:bodyPr>
            <a:normAutofit/>
          </a:bodyPr>
          <a:lstStyle/>
          <a:p>
            <a:r>
              <a:rPr lang="en-US" sz="3200" b="1" dirty="0"/>
              <a:t>Mock Lecture Assumptions</a:t>
            </a:r>
          </a:p>
        </p:txBody>
      </p:sp>
      <p:sp>
        <p:nvSpPr>
          <p:cNvPr id="3" name="Subtitle 2">
            <a:extLst>
              <a:ext uri="{FF2B5EF4-FFF2-40B4-BE49-F238E27FC236}">
                <a16:creationId xmlns:a16="http://schemas.microsoft.com/office/drawing/2014/main" id="{C68A6252-4D20-F55B-90A0-16413E85FBD5}"/>
              </a:ext>
            </a:extLst>
          </p:cNvPr>
          <p:cNvSpPr>
            <a:spLocks noGrp="1"/>
          </p:cNvSpPr>
          <p:nvPr>
            <p:ph type="subTitle" idx="1"/>
          </p:nvPr>
        </p:nvSpPr>
        <p:spPr>
          <a:xfrm>
            <a:off x="311700" y="724534"/>
            <a:ext cx="8520600" cy="3324952"/>
          </a:xfrm>
        </p:spPr>
        <p:txBody>
          <a:bodyPr>
            <a:normAutofit fontScale="85000" lnSpcReduction="10000"/>
          </a:bodyPr>
          <a:lstStyle/>
          <a:p>
            <a:pPr marL="571500" indent="-457200" algn="l">
              <a:buFont typeface="Arial" panose="020B0604020202020204" pitchFamily="34" charset="0"/>
              <a:buChar char="•"/>
            </a:pPr>
            <a:r>
              <a:rPr lang="en-US" dirty="0"/>
              <a:t>Previous lecture introducing Data Science Lifecycle</a:t>
            </a:r>
          </a:p>
          <a:p>
            <a:pPr marL="571500" indent="-457200" algn="l">
              <a:buFont typeface="Arial" panose="020B0604020202020204" pitchFamily="34" charset="0"/>
              <a:buChar char="•"/>
            </a:pPr>
            <a:r>
              <a:rPr lang="en-US" dirty="0"/>
              <a:t>Previous lecture/lab on AI Context/Prompt Engineering</a:t>
            </a:r>
          </a:p>
          <a:p>
            <a:pPr marL="571500" indent="-457200" algn="l">
              <a:buFont typeface="Arial" panose="020B0604020202020204" pitchFamily="34" charset="0"/>
              <a:buChar char="•"/>
            </a:pPr>
            <a:r>
              <a:rPr lang="en-US" dirty="0"/>
              <a:t>Introductory Python Experience (Prior Python Class)</a:t>
            </a:r>
          </a:p>
          <a:p>
            <a:pPr marL="1028700" lvl="1" indent="-457200" algn="l">
              <a:buFont typeface="Arial" panose="020B0604020202020204" pitchFamily="34" charset="0"/>
              <a:buChar char="•"/>
            </a:pPr>
            <a:r>
              <a:rPr lang="en-US" dirty="0"/>
              <a:t>Previous lecture on </a:t>
            </a:r>
            <a:r>
              <a:rPr lang="en-US" dirty="0" err="1"/>
              <a:t>Jupyter</a:t>
            </a:r>
            <a:r>
              <a:rPr lang="en-US" dirty="0"/>
              <a:t> Notebooks</a:t>
            </a:r>
          </a:p>
          <a:p>
            <a:pPr marL="571500" indent="-457200" algn="l">
              <a:buFont typeface="Arial" panose="020B0604020202020204" pitchFamily="34" charset="0"/>
              <a:buChar char="•"/>
            </a:pPr>
            <a:r>
              <a:rPr lang="en-US" dirty="0"/>
              <a:t>Optional:  Basic understanding of linear algebra and basic statistics</a:t>
            </a:r>
          </a:p>
          <a:p>
            <a:pPr marL="571500" indent="-457200" algn="l">
              <a:buFont typeface="Arial" panose="020B0604020202020204" pitchFamily="34" charset="0"/>
              <a:buChar char="•"/>
            </a:pPr>
            <a:r>
              <a:rPr lang="en-US" dirty="0"/>
              <a:t>Full attribution (credit) has not been completed for slides</a:t>
            </a:r>
          </a:p>
          <a:p>
            <a:pPr marL="114300" indent="0" algn="l"/>
            <a:r>
              <a:rPr lang="en-US" sz="3800" b="1" dirty="0"/>
              <a:t>Approach</a:t>
            </a:r>
          </a:p>
          <a:p>
            <a:pPr marL="571500" indent="-457200" algn="l">
              <a:buFont typeface="Arial" panose="020B0604020202020204" pitchFamily="34" charset="0"/>
              <a:buChar char="•"/>
            </a:pPr>
            <a:r>
              <a:rPr lang="en-US" dirty="0"/>
              <a:t>Focus on application in data science</a:t>
            </a:r>
          </a:p>
        </p:txBody>
      </p:sp>
    </p:spTree>
    <p:extLst>
      <p:ext uri="{BB962C8B-B14F-4D97-AF65-F5344CB8AC3E}">
        <p14:creationId xmlns:p14="http://schemas.microsoft.com/office/powerpoint/2010/main" val="1107843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5"/>
          <p:cNvPicPr preferRelativeResize="0"/>
          <p:nvPr/>
        </p:nvPicPr>
        <p:blipFill rotWithShape="1">
          <a:blip r:embed="rId3">
            <a:alphaModFix/>
            <a:duotone>
              <a:schemeClr val="accent4">
                <a:shade val="45000"/>
                <a:satMod val="135000"/>
              </a:schemeClr>
              <a:prstClr val="white"/>
            </a:duotone>
          </a:blip>
          <a:srcRect t="28906" b="28906"/>
          <a:stretch/>
        </p:blipFill>
        <p:spPr>
          <a:xfrm>
            <a:off x="0" y="0"/>
            <a:ext cx="9144000" cy="5143500"/>
          </a:xfrm>
          <a:prstGeom prst="rect">
            <a:avLst/>
          </a:prstGeom>
          <a:noFill/>
          <a:ln>
            <a:noFill/>
          </a:ln>
        </p:spPr>
      </p:pic>
      <p:cxnSp>
        <p:nvCxnSpPr>
          <p:cNvPr id="130" name="Google Shape;130;p25"/>
          <p:cNvCxnSpPr/>
          <p:nvPr/>
        </p:nvCxnSpPr>
        <p:spPr>
          <a:xfrm rot="5400000">
            <a:off x="4654933" y="2656618"/>
            <a:ext cx="5564694" cy="0"/>
          </a:xfrm>
          <a:prstGeom prst="straightConnector1">
            <a:avLst/>
          </a:prstGeom>
          <a:noFill/>
          <a:ln w="9525" cap="flat" cmpd="sng">
            <a:solidFill>
              <a:srgbClr val="FFFFFF"/>
            </a:solidFill>
            <a:prstDash val="solid"/>
            <a:round/>
            <a:headEnd type="none" w="sm" len="sm"/>
            <a:tailEnd type="none" w="sm" len="sm"/>
          </a:ln>
        </p:spPr>
      </p:cxnSp>
      <p:cxnSp>
        <p:nvCxnSpPr>
          <p:cNvPr id="131" name="Google Shape;131;p25"/>
          <p:cNvCxnSpPr/>
          <p:nvPr/>
        </p:nvCxnSpPr>
        <p:spPr>
          <a:xfrm rot="5400000">
            <a:off x="-1075627" y="2656618"/>
            <a:ext cx="5564694" cy="0"/>
          </a:xfrm>
          <a:prstGeom prst="straightConnector1">
            <a:avLst/>
          </a:prstGeom>
          <a:noFill/>
          <a:ln w="9525" cap="flat" cmpd="sng">
            <a:solidFill>
              <a:srgbClr val="FFFFFF"/>
            </a:solidFill>
            <a:prstDash val="solid"/>
            <a:round/>
            <a:headEnd type="none" w="sm" len="sm"/>
            <a:tailEnd type="none" w="sm" len="sm"/>
          </a:ln>
        </p:spPr>
      </p:cxnSp>
      <p:grpSp>
        <p:nvGrpSpPr>
          <p:cNvPr id="132" name="Google Shape;132;p25"/>
          <p:cNvGrpSpPr/>
          <p:nvPr/>
        </p:nvGrpSpPr>
        <p:grpSpPr>
          <a:xfrm>
            <a:off x="0" y="-72324"/>
            <a:ext cx="1704306" cy="5215712"/>
            <a:chOff x="0" y="-38100"/>
            <a:chExt cx="897759" cy="3059607"/>
          </a:xfrm>
        </p:grpSpPr>
        <p:sp>
          <p:nvSpPr>
            <p:cNvPr id="133" name="Google Shape;133;p25"/>
            <p:cNvSpPr/>
            <p:nvPr/>
          </p:nvSpPr>
          <p:spPr>
            <a:xfrm>
              <a:off x="0" y="0"/>
              <a:ext cx="897759" cy="3021507"/>
            </a:xfrm>
            <a:custGeom>
              <a:avLst/>
              <a:gdLst/>
              <a:ahLst/>
              <a:cxnLst/>
              <a:rect l="l" t="t" r="r" b="b"/>
              <a:pathLst>
                <a:path w="897759" h="3021507" extrusionOk="0">
                  <a:moveTo>
                    <a:pt x="0" y="0"/>
                  </a:moveTo>
                  <a:lnTo>
                    <a:pt x="897759" y="0"/>
                  </a:lnTo>
                  <a:lnTo>
                    <a:pt x="897759" y="3021507"/>
                  </a:lnTo>
                  <a:lnTo>
                    <a:pt x="0" y="3021507"/>
                  </a:lnTo>
                  <a:close/>
                </a:path>
              </a:pathLst>
            </a:custGeom>
            <a:solidFill>
              <a:srgbClr val="000000">
                <a:alpha val="30588"/>
              </a:srgbClr>
            </a:solidFill>
            <a:ln>
              <a:noFill/>
            </a:ln>
          </p:spPr>
          <p:txBody>
            <a:bodyPr/>
            <a:lstStyle/>
            <a:p>
              <a:endParaRPr lang="en-US"/>
            </a:p>
          </p:txBody>
        </p:sp>
        <p:sp>
          <p:nvSpPr>
            <p:cNvPr id="134" name="Google Shape;134;p25"/>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35" name="Google Shape;135;p25"/>
          <p:cNvGrpSpPr/>
          <p:nvPr/>
        </p:nvGrpSpPr>
        <p:grpSpPr>
          <a:xfrm>
            <a:off x="7439650" y="-72325"/>
            <a:ext cx="1704306" cy="5215712"/>
            <a:chOff x="0" y="-38100"/>
            <a:chExt cx="897759" cy="3059607"/>
          </a:xfrm>
        </p:grpSpPr>
        <p:sp>
          <p:nvSpPr>
            <p:cNvPr id="136" name="Google Shape;136;p25"/>
            <p:cNvSpPr/>
            <p:nvPr/>
          </p:nvSpPr>
          <p:spPr>
            <a:xfrm>
              <a:off x="0" y="0"/>
              <a:ext cx="897759" cy="3021507"/>
            </a:xfrm>
            <a:custGeom>
              <a:avLst/>
              <a:gdLst/>
              <a:ahLst/>
              <a:cxnLst/>
              <a:rect l="l" t="t" r="r" b="b"/>
              <a:pathLst>
                <a:path w="897759" h="3021507" extrusionOk="0">
                  <a:moveTo>
                    <a:pt x="0" y="0"/>
                  </a:moveTo>
                  <a:lnTo>
                    <a:pt x="897759" y="0"/>
                  </a:lnTo>
                  <a:lnTo>
                    <a:pt x="897759" y="3021507"/>
                  </a:lnTo>
                  <a:lnTo>
                    <a:pt x="0" y="3021507"/>
                  </a:lnTo>
                  <a:close/>
                </a:path>
              </a:pathLst>
            </a:custGeom>
            <a:solidFill>
              <a:srgbClr val="000000">
                <a:alpha val="30588"/>
              </a:srgbClr>
            </a:solidFill>
            <a:ln>
              <a:noFill/>
            </a:ln>
          </p:spPr>
          <p:txBody>
            <a:bodyPr/>
            <a:lstStyle/>
            <a:p>
              <a:endParaRPr lang="en-US"/>
            </a:p>
          </p:txBody>
        </p:sp>
        <p:sp>
          <p:nvSpPr>
            <p:cNvPr id="137" name="Google Shape;137;p25"/>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38" name="Google Shape;138;p25"/>
          <p:cNvSpPr txBox="1"/>
          <p:nvPr/>
        </p:nvSpPr>
        <p:spPr>
          <a:xfrm>
            <a:off x="2632935" y="271751"/>
            <a:ext cx="3873300" cy="2169825"/>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4700" b="1" dirty="0">
                <a:solidFill>
                  <a:srgbClr val="FFFFFF"/>
                </a:solidFill>
                <a:latin typeface="Open Sans"/>
                <a:ea typeface="Open Sans"/>
                <a:cs typeface="Open Sans"/>
                <a:sym typeface="Open Sans"/>
              </a:rPr>
              <a:t>Introduction to Linear Regression </a:t>
            </a:r>
            <a:endParaRPr sz="700" b="1" dirty="0">
              <a:latin typeface="Open Sans"/>
              <a:ea typeface="Open Sans"/>
              <a:cs typeface="Open Sans"/>
              <a:sym typeface="Open Sans"/>
            </a:endParaRPr>
          </a:p>
        </p:txBody>
      </p:sp>
      <p:sp>
        <p:nvSpPr>
          <p:cNvPr id="139" name="Google Shape;139;p25"/>
          <p:cNvSpPr txBox="1"/>
          <p:nvPr/>
        </p:nvSpPr>
        <p:spPr>
          <a:xfrm>
            <a:off x="3168257" y="2583431"/>
            <a:ext cx="2845226" cy="34471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 sz="1600" i="1" dirty="0">
                <a:solidFill>
                  <a:srgbClr val="FFFFFF"/>
                </a:solidFill>
                <a:latin typeface="Open Sans"/>
                <a:ea typeface="Open Sans"/>
                <a:cs typeface="Open Sans"/>
                <a:sym typeface="Open Sans"/>
              </a:rPr>
              <a:t>For Data Scientists</a:t>
            </a:r>
            <a:endParaRPr sz="1600" i="1" dirty="0"/>
          </a:p>
        </p:txBody>
      </p:sp>
      <p:sp>
        <p:nvSpPr>
          <p:cNvPr id="140" name="Google Shape;140;p25"/>
          <p:cNvSpPr txBox="1"/>
          <p:nvPr/>
        </p:nvSpPr>
        <p:spPr>
          <a:xfrm>
            <a:off x="7863557" y="2398078"/>
            <a:ext cx="766093" cy="43088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000" b="0" i="0" u="none" strike="noStrike" cap="none" dirty="0">
                <a:solidFill>
                  <a:srgbClr val="FFFFFF"/>
                </a:solidFill>
                <a:latin typeface="Open Sans"/>
                <a:ea typeface="Open Sans"/>
                <a:cs typeface="Open Sans"/>
                <a:sym typeface="Open Sans"/>
              </a:rPr>
              <a:t>Data Science 101</a:t>
            </a:r>
            <a:endParaRPr sz="700" dirty="0"/>
          </a:p>
        </p:txBody>
      </p:sp>
      <p:sp>
        <p:nvSpPr>
          <p:cNvPr id="141" name="Google Shape;141;p25"/>
          <p:cNvSpPr txBox="1"/>
          <p:nvPr/>
        </p:nvSpPr>
        <p:spPr>
          <a:xfrm>
            <a:off x="514350" y="2398078"/>
            <a:ext cx="766093" cy="43088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 sz="1000" dirty="0">
                <a:solidFill>
                  <a:srgbClr val="FFFFFF"/>
                </a:solidFill>
                <a:latin typeface="Open Sans"/>
                <a:ea typeface="Open Sans"/>
                <a:cs typeface="Open Sans"/>
                <a:sym typeface="Open Sans"/>
              </a:rPr>
              <a:t>Gregory L.</a:t>
            </a:r>
            <a:r>
              <a:rPr lang="en" sz="1000" b="0" i="0" u="none" strike="noStrike" cap="none" dirty="0">
                <a:solidFill>
                  <a:srgbClr val="FFFFFF"/>
                </a:solidFill>
                <a:latin typeface="Open Sans"/>
                <a:ea typeface="Open Sans"/>
                <a:cs typeface="Open Sans"/>
                <a:sym typeface="Open Sans"/>
              </a:rPr>
              <a:t> Gunther</a:t>
            </a:r>
            <a:endParaRPr sz="700" dirty="0"/>
          </a:p>
        </p:txBody>
      </p:sp>
      <p:pic>
        <p:nvPicPr>
          <p:cNvPr id="3074" name="Picture 2">
            <a:extLst>
              <a:ext uri="{FF2B5EF4-FFF2-40B4-BE49-F238E27FC236}">
                <a16:creationId xmlns:a16="http://schemas.microsoft.com/office/drawing/2014/main" id="{CC80B07C-78F8-0928-2451-BF9195F492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4828" y="2970282"/>
            <a:ext cx="2897473" cy="21731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40"/>
        <p:cNvGrpSpPr/>
        <p:nvPr/>
      </p:nvGrpSpPr>
      <p:grpSpPr>
        <a:xfrm>
          <a:off x="0" y="0"/>
          <a:ext cx="0" cy="0"/>
          <a:chOff x="0" y="0"/>
          <a:chExt cx="0" cy="0"/>
        </a:xfrm>
      </p:grpSpPr>
      <p:cxnSp>
        <p:nvCxnSpPr>
          <p:cNvPr id="242" name="Google Shape;242;p31"/>
          <p:cNvCxnSpPr/>
          <p:nvPr/>
        </p:nvCxnSpPr>
        <p:spPr>
          <a:xfrm rot="5400000">
            <a:off x="6795029" y="3467166"/>
            <a:ext cx="3626382" cy="0"/>
          </a:xfrm>
          <a:prstGeom prst="straightConnector1">
            <a:avLst/>
          </a:prstGeom>
          <a:noFill/>
          <a:ln w="9525" cap="flat" cmpd="sng">
            <a:solidFill>
              <a:srgbClr val="7030A0"/>
            </a:solidFill>
            <a:prstDash val="solid"/>
            <a:round/>
            <a:headEnd type="none" w="sm" len="sm"/>
            <a:tailEnd type="none" w="sm" len="sm"/>
          </a:ln>
        </p:spPr>
      </p:cxnSp>
      <p:cxnSp>
        <p:nvCxnSpPr>
          <p:cNvPr id="243" name="Google Shape;243;p31"/>
          <p:cNvCxnSpPr/>
          <p:nvPr/>
        </p:nvCxnSpPr>
        <p:spPr>
          <a:xfrm rot="5400000">
            <a:off x="2136617" y="918495"/>
            <a:ext cx="3626382" cy="0"/>
          </a:xfrm>
          <a:prstGeom prst="straightConnector1">
            <a:avLst/>
          </a:prstGeom>
          <a:noFill/>
          <a:ln w="9525" cap="flat" cmpd="sng">
            <a:solidFill>
              <a:srgbClr val="7030A0"/>
            </a:solidFill>
            <a:prstDash val="solid"/>
            <a:round/>
            <a:headEnd type="none" w="sm" len="sm"/>
            <a:tailEnd type="none" w="sm" len="sm"/>
          </a:ln>
        </p:spPr>
      </p:cxnSp>
      <p:sp>
        <p:nvSpPr>
          <p:cNvPr id="244" name="Google Shape;244;p31"/>
          <p:cNvSpPr txBox="1"/>
          <p:nvPr/>
        </p:nvSpPr>
        <p:spPr>
          <a:xfrm>
            <a:off x="4034784" y="94571"/>
            <a:ext cx="4499943" cy="4727448"/>
          </a:xfrm>
          <a:prstGeom prst="rect">
            <a:avLst/>
          </a:prstGeom>
          <a:noFill/>
          <a:ln>
            <a:noFill/>
          </a:ln>
        </p:spPr>
        <p:txBody>
          <a:bodyPr spcFirstLastPara="1" wrap="square" lIns="0" tIns="0" rIns="0" bIns="0" anchor="t" anchorCtr="0">
            <a:spAutoFit/>
          </a:bodyPr>
          <a:lstStyle/>
          <a:p>
            <a:pPr marL="0" marR="0" lvl="0" indent="0" rtl="0">
              <a:lnSpc>
                <a:spcPct val="120000"/>
              </a:lnSpc>
              <a:spcBef>
                <a:spcPts val="0"/>
              </a:spcBef>
              <a:spcAft>
                <a:spcPts val="0"/>
              </a:spcAft>
              <a:buNone/>
            </a:pPr>
            <a:r>
              <a:rPr lang="en" sz="3000" b="1" dirty="0">
                <a:solidFill>
                  <a:schemeClr val="bg1"/>
                </a:solidFill>
                <a:latin typeface="Open Sans"/>
                <a:ea typeface="Open Sans"/>
                <a:cs typeface="Open Sans"/>
                <a:sym typeface="Open Sans"/>
              </a:rPr>
              <a:t>I’m Greg!</a:t>
            </a:r>
          </a:p>
          <a:p>
            <a:pPr marL="0" marR="0" lvl="0" indent="0" rtl="0">
              <a:lnSpc>
                <a:spcPct val="120000"/>
              </a:lnSpc>
              <a:spcBef>
                <a:spcPts val="0"/>
              </a:spcBef>
              <a:spcAft>
                <a:spcPts val="0"/>
              </a:spcAft>
              <a:buNone/>
            </a:pPr>
            <a:r>
              <a:rPr lang="en" sz="1800" dirty="0">
                <a:solidFill>
                  <a:schemeClr val="bg1"/>
                </a:solidFill>
                <a:latin typeface="Open Sans"/>
                <a:ea typeface="Open Sans"/>
                <a:cs typeface="Open Sans"/>
                <a:sym typeface="Open Sans"/>
              </a:rPr>
              <a:t>Today’s Learning Outcomes</a:t>
            </a:r>
            <a:br>
              <a:rPr lang="en" sz="1800" dirty="0">
                <a:solidFill>
                  <a:srgbClr val="FFFFFF"/>
                </a:solidFill>
                <a:latin typeface="Open Sans"/>
                <a:ea typeface="Open Sans"/>
                <a:cs typeface="Open Sans"/>
                <a:sym typeface="Open Sans"/>
              </a:rPr>
            </a:br>
            <a:endParaRPr lang="en" dirty="0">
              <a:solidFill>
                <a:srgbClr val="FFFFFF"/>
              </a:solidFill>
              <a:latin typeface="Open Sans"/>
              <a:ea typeface="Open Sans"/>
              <a:cs typeface="Open Sans"/>
              <a:sym typeface="Open Sans"/>
            </a:endParaRPr>
          </a:p>
          <a:p>
            <a:pPr marL="0" marR="0" lvl="0" indent="0" rtl="0">
              <a:lnSpc>
                <a:spcPct val="120000"/>
              </a:lnSpc>
              <a:spcBef>
                <a:spcPts val="0"/>
              </a:spcBef>
              <a:spcAft>
                <a:spcPts val="0"/>
              </a:spcAft>
              <a:buNone/>
            </a:pPr>
            <a:r>
              <a:rPr lang="en" dirty="0">
                <a:solidFill>
                  <a:srgbClr val="FFFFFF"/>
                </a:solidFill>
                <a:latin typeface="Open Sans"/>
                <a:ea typeface="Open Sans"/>
                <a:cs typeface="Open Sans"/>
                <a:sym typeface="Open Sans"/>
              </a:rPr>
              <a:t>-Learn where regression models “live” in the Data Science Lifecycle and explore real world implications of using linear regression.</a:t>
            </a:r>
          </a:p>
          <a:p>
            <a:pPr marL="0" marR="0" lvl="0" indent="0" rtl="0">
              <a:lnSpc>
                <a:spcPct val="120000"/>
              </a:lnSpc>
              <a:spcBef>
                <a:spcPts val="0"/>
              </a:spcBef>
              <a:spcAft>
                <a:spcPts val="0"/>
              </a:spcAft>
              <a:buNone/>
            </a:pPr>
            <a:endParaRPr lang="en" dirty="0">
              <a:solidFill>
                <a:srgbClr val="FFFFFF"/>
              </a:solidFill>
              <a:latin typeface="Open Sans"/>
              <a:ea typeface="Open Sans"/>
              <a:cs typeface="Open Sans"/>
              <a:sym typeface="Open Sans"/>
            </a:endParaRPr>
          </a:p>
          <a:p>
            <a:pPr lvl="0">
              <a:lnSpc>
                <a:spcPct val="120000"/>
              </a:lnSpc>
            </a:pPr>
            <a:r>
              <a:rPr lang="en" dirty="0">
                <a:solidFill>
                  <a:srgbClr val="FFFFFF"/>
                </a:solidFill>
                <a:latin typeface="Open Sans"/>
                <a:ea typeface="Open Sans"/>
                <a:cs typeface="Open Sans"/>
                <a:sym typeface="Open Sans"/>
              </a:rPr>
              <a:t>-Gain practical experience engaging in business use cases and common data considerations related to Linear Regression in analysis.</a:t>
            </a:r>
          </a:p>
          <a:p>
            <a:pPr marL="0" marR="0" lvl="0" indent="0" rtl="0">
              <a:lnSpc>
                <a:spcPct val="120000"/>
              </a:lnSpc>
              <a:spcBef>
                <a:spcPts val="0"/>
              </a:spcBef>
              <a:spcAft>
                <a:spcPts val="0"/>
              </a:spcAft>
              <a:buNone/>
            </a:pPr>
            <a:endParaRPr lang="en" dirty="0">
              <a:solidFill>
                <a:srgbClr val="FFFFFF"/>
              </a:solidFill>
              <a:latin typeface="Open Sans"/>
              <a:ea typeface="Open Sans"/>
              <a:cs typeface="Open Sans"/>
              <a:sym typeface="Open Sans"/>
            </a:endParaRPr>
          </a:p>
          <a:p>
            <a:pPr marL="0" marR="0" lvl="0" indent="0" rtl="0">
              <a:lnSpc>
                <a:spcPct val="120000"/>
              </a:lnSpc>
              <a:spcBef>
                <a:spcPts val="0"/>
              </a:spcBef>
              <a:spcAft>
                <a:spcPts val="0"/>
              </a:spcAft>
              <a:buNone/>
            </a:pPr>
            <a:r>
              <a:rPr lang="en" dirty="0">
                <a:solidFill>
                  <a:srgbClr val="FFFFFF"/>
                </a:solidFill>
                <a:latin typeface="Open Sans"/>
                <a:ea typeface="Open Sans"/>
                <a:cs typeface="Open Sans"/>
                <a:sym typeface="Open Sans"/>
              </a:rPr>
              <a:t>-Explore introductory knowledge of Simple Linear Regression under the hood. </a:t>
            </a:r>
            <a:br>
              <a:rPr lang="en" dirty="0">
                <a:solidFill>
                  <a:srgbClr val="FFFFFF"/>
                </a:solidFill>
                <a:latin typeface="Open Sans"/>
                <a:ea typeface="Open Sans"/>
                <a:cs typeface="Open Sans"/>
                <a:sym typeface="Open Sans"/>
              </a:rPr>
            </a:br>
            <a:endParaRPr lang="en" dirty="0">
              <a:solidFill>
                <a:srgbClr val="FFFFFF"/>
              </a:solidFill>
              <a:latin typeface="Open Sans"/>
              <a:ea typeface="Open Sans"/>
              <a:cs typeface="Open Sans"/>
              <a:sym typeface="Open Sans"/>
            </a:endParaRPr>
          </a:p>
          <a:p>
            <a:pPr marL="0" marR="0" lvl="0" indent="0" rtl="0">
              <a:lnSpc>
                <a:spcPct val="120000"/>
              </a:lnSpc>
              <a:spcBef>
                <a:spcPts val="0"/>
              </a:spcBef>
              <a:spcAft>
                <a:spcPts val="0"/>
              </a:spcAft>
              <a:buNone/>
            </a:pPr>
            <a:r>
              <a:rPr lang="en" dirty="0">
                <a:solidFill>
                  <a:srgbClr val="FFFFFF"/>
                </a:solidFill>
                <a:latin typeface="Open Sans"/>
                <a:ea typeface="Open Sans"/>
                <a:cs typeface="Open Sans"/>
                <a:sym typeface="Open Sans"/>
              </a:rPr>
              <a:t>-Practice developing a Simple Linear Regression model using Python and AI (CLAUDE).</a:t>
            </a:r>
            <a:br>
              <a:rPr lang="en" sz="1200" b="1" dirty="0">
                <a:solidFill>
                  <a:srgbClr val="FFFFFF"/>
                </a:solidFill>
                <a:latin typeface="Open Sans"/>
                <a:ea typeface="Open Sans"/>
                <a:cs typeface="Open Sans"/>
                <a:sym typeface="Open Sans"/>
              </a:rPr>
            </a:br>
            <a:endParaRPr sz="1200" b="1" dirty="0">
              <a:latin typeface="Open Sans"/>
              <a:ea typeface="Open Sans"/>
              <a:cs typeface="Open Sans"/>
              <a:sym typeface="Open Sans"/>
            </a:endParaRPr>
          </a:p>
        </p:txBody>
      </p:sp>
      <p:grpSp>
        <p:nvGrpSpPr>
          <p:cNvPr id="246" name="Google Shape;246;p31"/>
          <p:cNvGrpSpPr/>
          <p:nvPr/>
        </p:nvGrpSpPr>
        <p:grpSpPr>
          <a:xfrm>
            <a:off x="8837359" y="-72330"/>
            <a:ext cx="1543051" cy="5808473"/>
            <a:chOff x="0" y="-38100"/>
            <a:chExt cx="812800" cy="3059607"/>
          </a:xfrm>
        </p:grpSpPr>
        <p:sp>
          <p:nvSpPr>
            <p:cNvPr id="247" name="Google Shape;247;p31"/>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7030A0">
                <a:alpha val="61000"/>
              </a:srgbClr>
            </a:solidFill>
            <a:ln>
              <a:noFill/>
            </a:ln>
          </p:spPr>
          <p:txBody>
            <a:bodyPr/>
            <a:lstStyle/>
            <a:p>
              <a:endParaRPr lang="en-US"/>
            </a:p>
          </p:txBody>
        </p:sp>
        <p:sp>
          <p:nvSpPr>
            <p:cNvPr id="248" name="Google Shape;248;p31"/>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49" name="Google Shape;249;p31"/>
          <p:cNvSpPr txBox="1"/>
          <p:nvPr/>
        </p:nvSpPr>
        <p:spPr>
          <a:xfrm rot="5400000">
            <a:off x="8633564" y="2517954"/>
            <a:ext cx="766200" cy="1077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FFFFFF"/>
                </a:solidFill>
                <a:latin typeface="Open Sans"/>
                <a:ea typeface="Open Sans"/>
                <a:cs typeface="Open Sans"/>
                <a:sym typeface="Open Sans"/>
              </a:rPr>
              <a:t>N  E  X  T</a:t>
            </a:r>
            <a:endParaRPr sz="700"/>
          </a:p>
        </p:txBody>
      </p:sp>
      <p:pic>
        <p:nvPicPr>
          <p:cNvPr id="8" name="Picture 7" descr="A person in a white shirt&#10;&#10;AI-generated content may be incorrect.">
            <a:extLst>
              <a:ext uri="{FF2B5EF4-FFF2-40B4-BE49-F238E27FC236}">
                <a16:creationId xmlns:a16="http://schemas.microsoft.com/office/drawing/2014/main" id="{24F4D0B7-87CC-6D85-884F-2E13B991F49C}"/>
              </a:ext>
            </a:extLst>
          </p:cNvPr>
          <p:cNvPicPr>
            <a:picLocks noChangeAspect="1"/>
          </p:cNvPicPr>
          <p:nvPr/>
        </p:nvPicPr>
        <p:blipFill>
          <a:blip r:embed="rId3"/>
          <a:stretch>
            <a:fillRect/>
          </a:stretch>
        </p:blipFill>
        <p:spPr>
          <a:xfrm>
            <a:off x="21151" y="15323"/>
            <a:ext cx="3805908" cy="31342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 name="Picture 2" descr="Abstract background of simple node and mesh">
            <a:extLst>
              <a:ext uri="{FF2B5EF4-FFF2-40B4-BE49-F238E27FC236}">
                <a16:creationId xmlns:a16="http://schemas.microsoft.com/office/drawing/2014/main" id="{D1A9ED38-FEBA-1A41-C695-622EDC1C647D}"/>
              </a:ext>
            </a:extLst>
          </p:cNvPr>
          <p:cNvPicPr>
            <a:picLocks noChangeAspect="1"/>
          </p:cNvPicPr>
          <p:nvPr/>
        </p:nvPicPr>
        <p:blipFill>
          <a:blip r:embed="rId3">
            <a:duotone>
              <a:prstClr val="black"/>
              <a:schemeClr val="accent4">
                <a:tint val="45000"/>
                <a:satMod val="400000"/>
              </a:schemeClr>
            </a:duotone>
          </a:blip>
          <a:stretch>
            <a:fillRect/>
          </a:stretch>
        </p:blipFill>
        <p:spPr>
          <a:xfrm rot="16200000">
            <a:off x="2001915" y="-1998587"/>
            <a:ext cx="5143500" cy="9140670"/>
          </a:xfrm>
          <a:prstGeom prst="rect">
            <a:avLst/>
          </a:prstGeom>
        </p:spPr>
      </p:pic>
      <p:cxnSp>
        <p:nvCxnSpPr>
          <p:cNvPr id="399" name="Google Shape;399;p38"/>
          <p:cNvCxnSpPr/>
          <p:nvPr/>
        </p:nvCxnSpPr>
        <p:spPr>
          <a:xfrm rot="5400000">
            <a:off x="6781221" y="5470803"/>
            <a:ext cx="3626382" cy="0"/>
          </a:xfrm>
          <a:prstGeom prst="straightConnector1">
            <a:avLst/>
          </a:prstGeom>
          <a:noFill/>
          <a:ln w="9525" cap="flat" cmpd="sng">
            <a:solidFill>
              <a:srgbClr val="7030A0"/>
            </a:solidFill>
            <a:prstDash val="solid"/>
            <a:round/>
            <a:headEnd type="none" w="sm" len="sm"/>
            <a:tailEnd type="none" w="sm" len="sm"/>
          </a:ln>
        </p:spPr>
      </p:cxnSp>
      <p:grpSp>
        <p:nvGrpSpPr>
          <p:cNvPr id="400" name="Google Shape;400;p38"/>
          <p:cNvGrpSpPr/>
          <p:nvPr/>
        </p:nvGrpSpPr>
        <p:grpSpPr>
          <a:xfrm>
            <a:off x="8837359" y="-72330"/>
            <a:ext cx="1543051" cy="5808473"/>
            <a:chOff x="0" y="-38100"/>
            <a:chExt cx="812800" cy="3059607"/>
          </a:xfrm>
        </p:grpSpPr>
        <p:sp>
          <p:nvSpPr>
            <p:cNvPr id="401" name="Google Shape;401;p38"/>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402" name="Google Shape;402;p38"/>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403" name="Google Shape;403;p38"/>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dirty="0">
                <a:solidFill>
                  <a:schemeClr val="bg1"/>
                </a:solidFill>
                <a:latin typeface="Open Sans"/>
                <a:ea typeface="Open Sans"/>
                <a:cs typeface="Open Sans"/>
                <a:sym typeface="Open Sans"/>
              </a:rPr>
              <a:t>N  E  X  T</a:t>
            </a:r>
            <a:endParaRPr sz="700" dirty="0">
              <a:solidFill>
                <a:schemeClr val="bg1"/>
              </a:solidFill>
            </a:endParaRPr>
          </a:p>
        </p:txBody>
      </p:sp>
      <p:cxnSp>
        <p:nvCxnSpPr>
          <p:cNvPr id="398" name="Google Shape;398;p38"/>
          <p:cNvCxnSpPr/>
          <p:nvPr/>
        </p:nvCxnSpPr>
        <p:spPr>
          <a:xfrm rot="5400000">
            <a:off x="-1639319" y="1036916"/>
            <a:ext cx="3626382" cy="0"/>
          </a:xfrm>
          <a:prstGeom prst="straightConnector1">
            <a:avLst/>
          </a:prstGeom>
          <a:noFill/>
          <a:ln w="9525" cap="flat" cmpd="sng">
            <a:solidFill>
              <a:srgbClr val="000000"/>
            </a:solidFill>
            <a:prstDash val="solid"/>
            <a:round/>
            <a:headEnd type="none" w="sm" len="sm"/>
            <a:tailEnd type="none" w="sm" len="sm"/>
          </a:ln>
        </p:spPr>
      </p:cxnSp>
      <p:sp>
        <p:nvSpPr>
          <p:cNvPr id="6" name="AutoShape 6">
            <a:extLst>
              <a:ext uri="{FF2B5EF4-FFF2-40B4-BE49-F238E27FC236}">
                <a16:creationId xmlns:a16="http://schemas.microsoft.com/office/drawing/2014/main" id="{5A5039E7-F0F3-33ED-001D-B3523774F2D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Diagram 8">
            <a:extLst>
              <a:ext uri="{FF2B5EF4-FFF2-40B4-BE49-F238E27FC236}">
                <a16:creationId xmlns:a16="http://schemas.microsoft.com/office/drawing/2014/main" id="{A6596898-5773-01FA-39B1-D556FB818EEC}"/>
              </a:ext>
            </a:extLst>
          </p:cNvPr>
          <p:cNvGraphicFramePr/>
          <p:nvPr>
            <p:extLst>
              <p:ext uri="{D42A27DB-BD31-4B8C-83A1-F6EECF244321}">
                <p14:modId xmlns:p14="http://schemas.microsoft.com/office/powerpoint/2010/main" val="283393763"/>
              </p:ext>
            </p:extLst>
          </p:nvPr>
        </p:nvGraphicFramePr>
        <p:xfrm>
          <a:off x="1785264" y="104502"/>
          <a:ext cx="7177544" cy="4920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6" name="Google Shape;209;p29">
            <a:extLst>
              <a:ext uri="{FF2B5EF4-FFF2-40B4-BE49-F238E27FC236}">
                <a16:creationId xmlns:a16="http://schemas.microsoft.com/office/drawing/2014/main" id="{A9FCA6E0-DB30-47FC-5F47-2A72CFF5B4B6}"/>
              </a:ext>
            </a:extLst>
          </p:cNvPr>
          <p:cNvSpPr txBox="1"/>
          <p:nvPr/>
        </p:nvSpPr>
        <p:spPr>
          <a:xfrm>
            <a:off x="344415" y="84705"/>
            <a:ext cx="4653050" cy="221599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dirty="0">
                <a:solidFill>
                  <a:schemeClr val="bg1"/>
                </a:solidFill>
                <a:latin typeface="Open Sans"/>
                <a:ea typeface="Open Sans"/>
                <a:cs typeface="Open Sans"/>
                <a:sym typeface="Open Sans"/>
              </a:rPr>
              <a:t>Linear Regresssion</a:t>
            </a:r>
            <a:endParaRPr lang="en" sz="3000" b="1" i="0" u="none" strike="noStrike" cap="none" dirty="0">
              <a:solidFill>
                <a:schemeClr val="bg1"/>
              </a:solidFill>
              <a:latin typeface="Open Sans"/>
              <a:ea typeface="Open Sans"/>
              <a:cs typeface="Open Sans"/>
              <a:sym typeface="Open Sans"/>
            </a:endParaRPr>
          </a:p>
          <a:p>
            <a:pPr marL="0" marR="0" lvl="0" indent="0" algn="l" rtl="0">
              <a:lnSpc>
                <a:spcPct val="120000"/>
              </a:lnSpc>
              <a:spcBef>
                <a:spcPts val="0"/>
              </a:spcBef>
              <a:spcAft>
                <a:spcPts val="0"/>
              </a:spcAft>
              <a:buNone/>
            </a:pPr>
            <a:r>
              <a:rPr lang="en" sz="3000" b="1" i="0" u="none" strike="noStrike" cap="none" dirty="0">
                <a:solidFill>
                  <a:schemeClr val="bg1"/>
                </a:solidFill>
                <a:latin typeface="Open Sans"/>
                <a:ea typeface="Open Sans"/>
                <a:cs typeface="Open Sans"/>
                <a:sym typeface="Open Sans"/>
              </a:rPr>
              <a:t>&amp; The Data</a:t>
            </a:r>
          </a:p>
          <a:p>
            <a:pPr marL="0" marR="0" lvl="0" indent="0" algn="l" rtl="0">
              <a:lnSpc>
                <a:spcPct val="120000"/>
              </a:lnSpc>
              <a:spcBef>
                <a:spcPts val="0"/>
              </a:spcBef>
              <a:spcAft>
                <a:spcPts val="0"/>
              </a:spcAft>
              <a:buNone/>
            </a:pPr>
            <a:r>
              <a:rPr lang="en" sz="3000" b="1" i="0" u="none" strike="noStrike" cap="none" dirty="0">
                <a:solidFill>
                  <a:schemeClr val="bg1"/>
                </a:solidFill>
                <a:latin typeface="Open Sans"/>
                <a:ea typeface="Open Sans"/>
                <a:cs typeface="Open Sans"/>
                <a:sym typeface="Open Sans"/>
              </a:rPr>
              <a:t>Science Life </a:t>
            </a:r>
          </a:p>
          <a:p>
            <a:pPr marL="0" marR="0" lvl="0" indent="0" algn="l" rtl="0">
              <a:lnSpc>
                <a:spcPct val="120000"/>
              </a:lnSpc>
              <a:spcBef>
                <a:spcPts val="0"/>
              </a:spcBef>
              <a:spcAft>
                <a:spcPts val="0"/>
              </a:spcAft>
              <a:buNone/>
            </a:pPr>
            <a:r>
              <a:rPr lang="en" sz="3000" b="1" i="0" u="none" strike="noStrike" cap="none" dirty="0">
                <a:solidFill>
                  <a:schemeClr val="bg1"/>
                </a:solidFill>
                <a:latin typeface="Open Sans"/>
                <a:ea typeface="Open Sans"/>
                <a:cs typeface="Open Sans"/>
                <a:sym typeface="Open Sans"/>
              </a:rPr>
              <a:t>Cycle</a:t>
            </a:r>
            <a:endParaRPr sz="700" b="1" dirty="0">
              <a:solidFill>
                <a:schemeClr val="bg1"/>
              </a:solidFill>
              <a:latin typeface="Open Sans"/>
              <a:ea typeface="Open Sans"/>
              <a:cs typeface="Open Sans"/>
              <a:sym typeface="Open Sans"/>
            </a:endParaRPr>
          </a:p>
        </p:txBody>
      </p:sp>
      <p:sp>
        <p:nvSpPr>
          <p:cNvPr id="2" name="TextBox 1">
            <a:extLst>
              <a:ext uri="{FF2B5EF4-FFF2-40B4-BE49-F238E27FC236}">
                <a16:creationId xmlns:a16="http://schemas.microsoft.com/office/drawing/2014/main" id="{652BC6C2-A8E8-DEDA-5927-059B39618337}"/>
              </a:ext>
            </a:extLst>
          </p:cNvPr>
          <p:cNvSpPr txBox="1"/>
          <p:nvPr/>
        </p:nvSpPr>
        <p:spPr>
          <a:xfrm>
            <a:off x="113780" y="4745618"/>
            <a:ext cx="4572000" cy="338554"/>
          </a:xfrm>
          <a:prstGeom prst="rect">
            <a:avLst/>
          </a:prstGeom>
          <a:noFill/>
        </p:spPr>
        <p:txBody>
          <a:bodyPr wrap="square">
            <a:spAutoFit/>
          </a:bodyPr>
          <a:lstStyle/>
          <a:p>
            <a:r>
              <a:rPr lang="en-US" sz="800" b="1" dirty="0">
                <a:solidFill>
                  <a:schemeClr val="bg1"/>
                </a:solidFill>
              </a:rPr>
              <a:t>(modified IBM Data </a:t>
            </a:r>
          </a:p>
          <a:p>
            <a:r>
              <a:rPr lang="en-US" sz="800" b="1" dirty="0">
                <a:solidFill>
                  <a:schemeClr val="bg1"/>
                </a:solidFill>
              </a:rPr>
              <a:t>Science Lifecycle) </a:t>
            </a:r>
            <a:endParaRPr lang="en-US" sz="800" dirty="0">
              <a:solidFill>
                <a:schemeClr val="bg1"/>
              </a:solidFill>
            </a:endParaRPr>
          </a:p>
        </p:txBody>
      </p:sp>
      <p:sp>
        <p:nvSpPr>
          <p:cNvPr id="4" name="Arrow: Right 3">
            <a:extLst>
              <a:ext uri="{FF2B5EF4-FFF2-40B4-BE49-F238E27FC236}">
                <a16:creationId xmlns:a16="http://schemas.microsoft.com/office/drawing/2014/main" id="{24611B47-9047-2EE6-8557-87B71310CEA4}"/>
              </a:ext>
            </a:extLst>
          </p:cNvPr>
          <p:cNvSpPr/>
          <p:nvPr/>
        </p:nvSpPr>
        <p:spPr>
          <a:xfrm>
            <a:off x="3058558" y="4409751"/>
            <a:ext cx="647393"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5" name="Arrow: Right 4">
            <a:extLst>
              <a:ext uri="{FF2B5EF4-FFF2-40B4-BE49-F238E27FC236}">
                <a16:creationId xmlns:a16="http://schemas.microsoft.com/office/drawing/2014/main" id="{A7BF4D85-2033-24AC-4EDD-81053FD333F4}"/>
              </a:ext>
            </a:extLst>
          </p:cNvPr>
          <p:cNvSpPr/>
          <p:nvPr/>
        </p:nvSpPr>
        <p:spPr>
          <a:xfrm rot="10800000">
            <a:off x="3958705" y="2907447"/>
            <a:ext cx="647393"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7" name="Arrow: Right 6">
            <a:extLst>
              <a:ext uri="{FF2B5EF4-FFF2-40B4-BE49-F238E27FC236}">
                <a16:creationId xmlns:a16="http://schemas.microsoft.com/office/drawing/2014/main" id="{664AD449-8B82-1FA6-E444-DAF045FD6C17}"/>
              </a:ext>
            </a:extLst>
          </p:cNvPr>
          <p:cNvSpPr/>
          <p:nvPr/>
        </p:nvSpPr>
        <p:spPr>
          <a:xfrm rot="10800000">
            <a:off x="6986676" y="4437186"/>
            <a:ext cx="647393"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8" name="Arrow: Right 7">
            <a:extLst>
              <a:ext uri="{FF2B5EF4-FFF2-40B4-BE49-F238E27FC236}">
                <a16:creationId xmlns:a16="http://schemas.microsoft.com/office/drawing/2014/main" id="{4E70F68E-4881-C542-0E33-6368A0A49C0A}"/>
              </a:ext>
            </a:extLst>
          </p:cNvPr>
          <p:cNvSpPr/>
          <p:nvPr/>
        </p:nvSpPr>
        <p:spPr>
          <a:xfrm>
            <a:off x="6146794" y="2937183"/>
            <a:ext cx="647393"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10" name="Arrow: Right 9">
            <a:extLst>
              <a:ext uri="{FF2B5EF4-FFF2-40B4-BE49-F238E27FC236}">
                <a16:creationId xmlns:a16="http://schemas.microsoft.com/office/drawing/2014/main" id="{60B47E48-7929-6F6C-6427-6B05B97AF3F3}"/>
              </a:ext>
            </a:extLst>
          </p:cNvPr>
          <p:cNvSpPr/>
          <p:nvPr/>
        </p:nvSpPr>
        <p:spPr>
          <a:xfrm rot="16200000">
            <a:off x="5050340" y="1046645"/>
            <a:ext cx="647393"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9" name="Google Shape;229;p30"/>
          <p:cNvSpPr txBox="1"/>
          <p:nvPr/>
        </p:nvSpPr>
        <p:spPr>
          <a:xfrm>
            <a:off x="294777" y="352356"/>
            <a:ext cx="4351925" cy="110799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 sz="3000" b="1" i="0" u="none" strike="noStrike" cap="none" dirty="0">
                <a:solidFill>
                  <a:srgbClr val="7030A0"/>
                </a:solidFill>
                <a:latin typeface="Open Sans"/>
                <a:ea typeface="Open Sans"/>
                <a:cs typeface="Open Sans"/>
                <a:sym typeface="Open Sans"/>
              </a:rPr>
              <a:t>Linear Regression In Data Science</a:t>
            </a:r>
            <a:endParaRPr sz="3000" b="1" dirty="0">
              <a:solidFill>
                <a:srgbClr val="7030A0"/>
              </a:solidFill>
              <a:latin typeface="Open Sans"/>
              <a:ea typeface="Open Sans"/>
              <a:cs typeface="Open Sans"/>
              <a:sym typeface="Open Sans"/>
            </a:endParaRPr>
          </a:p>
        </p:txBody>
      </p:sp>
      <p:cxnSp>
        <p:nvCxnSpPr>
          <p:cNvPr id="231" name="Google Shape;231;p30"/>
          <p:cNvCxnSpPr/>
          <p:nvPr/>
        </p:nvCxnSpPr>
        <p:spPr>
          <a:xfrm rot="5400000">
            <a:off x="6379469" y="1616671"/>
            <a:ext cx="4135694" cy="0"/>
          </a:xfrm>
          <a:prstGeom prst="straightConnector1">
            <a:avLst/>
          </a:prstGeom>
          <a:noFill/>
          <a:ln w="9525" cap="flat" cmpd="sng">
            <a:solidFill>
              <a:srgbClr val="7030A0"/>
            </a:solidFill>
            <a:prstDash val="solid"/>
            <a:round/>
            <a:headEnd type="none" w="sm" len="sm"/>
            <a:tailEnd type="none" w="sm" len="sm"/>
          </a:ln>
        </p:spPr>
      </p:cxnSp>
      <p:cxnSp>
        <p:nvCxnSpPr>
          <p:cNvPr id="232" name="Google Shape;232;p30"/>
          <p:cNvCxnSpPr/>
          <p:nvPr/>
        </p:nvCxnSpPr>
        <p:spPr>
          <a:xfrm rot="5400000">
            <a:off x="-1019252" y="4052997"/>
            <a:ext cx="2812307" cy="0"/>
          </a:xfrm>
          <a:prstGeom prst="straightConnector1">
            <a:avLst/>
          </a:prstGeom>
          <a:noFill/>
          <a:ln w="9525" cap="flat" cmpd="sng">
            <a:solidFill>
              <a:srgbClr val="7030A0"/>
            </a:solidFill>
            <a:prstDash val="solid"/>
            <a:round/>
            <a:headEnd type="none" w="sm" len="sm"/>
            <a:tailEnd type="none" w="sm" len="sm"/>
          </a:ln>
        </p:spPr>
      </p:cxnSp>
      <p:sp>
        <p:nvSpPr>
          <p:cNvPr id="234" name="Google Shape;234;p30"/>
          <p:cNvSpPr/>
          <p:nvPr/>
        </p:nvSpPr>
        <p:spPr>
          <a:xfrm>
            <a:off x="8837359" y="0"/>
            <a:ext cx="306642" cy="5736143"/>
          </a:xfrm>
          <a:custGeom>
            <a:avLst/>
            <a:gdLst/>
            <a:ahLst/>
            <a:cxnLst/>
            <a:rect l="l" t="t" r="r" b="b"/>
            <a:pathLst>
              <a:path w="161523" h="3021507" extrusionOk="0">
                <a:moveTo>
                  <a:pt x="0" y="0"/>
                </a:moveTo>
                <a:lnTo>
                  <a:pt x="161523" y="0"/>
                </a:lnTo>
                <a:lnTo>
                  <a:pt x="161523" y="3021507"/>
                </a:lnTo>
                <a:lnTo>
                  <a:pt x="0" y="3021507"/>
                </a:lnTo>
                <a:close/>
              </a:path>
            </a:pathLst>
          </a:custGeom>
          <a:solidFill>
            <a:srgbClr val="7030A0">
              <a:alpha val="13333"/>
            </a:srgbClr>
          </a:solidFill>
          <a:ln>
            <a:noFill/>
          </a:ln>
        </p:spPr>
        <p:txBody>
          <a:bodyPr/>
          <a:lstStyle/>
          <a:p>
            <a:endParaRPr lang="en-US"/>
          </a:p>
        </p:txBody>
      </p:sp>
      <p:sp>
        <p:nvSpPr>
          <p:cNvPr id="236" name="Google Shape;236;p30"/>
          <p:cNvSpPr txBox="1"/>
          <p:nvPr/>
        </p:nvSpPr>
        <p:spPr>
          <a:xfrm rot="5400000">
            <a:off x="8633564" y="2517954"/>
            <a:ext cx="766200" cy="1077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000000"/>
                </a:solidFill>
                <a:latin typeface="Open Sans"/>
                <a:ea typeface="Open Sans"/>
                <a:cs typeface="Open Sans"/>
                <a:sym typeface="Open Sans"/>
              </a:rPr>
              <a:t>N  E  X  T</a:t>
            </a:r>
            <a:endParaRPr sz="700"/>
          </a:p>
        </p:txBody>
      </p:sp>
      <p:sp>
        <p:nvSpPr>
          <p:cNvPr id="208" name="TextBox 207">
            <a:extLst>
              <a:ext uri="{FF2B5EF4-FFF2-40B4-BE49-F238E27FC236}">
                <a16:creationId xmlns:a16="http://schemas.microsoft.com/office/drawing/2014/main" id="{5F8EECA9-958E-B462-5809-0A88CF405139}"/>
              </a:ext>
            </a:extLst>
          </p:cNvPr>
          <p:cNvSpPr txBox="1"/>
          <p:nvPr/>
        </p:nvSpPr>
        <p:spPr>
          <a:xfrm>
            <a:off x="5007430" y="130365"/>
            <a:ext cx="3439886" cy="2462213"/>
          </a:xfrm>
          <a:prstGeom prst="rect">
            <a:avLst/>
          </a:prstGeom>
          <a:noFill/>
        </p:spPr>
        <p:txBody>
          <a:bodyPr wrap="square" rtlCol="0">
            <a:spAutoFit/>
          </a:bodyPr>
          <a:lstStyle/>
          <a:p>
            <a:pPr algn="ctr"/>
            <a:r>
              <a:rPr lang="en-US" sz="1800" dirty="0">
                <a:solidFill>
                  <a:schemeClr val="tx1"/>
                </a:solidFill>
              </a:rPr>
              <a:t>Linear Regression is technique used in data science to analyze and model the relationship between a dependent variable (</a:t>
            </a:r>
            <a:r>
              <a:rPr lang="en-US" sz="1800" b="1" dirty="0">
                <a:solidFill>
                  <a:srgbClr val="7030A0"/>
                </a:solidFill>
              </a:rPr>
              <a:t>target</a:t>
            </a:r>
            <a:r>
              <a:rPr lang="en-US" sz="1800" dirty="0">
                <a:solidFill>
                  <a:schemeClr val="tx1"/>
                </a:solidFill>
              </a:rPr>
              <a:t>) and one or more independent variables (</a:t>
            </a:r>
            <a:r>
              <a:rPr lang="en-US" sz="1800" b="1" dirty="0">
                <a:solidFill>
                  <a:srgbClr val="7030A0"/>
                </a:solidFill>
              </a:rPr>
              <a:t>predictors</a:t>
            </a:r>
            <a:r>
              <a:rPr lang="en-US" sz="1800" dirty="0">
                <a:solidFill>
                  <a:schemeClr val="tx1"/>
                </a:solidFill>
              </a:rPr>
              <a:t>). </a:t>
            </a:r>
          </a:p>
          <a:p>
            <a:br>
              <a:rPr lang="en-US" b="1" dirty="0">
                <a:solidFill>
                  <a:schemeClr val="tx1"/>
                </a:solidFill>
              </a:rPr>
            </a:br>
            <a:endParaRPr lang="en-US" dirty="0">
              <a:solidFill>
                <a:schemeClr val="bg1"/>
              </a:solidFill>
            </a:endParaRPr>
          </a:p>
        </p:txBody>
      </p:sp>
      <p:sp>
        <p:nvSpPr>
          <p:cNvPr id="209" name="TextBox 208">
            <a:extLst>
              <a:ext uri="{FF2B5EF4-FFF2-40B4-BE49-F238E27FC236}">
                <a16:creationId xmlns:a16="http://schemas.microsoft.com/office/drawing/2014/main" id="{F800903B-620F-534C-339C-7E8C9BD5CDA5}"/>
              </a:ext>
            </a:extLst>
          </p:cNvPr>
          <p:cNvSpPr txBox="1"/>
          <p:nvPr/>
        </p:nvSpPr>
        <p:spPr>
          <a:xfrm>
            <a:off x="5326494" y="2108072"/>
            <a:ext cx="2925801" cy="677108"/>
          </a:xfrm>
          <a:prstGeom prst="rect">
            <a:avLst/>
          </a:prstGeom>
          <a:noFill/>
        </p:spPr>
        <p:txBody>
          <a:bodyPr wrap="none" rtlCol="0">
            <a:spAutoFit/>
          </a:bodyPr>
          <a:lstStyle/>
          <a:p>
            <a:r>
              <a:rPr lang="en-US" sz="2400" b="1" dirty="0">
                <a:solidFill>
                  <a:srgbClr val="7030A0"/>
                </a:solidFill>
              </a:rPr>
              <a:t>GOAL = Prediction</a:t>
            </a:r>
          </a:p>
          <a:p>
            <a:endParaRPr lang="en-US" dirty="0"/>
          </a:p>
        </p:txBody>
      </p:sp>
      <p:sp>
        <p:nvSpPr>
          <p:cNvPr id="213" name="TextBox 212">
            <a:extLst>
              <a:ext uri="{FF2B5EF4-FFF2-40B4-BE49-F238E27FC236}">
                <a16:creationId xmlns:a16="http://schemas.microsoft.com/office/drawing/2014/main" id="{E75E0EF7-FEB5-173B-A7FC-073FFD30228E}"/>
              </a:ext>
            </a:extLst>
          </p:cNvPr>
          <p:cNvSpPr txBox="1"/>
          <p:nvPr/>
        </p:nvSpPr>
        <p:spPr>
          <a:xfrm>
            <a:off x="581924" y="2965606"/>
            <a:ext cx="1992853" cy="1292662"/>
          </a:xfrm>
          <a:prstGeom prst="rect">
            <a:avLst/>
          </a:prstGeom>
          <a:noFill/>
        </p:spPr>
        <p:txBody>
          <a:bodyPr wrap="none" rtlCol="0">
            <a:spAutoFit/>
          </a:bodyPr>
          <a:lstStyle/>
          <a:p>
            <a:pPr algn="ctr"/>
            <a:r>
              <a:rPr lang="en-US" b="1" dirty="0"/>
              <a:t>Predictor</a:t>
            </a:r>
          </a:p>
          <a:p>
            <a:pPr algn="ctr"/>
            <a:r>
              <a:rPr lang="en-US" b="1" dirty="0"/>
              <a:t>Independent Variable</a:t>
            </a:r>
          </a:p>
          <a:p>
            <a:pPr algn="ctr"/>
            <a:r>
              <a:rPr lang="en-US" dirty="0">
                <a:solidFill>
                  <a:srgbClr val="7030A0"/>
                </a:solidFill>
              </a:rPr>
              <a:t>‘</a:t>
            </a:r>
            <a:r>
              <a:rPr lang="en-US" dirty="0" err="1">
                <a:solidFill>
                  <a:srgbClr val="7030A0"/>
                </a:solidFill>
              </a:rPr>
              <a:t>highway_mpg</a:t>
            </a:r>
            <a:r>
              <a:rPr lang="en-US" dirty="0">
                <a:solidFill>
                  <a:srgbClr val="7030A0"/>
                </a:solidFill>
              </a:rPr>
              <a:t>’</a:t>
            </a:r>
          </a:p>
          <a:p>
            <a:pPr algn="ctr"/>
            <a:endParaRPr lang="en-US" sz="1800" b="1" dirty="0">
              <a:solidFill>
                <a:srgbClr val="7030A0"/>
              </a:solidFill>
            </a:endParaRPr>
          </a:p>
          <a:p>
            <a:pPr algn="ctr"/>
            <a:r>
              <a:rPr lang="en-US" sz="1800" b="1" dirty="0">
                <a:solidFill>
                  <a:srgbClr val="7030A0"/>
                </a:solidFill>
              </a:rPr>
              <a:t>“65 MPG”</a:t>
            </a:r>
          </a:p>
        </p:txBody>
      </p:sp>
      <p:sp>
        <p:nvSpPr>
          <p:cNvPr id="214" name="Arrow: Right 213">
            <a:extLst>
              <a:ext uri="{FF2B5EF4-FFF2-40B4-BE49-F238E27FC236}">
                <a16:creationId xmlns:a16="http://schemas.microsoft.com/office/drawing/2014/main" id="{4A0E43C5-58F6-02AF-661D-6E19DD5DAB59}"/>
              </a:ext>
            </a:extLst>
          </p:cNvPr>
          <p:cNvSpPr/>
          <p:nvPr/>
        </p:nvSpPr>
        <p:spPr>
          <a:xfrm>
            <a:off x="2648264" y="3446730"/>
            <a:ext cx="717227"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215" name="Rectangle 214">
            <a:extLst>
              <a:ext uri="{FF2B5EF4-FFF2-40B4-BE49-F238E27FC236}">
                <a16:creationId xmlns:a16="http://schemas.microsoft.com/office/drawing/2014/main" id="{86CA60FD-4F33-7993-5445-543A1248B762}"/>
              </a:ext>
            </a:extLst>
          </p:cNvPr>
          <p:cNvSpPr/>
          <p:nvPr/>
        </p:nvSpPr>
        <p:spPr>
          <a:xfrm>
            <a:off x="3596640" y="3178629"/>
            <a:ext cx="1689765" cy="1142082"/>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a:t>
            </a:r>
          </a:p>
        </p:txBody>
      </p:sp>
      <p:sp>
        <p:nvSpPr>
          <p:cNvPr id="216" name="Arrow: Right 215">
            <a:extLst>
              <a:ext uri="{FF2B5EF4-FFF2-40B4-BE49-F238E27FC236}">
                <a16:creationId xmlns:a16="http://schemas.microsoft.com/office/drawing/2014/main" id="{C8BCD830-16BA-93A5-830A-4D1C131C8BFE}"/>
              </a:ext>
            </a:extLst>
          </p:cNvPr>
          <p:cNvSpPr/>
          <p:nvPr/>
        </p:nvSpPr>
        <p:spPr>
          <a:xfrm>
            <a:off x="5517554" y="3442202"/>
            <a:ext cx="717227"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217" name="TextBox 216">
            <a:extLst>
              <a:ext uri="{FF2B5EF4-FFF2-40B4-BE49-F238E27FC236}">
                <a16:creationId xmlns:a16="http://schemas.microsoft.com/office/drawing/2014/main" id="{199B0F28-2783-C329-2EA6-412158E82F80}"/>
              </a:ext>
            </a:extLst>
          </p:cNvPr>
          <p:cNvSpPr txBox="1"/>
          <p:nvPr/>
        </p:nvSpPr>
        <p:spPr>
          <a:xfrm>
            <a:off x="6260908" y="2977266"/>
            <a:ext cx="1854995" cy="1292662"/>
          </a:xfrm>
          <a:prstGeom prst="rect">
            <a:avLst/>
          </a:prstGeom>
          <a:noFill/>
        </p:spPr>
        <p:txBody>
          <a:bodyPr wrap="none" rtlCol="0">
            <a:spAutoFit/>
          </a:bodyPr>
          <a:lstStyle/>
          <a:p>
            <a:pPr algn="ctr"/>
            <a:r>
              <a:rPr lang="en-US" b="1" dirty="0"/>
              <a:t>Target</a:t>
            </a:r>
          </a:p>
          <a:p>
            <a:pPr algn="ctr"/>
            <a:r>
              <a:rPr lang="en-US" b="1" dirty="0"/>
              <a:t>Dependent Variable</a:t>
            </a:r>
          </a:p>
          <a:p>
            <a:pPr algn="ctr"/>
            <a:r>
              <a:rPr lang="en-US" dirty="0">
                <a:solidFill>
                  <a:srgbClr val="7030A0"/>
                </a:solidFill>
              </a:rPr>
              <a:t>‘</a:t>
            </a:r>
            <a:r>
              <a:rPr lang="en-US" dirty="0" err="1">
                <a:solidFill>
                  <a:srgbClr val="7030A0"/>
                </a:solidFill>
              </a:rPr>
              <a:t>predicted_price</a:t>
            </a:r>
            <a:r>
              <a:rPr lang="en-US" dirty="0">
                <a:solidFill>
                  <a:srgbClr val="7030A0"/>
                </a:solidFill>
              </a:rPr>
              <a:t>’</a:t>
            </a:r>
          </a:p>
          <a:p>
            <a:pPr algn="ctr"/>
            <a:endParaRPr lang="en-US" sz="1800" dirty="0">
              <a:solidFill>
                <a:srgbClr val="7030A0"/>
              </a:solidFill>
            </a:endParaRPr>
          </a:p>
          <a:p>
            <a:pPr algn="ctr"/>
            <a:r>
              <a:rPr lang="en-US" sz="1800" b="1" dirty="0">
                <a:solidFill>
                  <a:srgbClr val="7030A0"/>
                </a:solidFill>
              </a:rPr>
              <a:t>“$35,000”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3"/>
                                        </p:tgtEl>
                                        <p:attrNameLst>
                                          <p:attrName>style.visibility</p:attrName>
                                        </p:attrNameLst>
                                      </p:cBhvr>
                                      <p:to>
                                        <p:strVal val="visible"/>
                                      </p:to>
                                    </p:set>
                                    <p:animEffect transition="in" filter="fade">
                                      <p:cBhvr>
                                        <p:cTn id="7" dur="500"/>
                                        <p:tgtEl>
                                          <p:spTgt spid="2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4"/>
                                        </p:tgtEl>
                                        <p:attrNameLst>
                                          <p:attrName>style.visibility</p:attrName>
                                        </p:attrNameLst>
                                      </p:cBhvr>
                                      <p:to>
                                        <p:strVal val="visible"/>
                                      </p:to>
                                    </p:set>
                                    <p:animEffect transition="in" filter="fade">
                                      <p:cBhvr>
                                        <p:cTn id="12" dur="500"/>
                                        <p:tgtEl>
                                          <p:spTgt spid="2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5"/>
                                        </p:tgtEl>
                                        <p:attrNameLst>
                                          <p:attrName>style.visibility</p:attrName>
                                        </p:attrNameLst>
                                      </p:cBhvr>
                                      <p:to>
                                        <p:strVal val="visible"/>
                                      </p:to>
                                    </p:set>
                                    <p:animEffect transition="in" filter="fade">
                                      <p:cBhvr>
                                        <p:cTn id="15" dur="500"/>
                                        <p:tgtEl>
                                          <p:spTgt spid="21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16"/>
                                        </p:tgtEl>
                                        <p:attrNameLst>
                                          <p:attrName>style.visibility</p:attrName>
                                        </p:attrNameLst>
                                      </p:cBhvr>
                                      <p:to>
                                        <p:strVal val="visible"/>
                                      </p:to>
                                    </p:set>
                                    <p:animEffect transition="in" filter="fade">
                                      <p:cBhvr>
                                        <p:cTn id="20" dur="500"/>
                                        <p:tgtEl>
                                          <p:spTgt spid="2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17"/>
                                        </p:tgtEl>
                                        <p:attrNameLst>
                                          <p:attrName>style.visibility</p:attrName>
                                        </p:attrNameLst>
                                      </p:cBhvr>
                                      <p:to>
                                        <p:strVal val="visible"/>
                                      </p:to>
                                    </p:set>
                                    <p:animEffect transition="in" filter="fade">
                                      <p:cBhvr>
                                        <p:cTn id="23" dur="5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 grpId="0"/>
      <p:bldP spid="214" grpId="0" animBg="1"/>
      <p:bldP spid="215" grpId="0" animBg="1"/>
      <p:bldP spid="216" grpId="0" animBg="1"/>
      <p:bldP spid="2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3EB2283B-E916-5855-3FB7-F203A9B69785}"/>
            </a:ext>
          </a:extLst>
        </p:cNvPr>
        <p:cNvGrpSpPr/>
        <p:nvPr/>
      </p:nvGrpSpPr>
      <p:grpSpPr>
        <a:xfrm>
          <a:off x="0" y="0"/>
          <a:ext cx="0" cy="0"/>
          <a:chOff x="0" y="0"/>
          <a:chExt cx="0" cy="0"/>
        </a:xfrm>
      </p:grpSpPr>
      <p:sp>
        <p:nvSpPr>
          <p:cNvPr id="229" name="Google Shape;229;p30">
            <a:extLst>
              <a:ext uri="{FF2B5EF4-FFF2-40B4-BE49-F238E27FC236}">
                <a16:creationId xmlns:a16="http://schemas.microsoft.com/office/drawing/2014/main" id="{06BED1F2-BE55-4C8D-CB5B-67D146BDB970}"/>
              </a:ext>
            </a:extLst>
          </p:cNvPr>
          <p:cNvSpPr txBox="1"/>
          <p:nvPr/>
        </p:nvSpPr>
        <p:spPr>
          <a:xfrm>
            <a:off x="96949" y="26758"/>
            <a:ext cx="4351925" cy="110799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 sz="3000" b="1" dirty="0">
                <a:solidFill>
                  <a:srgbClr val="7030A0"/>
                </a:solidFill>
                <a:latin typeface="Open Sans"/>
                <a:ea typeface="Open Sans"/>
                <a:cs typeface="Open Sans"/>
                <a:sym typeface="Open Sans"/>
              </a:rPr>
              <a:t>Use Case  and Data Considerations</a:t>
            </a:r>
            <a:endParaRPr sz="3000" b="1" dirty="0">
              <a:solidFill>
                <a:srgbClr val="7030A0"/>
              </a:solidFill>
              <a:latin typeface="Open Sans"/>
              <a:ea typeface="Open Sans"/>
              <a:cs typeface="Open Sans"/>
              <a:sym typeface="Open Sans"/>
            </a:endParaRPr>
          </a:p>
        </p:txBody>
      </p:sp>
      <p:cxnSp>
        <p:nvCxnSpPr>
          <p:cNvPr id="231" name="Google Shape;231;p30">
            <a:extLst>
              <a:ext uri="{FF2B5EF4-FFF2-40B4-BE49-F238E27FC236}">
                <a16:creationId xmlns:a16="http://schemas.microsoft.com/office/drawing/2014/main" id="{69F7268D-A5BD-5C7A-B7BC-F9BA13406092}"/>
              </a:ext>
            </a:extLst>
          </p:cNvPr>
          <p:cNvCxnSpPr/>
          <p:nvPr/>
        </p:nvCxnSpPr>
        <p:spPr>
          <a:xfrm rot="5400000">
            <a:off x="6379469" y="1616671"/>
            <a:ext cx="4135694" cy="0"/>
          </a:xfrm>
          <a:prstGeom prst="straightConnector1">
            <a:avLst/>
          </a:prstGeom>
          <a:noFill/>
          <a:ln w="9525" cap="flat" cmpd="sng">
            <a:solidFill>
              <a:srgbClr val="7030A0"/>
            </a:solidFill>
            <a:prstDash val="solid"/>
            <a:round/>
            <a:headEnd type="none" w="sm" len="sm"/>
            <a:tailEnd type="none" w="sm" len="sm"/>
          </a:ln>
        </p:spPr>
      </p:cxnSp>
      <p:cxnSp>
        <p:nvCxnSpPr>
          <p:cNvPr id="232" name="Google Shape;232;p30">
            <a:extLst>
              <a:ext uri="{FF2B5EF4-FFF2-40B4-BE49-F238E27FC236}">
                <a16:creationId xmlns:a16="http://schemas.microsoft.com/office/drawing/2014/main" id="{5BC2F0C5-3894-98A2-F354-DB95A7D3031C}"/>
              </a:ext>
            </a:extLst>
          </p:cNvPr>
          <p:cNvCxnSpPr/>
          <p:nvPr/>
        </p:nvCxnSpPr>
        <p:spPr>
          <a:xfrm rot="5400000">
            <a:off x="-1019252" y="4052997"/>
            <a:ext cx="2812307" cy="0"/>
          </a:xfrm>
          <a:prstGeom prst="straightConnector1">
            <a:avLst/>
          </a:prstGeom>
          <a:noFill/>
          <a:ln w="9525" cap="flat" cmpd="sng">
            <a:solidFill>
              <a:srgbClr val="7030A0"/>
            </a:solidFill>
            <a:prstDash val="solid"/>
            <a:round/>
            <a:headEnd type="none" w="sm" len="sm"/>
            <a:tailEnd type="none" w="sm" len="sm"/>
          </a:ln>
        </p:spPr>
      </p:cxnSp>
      <p:sp>
        <p:nvSpPr>
          <p:cNvPr id="234" name="Google Shape;234;p30">
            <a:extLst>
              <a:ext uri="{FF2B5EF4-FFF2-40B4-BE49-F238E27FC236}">
                <a16:creationId xmlns:a16="http://schemas.microsoft.com/office/drawing/2014/main" id="{B2E82E1E-C43C-0F58-1F30-D416FF9152B9}"/>
              </a:ext>
            </a:extLst>
          </p:cNvPr>
          <p:cNvSpPr/>
          <p:nvPr/>
        </p:nvSpPr>
        <p:spPr>
          <a:xfrm>
            <a:off x="8837359" y="0"/>
            <a:ext cx="306642" cy="5736143"/>
          </a:xfrm>
          <a:custGeom>
            <a:avLst/>
            <a:gdLst/>
            <a:ahLst/>
            <a:cxnLst/>
            <a:rect l="l" t="t" r="r" b="b"/>
            <a:pathLst>
              <a:path w="161523" h="3021507" extrusionOk="0">
                <a:moveTo>
                  <a:pt x="0" y="0"/>
                </a:moveTo>
                <a:lnTo>
                  <a:pt x="161523" y="0"/>
                </a:lnTo>
                <a:lnTo>
                  <a:pt x="161523" y="3021507"/>
                </a:lnTo>
                <a:lnTo>
                  <a:pt x="0" y="3021507"/>
                </a:lnTo>
                <a:close/>
              </a:path>
            </a:pathLst>
          </a:custGeom>
          <a:solidFill>
            <a:srgbClr val="7030A0">
              <a:alpha val="13333"/>
            </a:srgbClr>
          </a:solidFill>
          <a:ln>
            <a:noFill/>
          </a:ln>
        </p:spPr>
        <p:txBody>
          <a:bodyPr/>
          <a:lstStyle/>
          <a:p>
            <a:endParaRPr lang="en-US"/>
          </a:p>
        </p:txBody>
      </p:sp>
      <p:sp>
        <p:nvSpPr>
          <p:cNvPr id="236" name="Google Shape;236;p30">
            <a:extLst>
              <a:ext uri="{FF2B5EF4-FFF2-40B4-BE49-F238E27FC236}">
                <a16:creationId xmlns:a16="http://schemas.microsoft.com/office/drawing/2014/main" id="{506499E5-136B-B0FB-979D-2170F3DF13B9}"/>
              </a:ext>
            </a:extLst>
          </p:cNvPr>
          <p:cNvSpPr txBox="1"/>
          <p:nvPr/>
        </p:nvSpPr>
        <p:spPr>
          <a:xfrm rot="5400000">
            <a:off x="8633564" y="2517954"/>
            <a:ext cx="766200" cy="1077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000000"/>
                </a:solidFill>
                <a:latin typeface="Open Sans"/>
                <a:ea typeface="Open Sans"/>
                <a:cs typeface="Open Sans"/>
                <a:sym typeface="Open Sans"/>
              </a:rPr>
              <a:t>N  E  X  T</a:t>
            </a:r>
            <a:endParaRPr sz="700"/>
          </a:p>
        </p:txBody>
      </p:sp>
      <p:sp>
        <p:nvSpPr>
          <p:cNvPr id="208" name="TextBox 207">
            <a:extLst>
              <a:ext uri="{FF2B5EF4-FFF2-40B4-BE49-F238E27FC236}">
                <a16:creationId xmlns:a16="http://schemas.microsoft.com/office/drawing/2014/main" id="{D96D6162-69E6-487D-4B9F-5E1322228DCF}"/>
              </a:ext>
            </a:extLst>
          </p:cNvPr>
          <p:cNvSpPr txBox="1"/>
          <p:nvPr/>
        </p:nvSpPr>
        <p:spPr>
          <a:xfrm>
            <a:off x="5199532" y="273455"/>
            <a:ext cx="3439886" cy="523220"/>
          </a:xfrm>
          <a:prstGeom prst="rect">
            <a:avLst/>
          </a:prstGeom>
          <a:noFill/>
        </p:spPr>
        <p:txBody>
          <a:bodyPr wrap="square" rtlCol="0">
            <a:spAutoFit/>
          </a:bodyPr>
          <a:lstStyle/>
          <a:p>
            <a:pPr algn="ctr"/>
            <a:br>
              <a:rPr lang="en-US" b="1" dirty="0">
                <a:solidFill>
                  <a:schemeClr val="tx1"/>
                </a:solidFill>
              </a:rPr>
            </a:br>
            <a:endParaRPr lang="en-US" dirty="0">
              <a:solidFill>
                <a:schemeClr val="bg1"/>
              </a:solidFill>
            </a:endParaRPr>
          </a:p>
        </p:txBody>
      </p:sp>
      <p:sp>
        <p:nvSpPr>
          <p:cNvPr id="4" name="TextBox 3">
            <a:extLst>
              <a:ext uri="{FF2B5EF4-FFF2-40B4-BE49-F238E27FC236}">
                <a16:creationId xmlns:a16="http://schemas.microsoft.com/office/drawing/2014/main" id="{03FBDB57-808E-1E74-3D2F-E222437D3BD5}"/>
              </a:ext>
            </a:extLst>
          </p:cNvPr>
          <p:cNvSpPr txBox="1"/>
          <p:nvPr/>
        </p:nvSpPr>
        <p:spPr>
          <a:xfrm>
            <a:off x="2957637" y="4787852"/>
            <a:ext cx="7539471" cy="338554"/>
          </a:xfrm>
          <a:prstGeom prst="rect">
            <a:avLst/>
          </a:prstGeom>
          <a:noFill/>
        </p:spPr>
        <p:txBody>
          <a:bodyPr wrap="square">
            <a:spAutoFit/>
          </a:bodyPr>
          <a:lstStyle/>
          <a:p>
            <a:r>
              <a:rPr lang="en-US" sz="800" b="1" dirty="0">
                <a:solidFill>
                  <a:srgbClr val="7030A0"/>
                </a:solidFill>
              </a:rPr>
              <a:t>(dataset generated using </a:t>
            </a:r>
            <a:r>
              <a:rPr lang="en-US" sz="800" b="1" dirty="0" err="1">
                <a:solidFill>
                  <a:srgbClr val="7030A0"/>
                </a:solidFill>
              </a:rPr>
              <a:t>GhatGPT</a:t>
            </a:r>
            <a:r>
              <a:rPr lang="en-US" sz="800" b="1" dirty="0">
                <a:solidFill>
                  <a:srgbClr val="7030A0"/>
                </a:solidFill>
              </a:rPr>
              <a:t> OMNI on 05/2025, original data </a:t>
            </a:r>
            <a:r>
              <a:rPr lang="en-US" sz="800" b="1" dirty="0">
                <a:solidFill>
                  <a:srgbClr val="7030A0"/>
                </a:solidFill>
                <a:hlinkClick r:id="rId3"/>
              </a:rPr>
              <a:t>source https://cf-courses-data.s3.us.cloud-object-storage.appdomain.cloud/IBMDeveloperSkillsNetwork-DA0101EN-SkillsNetwork/labs/Data%20files/automobileEDA.csv</a:t>
            </a:r>
            <a:r>
              <a:rPr lang="en-US" sz="800" b="1" dirty="0">
                <a:solidFill>
                  <a:srgbClr val="7030A0"/>
                </a:solidFill>
              </a:rPr>
              <a:t>) </a:t>
            </a:r>
            <a:endParaRPr lang="en-US" sz="800" dirty="0"/>
          </a:p>
        </p:txBody>
      </p:sp>
      <p:sp>
        <p:nvSpPr>
          <p:cNvPr id="7" name="TextBox 6">
            <a:extLst>
              <a:ext uri="{FF2B5EF4-FFF2-40B4-BE49-F238E27FC236}">
                <a16:creationId xmlns:a16="http://schemas.microsoft.com/office/drawing/2014/main" id="{4F8CF116-6982-51D4-0E19-B68E473EDAD6}"/>
              </a:ext>
            </a:extLst>
          </p:cNvPr>
          <p:cNvSpPr txBox="1"/>
          <p:nvPr/>
        </p:nvSpPr>
        <p:spPr>
          <a:xfrm>
            <a:off x="4345803" y="100742"/>
            <a:ext cx="4018507" cy="2031325"/>
          </a:xfrm>
          <a:prstGeom prst="rect">
            <a:avLst/>
          </a:prstGeom>
          <a:noFill/>
        </p:spPr>
        <p:txBody>
          <a:bodyPr wrap="square" rtlCol="0">
            <a:spAutoFit/>
          </a:bodyPr>
          <a:lstStyle/>
          <a:p>
            <a:r>
              <a:rPr lang="en-US" sz="1800" dirty="0">
                <a:solidFill>
                  <a:schemeClr val="tx1"/>
                </a:solidFill>
              </a:rPr>
              <a:t>Questions To Consider!</a:t>
            </a:r>
          </a:p>
          <a:p>
            <a:pPr marL="342900" indent="-342900">
              <a:buAutoNum type="arabicPeriod"/>
            </a:pPr>
            <a:r>
              <a:rPr lang="en-US" sz="1800" dirty="0">
                <a:solidFill>
                  <a:schemeClr val="tx1"/>
                </a:solidFill>
              </a:rPr>
              <a:t>Are there multiple variables that could improve your model?</a:t>
            </a:r>
          </a:p>
          <a:p>
            <a:pPr marL="342900" indent="-342900">
              <a:buAutoNum type="arabicPeriod"/>
            </a:pPr>
            <a:r>
              <a:rPr lang="en-US" sz="1800" dirty="0">
                <a:solidFill>
                  <a:schemeClr val="tx1"/>
                </a:solidFill>
              </a:rPr>
              <a:t>Are there anomalies (really high or really low values)</a:t>
            </a:r>
          </a:p>
          <a:p>
            <a:pPr marL="342900" indent="-342900">
              <a:buAutoNum type="arabicPeriod"/>
            </a:pPr>
            <a:r>
              <a:rPr lang="en-US" sz="1800" dirty="0">
                <a:solidFill>
                  <a:schemeClr val="tx1"/>
                </a:solidFill>
              </a:rPr>
              <a:t>Do you have the data and can you get it.  </a:t>
            </a:r>
          </a:p>
        </p:txBody>
      </p:sp>
      <p:grpSp>
        <p:nvGrpSpPr>
          <p:cNvPr id="19" name="Group 18">
            <a:extLst>
              <a:ext uri="{FF2B5EF4-FFF2-40B4-BE49-F238E27FC236}">
                <a16:creationId xmlns:a16="http://schemas.microsoft.com/office/drawing/2014/main" id="{167B37FA-A94B-EAEC-9DBA-EF56BD1B621C}"/>
              </a:ext>
            </a:extLst>
          </p:cNvPr>
          <p:cNvGrpSpPr/>
          <p:nvPr/>
        </p:nvGrpSpPr>
        <p:grpSpPr>
          <a:xfrm>
            <a:off x="728018" y="2283704"/>
            <a:ext cx="7179689" cy="2629455"/>
            <a:chOff x="635400" y="2551047"/>
            <a:chExt cx="7179689" cy="2629455"/>
          </a:xfrm>
        </p:grpSpPr>
        <p:sp>
          <p:nvSpPr>
            <p:cNvPr id="213" name="TextBox 212">
              <a:extLst>
                <a:ext uri="{FF2B5EF4-FFF2-40B4-BE49-F238E27FC236}">
                  <a16:creationId xmlns:a16="http://schemas.microsoft.com/office/drawing/2014/main" id="{564D75D2-422A-D844-A6F7-C903D41F3387}"/>
                </a:ext>
              </a:extLst>
            </p:cNvPr>
            <p:cNvSpPr txBox="1"/>
            <p:nvPr/>
          </p:nvSpPr>
          <p:spPr>
            <a:xfrm>
              <a:off x="635400" y="3043069"/>
              <a:ext cx="1388522" cy="738664"/>
            </a:xfrm>
            <a:prstGeom prst="rect">
              <a:avLst/>
            </a:prstGeom>
            <a:noFill/>
          </p:spPr>
          <p:txBody>
            <a:bodyPr wrap="none" rtlCol="0">
              <a:spAutoFit/>
            </a:bodyPr>
            <a:lstStyle/>
            <a:p>
              <a:pPr algn="ctr"/>
              <a:r>
                <a:rPr lang="en-US" dirty="0">
                  <a:solidFill>
                    <a:srgbClr val="7030A0"/>
                  </a:solidFill>
                </a:rPr>
                <a:t>‘</a:t>
              </a:r>
              <a:r>
                <a:rPr lang="en-US" dirty="0" err="1">
                  <a:solidFill>
                    <a:srgbClr val="7030A0"/>
                  </a:solidFill>
                </a:rPr>
                <a:t>highway_mpg</a:t>
              </a:r>
              <a:r>
                <a:rPr lang="en-US" dirty="0">
                  <a:solidFill>
                    <a:srgbClr val="7030A0"/>
                  </a:solidFill>
                </a:rPr>
                <a:t>’</a:t>
              </a:r>
            </a:p>
            <a:p>
              <a:pPr algn="ctr"/>
              <a:r>
                <a:rPr lang="en-US" dirty="0">
                  <a:solidFill>
                    <a:srgbClr val="7030A0"/>
                  </a:solidFill>
                </a:rPr>
                <a:t>‘</a:t>
              </a:r>
              <a:r>
                <a:rPr lang="en-US" dirty="0" err="1">
                  <a:solidFill>
                    <a:srgbClr val="7030A0"/>
                  </a:solidFill>
                </a:rPr>
                <a:t>engine_size</a:t>
              </a:r>
              <a:r>
                <a:rPr lang="en-US" dirty="0">
                  <a:solidFill>
                    <a:srgbClr val="7030A0"/>
                  </a:solidFill>
                </a:rPr>
                <a:t>’</a:t>
              </a:r>
            </a:p>
            <a:p>
              <a:pPr algn="ctr"/>
              <a:r>
                <a:rPr lang="en-US" dirty="0">
                  <a:solidFill>
                    <a:srgbClr val="7030A0"/>
                  </a:solidFill>
                </a:rPr>
                <a:t>‘cylinders’</a:t>
              </a:r>
            </a:p>
          </p:txBody>
        </p:sp>
        <p:sp>
          <p:nvSpPr>
            <p:cNvPr id="214" name="Arrow: Right 213">
              <a:extLst>
                <a:ext uri="{FF2B5EF4-FFF2-40B4-BE49-F238E27FC236}">
                  <a16:creationId xmlns:a16="http://schemas.microsoft.com/office/drawing/2014/main" id="{1A01CF51-2C8B-DE2A-D21C-BA51930BEAB2}"/>
                </a:ext>
              </a:extLst>
            </p:cNvPr>
            <p:cNvSpPr/>
            <p:nvPr/>
          </p:nvSpPr>
          <p:spPr>
            <a:xfrm>
              <a:off x="2649750" y="2904264"/>
              <a:ext cx="717227"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215" name="Rectangle 214">
              <a:extLst>
                <a:ext uri="{FF2B5EF4-FFF2-40B4-BE49-F238E27FC236}">
                  <a16:creationId xmlns:a16="http://schemas.microsoft.com/office/drawing/2014/main" id="{49EBF673-537F-B3C5-EDF4-8694459D63C0}"/>
                </a:ext>
              </a:extLst>
            </p:cNvPr>
            <p:cNvSpPr/>
            <p:nvPr/>
          </p:nvSpPr>
          <p:spPr>
            <a:xfrm>
              <a:off x="3603992" y="2551047"/>
              <a:ext cx="1689765" cy="1142082"/>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Regression Model</a:t>
              </a:r>
            </a:p>
          </p:txBody>
        </p:sp>
        <p:sp>
          <p:nvSpPr>
            <p:cNvPr id="216" name="Arrow: Right 215">
              <a:extLst>
                <a:ext uri="{FF2B5EF4-FFF2-40B4-BE49-F238E27FC236}">
                  <a16:creationId xmlns:a16="http://schemas.microsoft.com/office/drawing/2014/main" id="{A6519731-C8AB-159F-F8A3-92E2D674E2FC}"/>
                </a:ext>
              </a:extLst>
            </p:cNvPr>
            <p:cNvSpPr/>
            <p:nvPr/>
          </p:nvSpPr>
          <p:spPr>
            <a:xfrm>
              <a:off x="5543681" y="2904264"/>
              <a:ext cx="717227"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217" name="TextBox 216">
              <a:extLst>
                <a:ext uri="{FF2B5EF4-FFF2-40B4-BE49-F238E27FC236}">
                  <a16:creationId xmlns:a16="http://schemas.microsoft.com/office/drawing/2014/main" id="{8F20FFEE-0BFB-F634-397F-4B9C09BD31D7}"/>
                </a:ext>
              </a:extLst>
            </p:cNvPr>
            <p:cNvSpPr txBox="1"/>
            <p:nvPr/>
          </p:nvSpPr>
          <p:spPr>
            <a:xfrm>
              <a:off x="6654711" y="2985978"/>
              <a:ext cx="1154483" cy="307777"/>
            </a:xfrm>
            <a:prstGeom prst="rect">
              <a:avLst/>
            </a:prstGeom>
            <a:noFill/>
          </p:spPr>
          <p:txBody>
            <a:bodyPr wrap="none" rtlCol="0">
              <a:spAutoFit/>
            </a:bodyPr>
            <a:lstStyle/>
            <a:p>
              <a:pPr algn="ctr"/>
              <a:r>
                <a:rPr lang="en-US" b="1" dirty="0">
                  <a:solidFill>
                    <a:srgbClr val="7030A0"/>
                  </a:solidFill>
                </a:rPr>
                <a:t>Y = $20,000</a:t>
              </a:r>
              <a:endParaRPr lang="en-US" sz="1800" b="1" dirty="0">
                <a:solidFill>
                  <a:srgbClr val="7030A0"/>
                </a:solidFill>
              </a:endParaRPr>
            </a:p>
          </p:txBody>
        </p:sp>
        <p:sp>
          <p:nvSpPr>
            <p:cNvPr id="14" name="TextBox 13">
              <a:extLst>
                <a:ext uri="{FF2B5EF4-FFF2-40B4-BE49-F238E27FC236}">
                  <a16:creationId xmlns:a16="http://schemas.microsoft.com/office/drawing/2014/main" id="{E1A3FCFC-7546-B04E-A4C3-3D427645FA47}"/>
                </a:ext>
              </a:extLst>
            </p:cNvPr>
            <p:cNvSpPr txBox="1"/>
            <p:nvPr/>
          </p:nvSpPr>
          <p:spPr>
            <a:xfrm>
              <a:off x="636795" y="4441838"/>
              <a:ext cx="1369286" cy="738664"/>
            </a:xfrm>
            <a:prstGeom prst="rect">
              <a:avLst/>
            </a:prstGeom>
            <a:noFill/>
          </p:spPr>
          <p:txBody>
            <a:bodyPr wrap="none" rtlCol="0">
              <a:spAutoFit/>
            </a:bodyPr>
            <a:lstStyle/>
            <a:p>
              <a:pPr algn="ctr"/>
              <a:r>
                <a:rPr lang="en-US" dirty="0">
                  <a:solidFill>
                    <a:srgbClr val="7030A0"/>
                  </a:solidFill>
                </a:rPr>
                <a:t>‘</a:t>
              </a:r>
              <a:r>
                <a:rPr lang="en-US" dirty="0" err="1">
                  <a:solidFill>
                    <a:srgbClr val="7030A0"/>
                  </a:solidFill>
                </a:rPr>
                <a:t>highway_mpg</a:t>
              </a:r>
              <a:r>
                <a:rPr lang="en-US" dirty="0">
                  <a:solidFill>
                    <a:srgbClr val="7030A0"/>
                  </a:solidFill>
                </a:rPr>
                <a:t>’</a:t>
              </a:r>
            </a:p>
            <a:p>
              <a:pPr algn="ctr"/>
              <a:r>
                <a:rPr lang="en-US" dirty="0">
                  <a:solidFill>
                    <a:srgbClr val="7030A0"/>
                  </a:solidFill>
                </a:rPr>
                <a:t>‘</a:t>
              </a:r>
              <a:r>
                <a:rPr lang="en-US" dirty="0" err="1">
                  <a:solidFill>
                    <a:srgbClr val="7030A0"/>
                  </a:solidFill>
                </a:rPr>
                <a:t>engine_size</a:t>
              </a:r>
              <a:r>
                <a:rPr lang="en-US" dirty="0">
                  <a:solidFill>
                    <a:srgbClr val="7030A0"/>
                  </a:solidFill>
                </a:rPr>
                <a:t>’</a:t>
              </a:r>
            </a:p>
            <a:p>
              <a:pPr algn="ctr"/>
              <a:r>
                <a:rPr lang="en-US" dirty="0">
                  <a:solidFill>
                    <a:srgbClr val="7030A0"/>
                  </a:solidFill>
                </a:rPr>
                <a:t>‘cylinders’</a:t>
              </a:r>
            </a:p>
          </p:txBody>
        </p:sp>
        <p:sp>
          <p:nvSpPr>
            <p:cNvPr id="15" name="Arrow: Right 14">
              <a:extLst>
                <a:ext uri="{FF2B5EF4-FFF2-40B4-BE49-F238E27FC236}">
                  <a16:creationId xmlns:a16="http://schemas.microsoft.com/office/drawing/2014/main" id="{C1BCBD91-0887-DE6C-3524-094E83272676}"/>
                </a:ext>
              </a:extLst>
            </p:cNvPr>
            <p:cNvSpPr/>
            <p:nvPr/>
          </p:nvSpPr>
          <p:spPr>
            <a:xfrm>
              <a:off x="2655645" y="4123803"/>
              <a:ext cx="717227"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079C402-E217-5FB4-DCE8-F891A33280FE}"/>
                </a:ext>
              </a:extLst>
            </p:cNvPr>
            <p:cNvSpPr/>
            <p:nvPr/>
          </p:nvSpPr>
          <p:spPr>
            <a:xfrm>
              <a:off x="3609887" y="3770586"/>
              <a:ext cx="1689765" cy="1142082"/>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Regression Model</a:t>
              </a:r>
            </a:p>
          </p:txBody>
        </p:sp>
        <p:sp>
          <p:nvSpPr>
            <p:cNvPr id="17" name="Arrow: Right 16">
              <a:extLst>
                <a:ext uri="{FF2B5EF4-FFF2-40B4-BE49-F238E27FC236}">
                  <a16:creationId xmlns:a16="http://schemas.microsoft.com/office/drawing/2014/main" id="{345792B2-79C3-F620-409A-A443705A60F7}"/>
                </a:ext>
              </a:extLst>
            </p:cNvPr>
            <p:cNvSpPr/>
            <p:nvPr/>
          </p:nvSpPr>
          <p:spPr>
            <a:xfrm>
              <a:off x="5549576" y="4123803"/>
              <a:ext cx="717227"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18" name="TextBox 17">
              <a:extLst>
                <a:ext uri="{FF2B5EF4-FFF2-40B4-BE49-F238E27FC236}">
                  <a16:creationId xmlns:a16="http://schemas.microsoft.com/office/drawing/2014/main" id="{79F10838-0340-C2DD-276A-FC85A3B4ECE2}"/>
                </a:ext>
              </a:extLst>
            </p:cNvPr>
            <p:cNvSpPr txBox="1"/>
            <p:nvPr/>
          </p:nvSpPr>
          <p:spPr>
            <a:xfrm>
              <a:off x="6660606" y="4205517"/>
              <a:ext cx="1154483" cy="307777"/>
            </a:xfrm>
            <a:prstGeom prst="rect">
              <a:avLst/>
            </a:prstGeom>
            <a:noFill/>
          </p:spPr>
          <p:txBody>
            <a:bodyPr wrap="none" rtlCol="0">
              <a:spAutoFit/>
            </a:bodyPr>
            <a:lstStyle/>
            <a:p>
              <a:pPr algn="ctr"/>
              <a:r>
                <a:rPr lang="en-US" b="1" dirty="0">
                  <a:solidFill>
                    <a:srgbClr val="7030A0"/>
                  </a:solidFill>
                </a:rPr>
                <a:t>Y = $20,000</a:t>
              </a:r>
              <a:endParaRPr lang="en-US" sz="1800" b="1" dirty="0">
                <a:solidFill>
                  <a:srgbClr val="7030A0"/>
                </a:solidFill>
              </a:endParaRPr>
            </a:p>
          </p:txBody>
        </p:sp>
      </p:grpSp>
      <p:pic>
        <p:nvPicPr>
          <p:cNvPr id="10" name="Picture 9" descr="A white car with black dots on it&#10;&#10;AI-generated content may be incorrect.">
            <a:extLst>
              <a:ext uri="{FF2B5EF4-FFF2-40B4-BE49-F238E27FC236}">
                <a16:creationId xmlns:a16="http://schemas.microsoft.com/office/drawing/2014/main" id="{77043972-4F55-D03D-7F4C-155254AA1FE6}"/>
              </a:ext>
            </a:extLst>
          </p:cNvPr>
          <p:cNvPicPr>
            <a:picLocks noChangeAspect="1"/>
          </p:cNvPicPr>
          <p:nvPr/>
        </p:nvPicPr>
        <p:blipFill>
          <a:blip r:embed="rId4"/>
          <a:stretch>
            <a:fillRect/>
          </a:stretch>
        </p:blipFill>
        <p:spPr>
          <a:xfrm>
            <a:off x="858833" y="2052205"/>
            <a:ext cx="1115561" cy="743707"/>
          </a:xfrm>
          <a:prstGeom prst="rect">
            <a:avLst/>
          </a:prstGeom>
        </p:spPr>
      </p:pic>
      <p:pic>
        <p:nvPicPr>
          <p:cNvPr id="12" name="Picture 11" descr="A black car parked on the road&#10;&#10;AI-generated content may be incorrect.">
            <a:extLst>
              <a:ext uri="{FF2B5EF4-FFF2-40B4-BE49-F238E27FC236}">
                <a16:creationId xmlns:a16="http://schemas.microsoft.com/office/drawing/2014/main" id="{C9EBC506-0E84-41F3-083C-25B68B403695}"/>
              </a:ext>
            </a:extLst>
          </p:cNvPr>
          <p:cNvPicPr>
            <a:picLocks noChangeAspect="1"/>
          </p:cNvPicPr>
          <p:nvPr/>
        </p:nvPicPr>
        <p:blipFill>
          <a:blip r:embed="rId5"/>
          <a:stretch>
            <a:fillRect/>
          </a:stretch>
        </p:blipFill>
        <p:spPr>
          <a:xfrm>
            <a:off x="870163" y="3476366"/>
            <a:ext cx="1104231" cy="736154"/>
          </a:xfrm>
          <a:prstGeom prst="rect">
            <a:avLst/>
          </a:prstGeom>
        </p:spPr>
      </p:pic>
      <p:grpSp>
        <p:nvGrpSpPr>
          <p:cNvPr id="25" name="Group 24">
            <a:extLst>
              <a:ext uri="{FF2B5EF4-FFF2-40B4-BE49-F238E27FC236}">
                <a16:creationId xmlns:a16="http://schemas.microsoft.com/office/drawing/2014/main" id="{6D94E98C-1FB2-4073-1EA1-D5D140FC48A7}"/>
              </a:ext>
            </a:extLst>
          </p:cNvPr>
          <p:cNvGrpSpPr/>
          <p:nvPr/>
        </p:nvGrpSpPr>
        <p:grpSpPr>
          <a:xfrm>
            <a:off x="1857079" y="535065"/>
            <a:ext cx="5429841" cy="3902417"/>
            <a:chOff x="1462278" y="1292098"/>
            <a:chExt cx="4449019" cy="3732978"/>
          </a:xfrm>
          <a:effectLst>
            <a:outerShdw blurRad="241300" dist="76200" dir="2700000" sx="102000" sy="102000" algn="tl" rotWithShape="0">
              <a:prstClr val="black">
                <a:alpha val="40000"/>
              </a:prstClr>
            </a:outerShdw>
          </a:effectLst>
        </p:grpSpPr>
        <p:pic>
          <p:nvPicPr>
            <p:cNvPr id="22" name="Picture 21">
              <a:extLst>
                <a:ext uri="{FF2B5EF4-FFF2-40B4-BE49-F238E27FC236}">
                  <a16:creationId xmlns:a16="http://schemas.microsoft.com/office/drawing/2014/main" id="{C59CD166-7EC5-A702-278D-A4FAEEE95D47}"/>
                </a:ext>
              </a:extLst>
            </p:cNvPr>
            <p:cNvPicPr>
              <a:picLocks noChangeAspect="1"/>
            </p:cNvPicPr>
            <p:nvPr/>
          </p:nvPicPr>
          <p:blipFill>
            <a:blip r:embed="rId6"/>
            <a:stretch>
              <a:fillRect/>
            </a:stretch>
          </p:blipFill>
          <p:spPr>
            <a:xfrm>
              <a:off x="1462278" y="1292098"/>
              <a:ext cx="4410878" cy="3732978"/>
            </a:xfrm>
            <a:prstGeom prst="rect">
              <a:avLst/>
            </a:prstGeom>
          </p:spPr>
        </p:pic>
        <p:sp>
          <p:nvSpPr>
            <p:cNvPr id="23" name="TextBox 22">
              <a:extLst>
                <a:ext uri="{FF2B5EF4-FFF2-40B4-BE49-F238E27FC236}">
                  <a16:creationId xmlns:a16="http://schemas.microsoft.com/office/drawing/2014/main" id="{0051DB6F-2EC2-1657-B809-B7BAD1361868}"/>
                </a:ext>
              </a:extLst>
            </p:cNvPr>
            <p:cNvSpPr txBox="1"/>
            <p:nvPr/>
          </p:nvSpPr>
          <p:spPr>
            <a:xfrm>
              <a:off x="2470739" y="1454331"/>
              <a:ext cx="1975221" cy="307777"/>
            </a:xfrm>
            <a:prstGeom prst="rect">
              <a:avLst/>
            </a:prstGeom>
            <a:noFill/>
          </p:spPr>
          <p:txBody>
            <a:bodyPr wrap="none" rtlCol="0">
              <a:spAutoFit/>
            </a:bodyPr>
            <a:lstStyle/>
            <a:p>
              <a:r>
                <a:rPr lang="en-US" dirty="0">
                  <a:highlight>
                    <a:srgbClr val="FFFF00"/>
                  </a:highlight>
                </a:rPr>
                <a:t>Independent Variables</a:t>
              </a:r>
            </a:p>
          </p:txBody>
        </p:sp>
        <p:sp>
          <p:nvSpPr>
            <p:cNvPr id="24" name="TextBox 23">
              <a:extLst>
                <a:ext uri="{FF2B5EF4-FFF2-40B4-BE49-F238E27FC236}">
                  <a16:creationId xmlns:a16="http://schemas.microsoft.com/office/drawing/2014/main" id="{9FE8B940-51AF-ED4B-27D1-B6771D217934}"/>
                </a:ext>
              </a:extLst>
            </p:cNvPr>
            <p:cNvSpPr txBox="1"/>
            <p:nvPr/>
          </p:nvSpPr>
          <p:spPr>
            <a:xfrm>
              <a:off x="4851391" y="1310555"/>
              <a:ext cx="1059906" cy="523220"/>
            </a:xfrm>
            <a:prstGeom prst="rect">
              <a:avLst/>
            </a:prstGeom>
            <a:noFill/>
          </p:spPr>
          <p:txBody>
            <a:bodyPr wrap="none" rtlCol="0">
              <a:spAutoFit/>
            </a:bodyPr>
            <a:lstStyle/>
            <a:p>
              <a:pPr algn="ctr"/>
              <a:r>
                <a:rPr lang="en-US" dirty="0">
                  <a:highlight>
                    <a:srgbClr val="FFFF00"/>
                  </a:highlight>
                </a:rPr>
                <a:t>Dependent</a:t>
              </a:r>
              <a:br>
                <a:rPr lang="en-US" dirty="0">
                  <a:highlight>
                    <a:srgbClr val="FFFF00"/>
                  </a:highlight>
                </a:rPr>
              </a:br>
              <a:r>
                <a:rPr lang="en-US" dirty="0">
                  <a:highlight>
                    <a:srgbClr val="FFFF00"/>
                  </a:highlight>
                </a:rPr>
                <a:t>Variable</a:t>
              </a:r>
            </a:p>
          </p:txBody>
        </p:sp>
      </p:grpSp>
    </p:spTree>
    <p:extLst>
      <p:ext uri="{BB962C8B-B14F-4D97-AF65-F5344CB8AC3E}">
        <p14:creationId xmlns:p14="http://schemas.microsoft.com/office/powerpoint/2010/main" val="388033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3BE4839-4C51-DD53-FD57-B7A84D54C414}"/>
              </a:ext>
            </a:extLst>
          </p:cNvPr>
          <p:cNvGrpSpPr/>
          <p:nvPr/>
        </p:nvGrpSpPr>
        <p:grpSpPr>
          <a:xfrm>
            <a:off x="0" y="0"/>
            <a:ext cx="9144000" cy="5143500"/>
            <a:chOff x="0" y="0"/>
            <a:chExt cx="9144000" cy="5143500"/>
          </a:xfrm>
        </p:grpSpPr>
        <p:pic>
          <p:nvPicPr>
            <p:cNvPr id="6146" name="Picture 2" descr="How to Add Polls and Q&amp;A to Your PowerPoint Slides With Slido">
              <a:extLst>
                <a:ext uri="{FF2B5EF4-FFF2-40B4-BE49-F238E27FC236}">
                  <a16:creationId xmlns:a16="http://schemas.microsoft.com/office/drawing/2014/main" id="{1B1BC09B-CB3B-94E4-3262-299D0A12E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solidFill>
              <a:srgbClr val="1B396F"/>
            </a:solidFill>
          </p:spPr>
        </p:pic>
        <p:sp>
          <p:nvSpPr>
            <p:cNvPr id="4" name="Rectangle 3">
              <a:extLst>
                <a:ext uri="{FF2B5EF4-FFF2-40B4-BE49-F238E27FC236}">
                  <a16:creationId xmlns:a16="http://schemas.microsoft.com/office/drawing/2014/main" id="{FBCDADE2-2D53-A189-00C5-8075C3204DA6}"/>
                </a:ext>
              </a:extLst>
            </p:cNvPr>
            <p:cNvSpPr/>
            <p:nvPr/>
          </p:nvSpPr>
          <p:spPr>
            <a:xfrm>
              <a:off x="2011680" y="505098"/>
              <a:ext cx="6139543" cy="339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137CE7B-A5E7-E74C-C30F-0F6A97DC6D3E}"/>
                </a:ext>
              </a:extLst>
            </p:cNvPr>
            <p:cNvSpPr/>
            <p:nvPr/>
          </p:nvSpPr>
          <p:spPr>
            <a:xfrm>
              <a:off x="1950719" y="1018903"/>
              <a:ext cx="6897189" cy="3988525"/>
            </a:xfrm>
            <a:prstGeom prst="rect">
              <a:avLst/>
            </a:prstGeom>
            <a:solidFill>
              <a:srgbClr val="1C35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t>
              </a:r>
            </a:p>
            <a:p>
              <a:pPr algn="ctr"/>
              <a:endParaRPr lang="en-US" dirty="0"/>
            </a:p>
          </p:txBody>
        </p:sp>
        <p:sp>
          <p:nvSpPr>
            <p:cNvPr id="6" name="Rectangle 5">
              <a:extLst>
                <a:ext uri="{FF2B5EF4-FFF2-40B4-BE49-F238E27FC236}">
                  <a16:creationId xmlns:a16="http://schemas.microsoft.com/office/drawing/2014/main" id="{DC2189B6-7208-E4B8-B138-75CA4D8625D3}"/>
                </a:ext>
              </a:extLst>
            </p:cNvPr>
            <p:cNvSpPr/>
            <p:nvPr/>
          </p:nvSpPr>
          <p:spPr>
            <a:xfrm>
              <a:off x="2011680" y="577488"/>
              <a:ext cx="6331131" cy="339634"/>
            </a:xfrm>
            <a:prstGeom prst="rect">
              <a:avLst/>
            </a:prstGeom>
            <a:solidFill>
              <a:srgbClr val="1C35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Use Case</a:t>
              </a:r>
              <a:r>
                <a:rPr lang="en-US" dirty="0">
                  <a:solidFill>
                    <a:schemeClr val="bg1"/>
                  </a:solidFill>
                </a:rPr>
                <a:t>: Estimate the sale price of a house based on its characteristics</a:t>
              </a:r>
              <a:endParaRPr lang="en-US" dirty="0"/>
            </a:p>
          </p:txBody>
        </p:sp>
        <p:sp>
          <p:nvSpPr>
            <p:cNvPr id="8" name="TextBox 7">
              <a:extLst>
                <a:ext uri="{FF2B5EF4-FFF2-40B4-BE49-F238E27FC236}">
                  <a16:creationId xmlns:a16="http://schemas.microsoft.com/office/drawing/2014/main" id="{45708BA6-5E20-D041-333D-2D9F512110A9}"/>
                </a:ext>
              </a:extLst>
            </p:cNvPr>
            <p:cNvSpPr txBox="1"/>
            <p:nvPr/>
          </p:nvSpPr>
          <p:spPr>
            <a:xfrm>
              <a:off x="2251166" y="2102767"/>
              <a:ext cx="4641668" cy="307777"/>
            </a:xfrm>
            <a:prstGeom prst="rect">
              <a:avLst/>
            </a:prstGeom>
            <a:noFill/>
          </p:spPr>
          <p:txBody>
            <a:bodyPr wrap="square">
              <a:spAutoFit/>
            </a:bodyPr>
            <a:lstStyle/>
            <a:p>
              <a:endParaRPr lang="en-US" dirty="0">
                <a:solidFill>
                  <a:schemeClr val="bg1"/>
                </a:solidFill>
              </a:endParaRPr>
            </a:p>
          </p:txBody>
        </p:sp>
      </p:grpSp>
      <p:sp>
        <p:nvSpPr>
          <p:cNvPr id="10" name="TextBox 9">
            <a:extLst>
              <a:ext uri="{FF2B5EF4-FFF2-40B4-BE49-F238E27FC236}">
                <a16:creationId xmlns:a16="http://schemas.microsoft.com/office/drawing/2014/main" id="{530A6A6F-3E17-2AF8-3D56-4EFF7A7B2357}"/>
              </a:ext>
            </a:extLst>
          </p:cNvPr>
          <p:cNvSpPr txBox="1"/>
          <p:nvPr/>
        </p:nvSpPr>
        <p:spPr>
          <a:xfrm>
            <a:off x="2325188" y="1131650"/>
            <a:ext cx="1096775" cy="584775"/>
          </a:xfrm>
          <a:prstGeom prst="rect">
            <a:avLst/>
          </a:prstGeom>
          <a:noFill/>
        </p:spPr>
        <p:txBody>
          <a:bodyPr wrap="none" rtlCol="0">
            <a:spAutoFit/>
          </a:bodyPr>
          <a:lstStyle/>
          <a:p>
            <a:r>
              <a:rPr lang="en-US" sz="1600" b="1" u="sng" dirty="0">
                <a:solidFill>
                  <a:schemeClr val="bg1"/>
                </a:solidFill>
              </a:rPr>
              <a:t>Variables</a:t>
            </a:r>
          </a:p>
          <a:p>
            <a:endParaRPr lang="en-US" sz="1600" b="1" u="sng" dirty="0">
              <a:solidFill>
                <a:schemeClr val="bg1"/>
              </a:solidFill>
            </a:endParaRPr>
          </a:p>
        </p:txBody>
      </p:sp>
      <p:sp>
        <p:nvSpPr>
          <p:cNvPr id="11" name="TextBox 10">
            <a:extLst>
              <a:ext uri="{FF2B5EF4-FFF2-40B4-BE49-F238E27FC236}">
                <a16:creationId xmlns:a16="http://schemas.microsoft.com/office/drawing/2014/main" id="{0BAFA258-94A1-6762-C690-E2CBBAFF1848}"/>
              </a:ext>
            </a:extLst>
          </p:cNvPr>
          <p:cNvSpPr txBox="1"/>
          <p:nvPr/>
        </p:nvSpPr>
        <p:spPr>
          <a:xfrm>
            <a:off x="5926176" y="1108501"/>
            <a:ext cx="1242648" cy="584775"/>
          </a:xfrm>
          <a:prstGeom prst="rect">
            <a:avLst/>
          </a:prstGeom>
          <a:noFill/>
        </p:spPr>
        <p:txBody>
          <a:bodyPr wrap="none" rtlCol="0">
            <a:spAutoFit/>
          </a:bodyPr>
          <a:lstStyle/>
          <a:p>
            <a:r>
              <a:rPr lang="en-US" sz="1600" b="1" u="sng" dirty="0">
                <a:solidFill>
                  <a:schemeClr val="bg1"/>
                </a:solidFill>
              </a:rPr>
              <a:t>Dependent</a:t>
            </a:r>
          </a:p>
          <a:p>
            <a:pPr algn="ctr"/>
            <a:r>
              <a:rPr lang="en-US" sz="1600" b="1" u="sng" dirty="0">
                <a:solidFill>
                  <a:schemeClr val="bg1"/>
                </a:solidFill>
              </a:rPr>
              <a:t>(Target)</a:t>
            </a:r>
          </a:p>
        </p:txBody>
      </p:sp>
      <p:sp>
        <p:nvSpPr>
          <p:cNvPr id="12" name="TextBox 11">
            <a:extLst>
              <a:ext uri="{FF2B5EF4-FFF2-40B4-BE49-F238E27FC236}">
                <a16:creationId xmlns:a16="http://schemas.microsoft.com/office/drawing/2014/main" id="{03D6BEF4-8A7E-0D57-D86F-54EFA8DD167A}"/>
              </a:ext>
            </a:extLst>
          </p:cNvPr>
          <p:cNvSpPr txBox="1"/>
          <p:nvPr/>
        </p:nvSpPr>
        <p:spPr>
          <a:xfrm>
            <a:off x="7355865" y="1091293"/>
            <a:ext cx="1402948" cy="584775"/>
          </a:xfrm>
          <a:prstGeom prst="rect">
            <a:avLst/>
          </a:prstGeom>
          <a:noFill/>
        </p:spPr>
        <p:txBody>
          <a:bodyPr wrap="none" rtlCol="0">
            <a:spAutoFit/>
          </a:bodyPr>
          <a:lstStyle/>
          <a:p>
            <a:r>
              <a:rPr lang="en-US" sz="1600" b="1" u="sng" dirty="0">
                <a:solidFill>
                  <a:schemeClr val="bg1"/>
                </a:solidFill>
              </a:rPr>
              <a:t>Independent</a:t>
            </a:r>
          </a:p>
          <a:p>
            <a:pPr algn="ctr"/>
            <a:r>
              <a:rPr lang="en-US" sz="1600" b="1" u="sng" dirty="0">
                <a:solidFill>
                  <a:schemeClr val="bg1"/>
                </a:solidFill>
              </a:rPr>
              <a:t>(Predictors)</a:t>
            </a:r>
          </a:p>
        </p:txBody>
      </p:sp>
      <p:sp>
        <p:nvSpPr>
          <p:cNvPr id="14" name="Rectangle 4">
            <a:extLst>
              <a:ext uri="{FF2B5EF4-FFF2-40B4-BE49-F238E27FC236}">
                <a16:creationId xmlns:a16="http://schemas.microsoft.com/office/drawing/2014/main" id="{F0ECE9DE-612D-666B-9CEF-13527E04485C}"/>
              </a:ext>
            </a:extLst>
          </p:cNvPr>
          <p:cNvSpPr>
            <a:spLocks noChangeArrowheads="1"/>
          </p:cNvSpPr>
          <p:nvPr/>
        </p:nvSpPr>
        <p:spPr bwMode="auto">
          <a:xfrm>
            <a:off x="2325188" y="1232876"/>
            <a:ext cx="2089033"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Unicode MS"/>
              </a:rPr>
              <a:t>Square Footage</a:t>
            </a:r>
            <a:endParaRPr kumimoji="0" lang="en-US" altLang="en-US"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Unicode MS"/>
              </a:rPr>
              <a:t>Number of Bedrooms</a:t>
            </a:r>
            <a:endParaRPr kumimoji="0" lang="en-US" altLang="en-US"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Unicode MS"/>
              </a:rPr>
              <a:t>Number of Bathrooms</a:t>
            </a:r>
            <a:endParaRPr kumimoji="0" lang="en-US" altLang="en-US"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Unicode MS"/>
              </a:rPr>
              <a:t>Age of the House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solidFill>
                  <a:schemeClr val="bg1"/>
                </a:solidFill>
                <a:latin typeface="Arial Unicode MS"/>
              </a:rPr>
              <a:t>Sale Price</a:t>
            </a:r>
            <a:endParaRPr kumimoji="0" lang="en-US" altLang="en-US"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bg1"/>
                </a:solidFill>
                <a:effectLst/>
                <a:latin typeface="Arial Unicode MS"/>
              </a:rPr>
              <a:t>Distance to City Center</a:t>
            </a:r>
            <a:endParaRPr kumimoji="0" lang="en-US" altLang="en-US" b="0" i="0" u="none" strike="noStrike" cap="none" normalizeH="0" baseline="0" dirty="0">
              <a:ln>
                <a:noFill/>
              </a:ln>
              <a:solidFill>
                <a:schemeClr val="bg1"/>
              </a:solidFill>
              <a:effectLst/>
            </a:endParaRPr>
          </a:p>
        </p:txBody>
      </p:sp>
      <p:sp>
        <p:nvSpPr>
          <p:cNvPr id="15" name="Arrow: Right 14">
            <a:extLst>
              <a:ext uri="{FF2B5EF4-FFF2-40B4-BE49-F238E27FC236}">
                <a16:creationId xmlns:a16="http://schemas.microsoft.com/office/drawing/2014/main" id="{03894355-CE35-927E-4428-94B4E8383F4E}"/>
              </a:ext>
            </a:extLst>
          </p:cNvPr>
          <p:cNvSpPr/>
          <p:nvPr/>
        </p:nvSpPr>
        <p:spPr>
          <a:xfrm>
            <a:off x="4904590" y="1781317"/>
            <a:ext cx="748937" cy="642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4F537D-8C5C-3392-9848-566ED87D2E03}"/>
              </a:ext>
            </a:extLst>
          </p:cNvPr>
          <p:cNvGrpSpPr/>
          <p:nvPr/>
        </p:nvGrpSpPr>
        <p:grpSpPr>
          <a:xfrm>
            <a:off x="-91438" y="4347"/>
            <a:ext cx="9144000" cy="5143500"/>
            <a:chOff x="0" y="0"/>
            <a:chExt cx="9144000" cy="5143500"/>
          </a:xfrm>
        </p:grpSpPr>
        <p:grpSp>
          <p:nvGrpSpPr>
            <p:cNvPr id="17" name="Group 16">
              <a:extLst>
                <a:ext uri="{FF2B5EF4-FFF2-40B4-BE49-F238E27FC236}">
                  <a16:creationId xmlns:a16="http://schemas.microsoft.com/office/drawing/2014/main" id="{894CD64C-7E37-1404-CD73-7CC3508F4837}"/>
                </a:ext>
              </a:extLst>
            </p:cNvPr>
            <p:cNvGrpSpPr/>
            <p:nvPr/>
          </p:nvGrpSpPr>
          <p:grpSpPr>
            <a:xfrm>
              <a:off x="0" y="0"/>
              <a:ext cx="9144000" cy="5143500"/>
              <a:chOff x="0" y="0"/>
              <a:chExt cx="9144000" cy="5143500"/>
            </a:xfrm>
          </p:grpSpPr>
          <p:pic>
            <p:nvPicPr>
              <p:cNvPr id="23" name="Picture 2" descr="How to Add Polls and Q&amp;A to Your PowerPoint Slides With Slido">
                <a:extLst>
                  <a:ext uri="{FF2B5EF4-FFF2-40B4-BE49-F238E27FC236}">
                    <a16:creationId xmlns:a16="http://schemas.microsoft.com/office/drawing/2014/main" id="{4CE919CD-7E3B-01BF-E340-356C60BB0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solidFill>
                <a:srgbClr val="1B396F"/>
              </a:solidFill>
            </p:spPr>
          </p:pic>
          <p:sp>
            <p:nvSpPr>
              <p:cNvPr id="24" name="Rectangle 23">
                <a:extLst>
                  <a:ext uri="{FF2B5EF4-FFF2-40B4-BE49-F238E27FC236}">
                    <a16:creationId xmlns:a16="http://schemas.microsoft.com/office/drawing/2014/main" id="{F6F2AB13-1FE0-8183-B38B-1C9D68FB4E96}"/>
                  </a:ext>
                </a:extLst>
              </p:cNvPr>
              <p:cNvSpPr/>
              <p:nvPr/>
            </p:nvSpPr>
            <p:spPr>
              <a:xfrm>
                <a:off x="2011680" y="505098"/>
                <a:ext cx="6139543" cy="339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11C11B9-BF8B-D571-4BBB-90D8E0CEA107}"/>
                  </a:ext>
                </a:extLst>
              </p:cNvPr>
              <p:cNvSpPr/>
              <p:nvPr/>
            </p:nvSpPr>
            <p:spPr>
              <a:xfrm>
                <a:off x="1950719" y="1018903"/>
                <a:ext cx="6897189" cy="3988525"/>
              </a:xfrm>
              <a:prstGeom prst="rect">
                <a:avLst/>
              </a:prstGeom>
              <a:solidFill>
                <a:srgbClr val="1C35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t>
                </a:r>
              </a:p>
              <a:p>
                <a:pPr algn="ctr"/>
                <a:endParaRPr lang="en-US" dirty="0"/>
              </a:p>
            </p:txBody>
          </p:sp>
          <p:sp>
            <p:nvSpPr>
              <p:cNvPr id="26" name="Rectangle 25">
                <a:extLst>
                  <a:ext uri="{FF2B5EF4-FFF2-40B4-BE49-F238E27FC236}">
                    <a16:creationId xmlns:a16="http://schemas.microsoft.com/office/drawing/2014/main" id="{96F9B59C-0B70-01EA-F6F5-6F2796FCBAE1}"/>
                  </a:ext>
                </a:extLst>
              </p:cNvPr>
              <p:cNvSpPr/>
              <p:nvPr/>
            </p:nvSpPr>
            <p:spPr>
              <a:xfrm>
                <a:off x="2011680" y="577488"/>
                <a:ext cx="6331131" cy="339634"/>
              </a:xfrm>
              <a:prstGeom prst="rect">
                <a:avLst/>
              </a:prstGeom>
              <a:solidFill>
                <a:srgbClr val="1C356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Use Case</a:t>
                </a:r>
                <a:r>
                  <a:rPr lang="en-US" dirty="0"/>
                  <a:t>: Determine a car’s fuel efficiency based on its specifications.</a:t>
                </a:r>
              </a:p>
            </p:txBody>
          </p:sp>
          <p:sp>
            <p:nvSpPr>
              <p:cNvPr id="27" name="TextBox 26">
                <a:extLst>
                  <a:ext uri="{FF2B5EF4-FFF2-40B4-BE49-F238E27FC236}">
                    <a16:creationId xmlns:a16="http://schemas.microsoft.com/office/drawing/2014/main" id="{F87492DC-7C21-6A47-8631-F77EE646FD80}"/>
                  </a:ext>
                </a:extLst>
              </p:cNvPr>
              <p:cNvSpPr txBox="1"/>
              <p:nvPr/>
            </p:nvSpPr>
            <p:spPr>
              <a:xfrm>
                <a:off x="2251166" y="2102767"/>
                <a:ext cx="4641668" cy="307777"/>
              </a:xfrm>
              <a:prstGeom prst="rect">
                <a:avLst/>
              </a:prstGeom>
              <a:noFill/>
            </p:spPr>
            <p:txBody>
              <a:bodyPr wrap="square">
                <a:spAutoFit/>
              </a:bodyPr>
              <a:lstStyle/>
              <a:p>
                <a:endParaRPr lang="en-US" dirty="0">
                  <a:solidFill>
                    <a:schemeClr val="bg1"/>
                  </a:solidFill>
                </a:endParaRPr>
              </a:p>
            </p:txBody>
          </p:sp>
        </p:grpSp>
        <p:sp>
          <p:nvSpPr>
            <p:cNvPr id="18" name="TextBox 17">
              <a:extLst>
                <a:ext uri="{FF2B5EF4-FFF2-40B4-BE49-F238E27FC236}">
                  <a16:creationId xmlns:a16="http://schemas.microsoft.com/office/drawing/2014/main" id="{EDF85818-0D69-198B-C036-5B76DFFCB8E5}"/>
                </a:ext>
              </a:extLst>
            </p:cNvPr>
            <p:cNvSpPr txBox="1"/>
            <p:nvPr/>
          </p:nvSpPr>
          <p:spPr>
            <a:xfrm>
              <a:off x="2325188" y="1131650"/>
              <a:ext cx="1096775" cy="584775"/>
            </a:xfrm>
            <a:prstGeom prst="rect">
              <a:avLst/>
            </a:prstGeom>
            <a:noFill/>
          </p:spPr>
          <p:txBody>
            <a:bodyPr wrap="none" rtlCol="0">
              <a:spAutoFit/>
            </a:bodyPr>
            <a:lstStyle/>
            <a:p>
              <a:r>
                <a:rPr lang="en-US" sz="1600" b="1" u="sng" dirty="0">
                  <a:solidFill>
                    <a:schemeClr val="bg1"/>
                  </a:solidFill>
                </a:rPr>
                <a:t>Variables</a:t>
              </a:r>
            </a:p>
            <a:p>
              <a:endParaRPr lang="en-US" sz="1600" b="1" u="sng" dirty="0">
                <a:solidFill>
                  <a:schemeClr val="bg1"/>
                </a:solidFill>
              </a:endParaRPr>
            </a:p>
          </p:txBody>
        </p:sp>
        <p:sp>
          <p:nvSpPr>
            <p:cNvPr id="19" name="TextBox 18">
              <a:extLst>
                <a:ext uri="{FF2B5EF4-FFF2-40B4-BE49-F238E27FC236}">
                  <a16:creationId xmlns:a16="http://schemas.microsoft.com/office/drawing/2014/main" id="{A6E9D602-6099-E611-7C7F-251E5D1CB90D}"/>
                </a:ext>
              </a:extLst>
            </p:cNvPr>
            <p:cNvSpPr txBox="1"/>
            <p:nvPr/>
          </p:nvSpPr>
          <p:spPr>
            <a:xfrm>
              <a:off x="5926176" y="1108501"/>
              <a:ext cx="1242648" cy="584775"/>
            </a:xfrm>
            <a:prstGeom prst="rect">
              <a:avLst/>
            </a:prstGeom>
            <a:noFill/>
          </p:spPr>
          <p:txBody>
            <a:bodyPr wrap="none" rtlCol="0">
              <a:spAutoFit/>
            </a:bodyPr>
            <a:lstStyle/>
            <a:p>
              <a:r>
                <a:rPr lang="en-US" sz="1600" b="1" u="sng" dirty="0">
                  <a:solidFill>
                    <a:schemeClr val="bg1"/>
                  </a:solidFill>
                </a:rPr>
                <a:t>Dependent</a:t>
              </a:r>
            </a:p>
            <a:p>
              <a:pPr algn="ctr"/>
              <a:r>
                <a:rPr lang="en-US" sz="1600" b="1" u="sng" dirty="0">
                  <a:solidFill>
                    <a:schemeClr val="bg1"/>
                  </a:solidFill>
                </a:rPr>
                <a:t>(Target)</a:t>
              </a:r>
            </a:p>
          </p:txBody>
        </p:sp>
        <p:sp>
          <p:nvSpPr>
            <p:cNvPr id="20" name="TextBox 19">
              <a:extLst>
                <a:ext uri="{FF2B5EF4-FFF2-40B4-BE49-F238E27FC236}">
                  <a16:creationId xmlns:a16="http://schemas.microsoft.com/office/drawing/2014/main" id="{2732B73D-C97B-49E1-2930-5D52A5B7A55D}"/>
                </a:ext>
              </a:extLst>
            </p:cNvPr>
            <p:cNvSpPr txBox="1"/>
            <p:nvPr/>
          </p:nvSpPr>
          <p:spPr>
            <a:xfrm>
              <a:off x="7355865" y="1091293"/>
              <a:ext cx="1402948" cy="584775"/>
            </a:xfrm>
            <a:prstGeom prst="rect">
              <a:avLst/>
            </a:prstGeom>
            <a:noFill/>
          </p:spPr>
          <p:txBody>
            <a:bodyPr wrap="none" rtlCol="0">
              <a:spAutoFit/>
            </a:bodyPr>
            <a:lstStyle/>
            <a:p>
              <a:r>
                <a:rPr lang="en-US" sz="1600" b="1" u="sng" dirty="0">
                  <a:solidFill>
                    <a:schemeClr val="bg1"/>
                  </a:solidFill>
                </a:rPr>
                <a:t>Independent</a:t>
              </a:r>
            </a:p>
            <a:p>
              <a:pPr algn="ctr"/>
              <a:r>
                <a:rPr lang="en-US" sz="1600" b="1" u="sng" dirty="0">
                  <a:solidFill>
                    <a:schemeClr val="bg1"/>
                  </a:solidFill>
                </a:rPr>
                <a:t>(Predictors)</a:t>
              </a:r>
            </a:p>
          </p:txBody>
        </p:sp>
        <p:sp>
          <p:nvSpPr>
            <p:cNvPr id="21" name="Rectangle 4">
              <a:extLst>
                <a:ext uri="{FF2B5EF4-FFF2-40B4-BE49-F238E27FC236}">
                  <a16:creationId xmlns:a16="http://schemas.microsoft.com/office/drawing/2014/main" id="{3DD82FC8-79F7-3DC4-0034-4E6E51679505}"/>
                </a:ext>
              </a:extLst>
            </p:cNvPr>
            <p:cNvSpPr>
              <a:spLocks noChangeArrowheads="1"/>
            </p:cNvSpPr>
            <p:nvPr/>
          </p:nvSpPr>
          <p:spPr bwMode="auto">
            <a:xfrm>
              <a:off x="2325188" y="1340597"/>
              <a:ext cx="213872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bg1"/>
                </a:solidFill>
                <a:effectLst/>
              </a:endParaRPr>
            </a:p>
            <a:p>
              <a:pPr lvl="0" eaLnBrk="0" fontAlgn="base" hangingPunct="0">
                <a:spcBef>
                  <a:spcPct val="0"/>
                </a:spcBef>
                <a:spcAft>
                  <a:spcPct val="0"/>
                </a:spcAft>
                <a:buClrTx/>
                <a:buFontTx/>
                <a:buChar char="•"/>
              </a:pPr>
              <a:r>
                <a:rPr lang="en-US" altLang="en-US" dirty="0">
                  <a:solidFill>
                    <a:schemeClr val="bg1"/>
                  </a:solidFill>
                  <a:latin typeface="Arial Unicode MS"/>
                </a:rPr>
                <a:t>Engine Size (liters)</a:t>
              </a:r>
              <a:endParaRPr lang="en-US" altLang="en-US" sz="800" dirty="0">
                <a:solidFill>
                  <a:schemeClr val="bg1"/>
                </a:solidFill>
              </a:endParaRPr>
            </a:p>
            <a:p>
              <a:pPr lvl="0" eaLnBrk="0" fontAlgn="base" hangingPunct="0">
                <a:spcBef>
                  <a:spcPct val="0"/>
                </a:spcBef>
                <a:spcAft>
                  <a:spcPct val="0"/>
                </a:spcAft>
                <a:buClrTx/>
                <a:buFontTx/>
                <a:buChar char="•"/>
              </a:pPr>
              <a:r>
                <a:rPr lang="en-US" altLang="en-US" dirty="0">
                  <a:solidFill>
                    <a:schemeClr val="bg1"/>
                  </a:solidFill>
                  <a:latin typeface="Arial Unicode MS"/>
                </a:rPr>
                <a:t>Vehicle Weight</a:t>
              </a:r>
              <a:endParaRPr lang="en-US" altLang="en-US" sz="800" dirty="0">
                <a:solidFill>
                  <a:schemeClr val="bg1"/>
                </a:solidFill>
              </a:endParaRPr>
            </a:p>
            <a:p>
              <a:pPr lvl="0" eaLnBrk="0" fontAlgn="base" hangingPunct="0">
                <a:spcBef>
                  <a:spcPct val="0"/>
                </a:spcBef>
                <a:spcAft>
                  <a:spcPct val="0"/>
                </a:spcAft>
                <a:buClrTx/>
                <a:buFontTx/>
                <a:buChar char="•"/>
              </a:pPr>
              <a:r>
                <a:rPr lang="en-US" altLang="en-US" dirty="0">
                  <a:solidFill>
                    <a:schemeClr val="bg1"/>
                  </a:solidFill>
                  <a:latin typeface="Arial Unicode MS"/>
                </a:rPr>
                <a:t>Horsepower</a:t>
              </a:r>
              <a:endParaRPr lang="en-US" altLang="en-US" sz="800" dirty="0">
                <a:solidFill>
                  <a:schemeClr val="bg1"/>
                </a:solidFill>
              </a:endParaRPr>
            </a:p>
            <a:p>
              <a:pPr lvl="0" eaLnBrk="0" fontAlgn="base" hangingPunct="0">
                <a:spcBef>
                  <a:spcPct val="0"/>
                </a:spcBef>
                <a:spcAft>
                  <a:spcPct val="0"/>
                </a:spcAft>
                <a:buClrTx/>
                <a:buFontTx/>
                <a:buChar char="•"/>
              </a:pPr>
              <a:r>
                <a:rPr lang="en-US" altLang="en-US" dirty="0">
                  <a:solidFill>
                    <a:schemeClr val="bg1"/>
                  </a:solidFill>
                  <a:latin typeface="Arial Unicode MS"/>
                </a:rPr>
                <a:t>Number of Cylinders</a:t>
              </a:r>
              <a:endParaRPr lang="en-US" altLang="en-US" sz="3200" dirty="0">
                <a:solidFill>
                  <a:schemeClr val="bg1"/>
                </a:solidFill>
                <a:latin typeface="Arial" panose="020B0604020202020204" pitchFamily="34" charset="0"/>
              </a:endParaRPr>
            </a:p>
            <a:p>
              <a:pPr lvl="0" eaLnBrk="0" fontAlgn="base" hangingPunct="0">
                <a:spcBef>
                  <a:spcPct val="0"/>
                </a:spcBef>
                <a:spcAft>
                  <a:spcPct val="0"/>
                </a:spcAft>
                <a:buClrTx/>
                <a:buFontTx/>
                <a:buChar char="•"/>
              </a:pPr>
              <a:r>
                <a:rPr lang="en-US" altLang="en-US" dirty="0">
                  <a:solidFill>
                    <a:schemeClr val="bg1"/>
                  </a:solidFill>
                  <a:latin typeface="Arial Unicode MS"/>
                </a:rPr>
                <a:t>Miles Per Gallon (MPG)</a:t>
              </a:r>
              <a:endParaRPr lang="en-US" altLang="en-US" sz="800" dirty="0">
                <a:solidFill>
                  <a:schemeClr val="bg1"/>
                </a:solidFill>
              </a:endParaRPr>
            </a:p>
          </p:txBody>
        </p:sp>
        <p:sp>
          <p:nvSpPr>
            <p:cNvPr id="22" name="Arrow: Right 21">
              <a:extLst>
                <a:ext uri="{FF2B5EF4-FFF2-40B4-BE49-F238E27FC236}">
                  <a16:creationId xmlns:a16="http://schemas.microsoft.com/office/drawing/2014/main" id="{0C6BF36E-9291-C9F7-1D11-C4315E2E7DCB}"/>
                </a:ext>
              </a:extLst>
            </p:cNvPr>
            <p:cNvSpPr/>
            <p:nvPr/>
          </p:nvSpPr>
          <p:spPr>
            <a:xfrm>
              <a:off x="4904590" y="1781317"/>
              <a:ext cx="748937" cy="642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93831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02"/>
        <p:cNvGrpSpPr/>
        <p:nvPr/>
      </p:nvGrpSpPr>
      <p:grpSpPr>
        <a:xfrm>
          <a:off x="0" y="0"/>
          <a:ext cx="0" cy="0"/>
          <a:chOff x="0" y="0"/>
          <a:chExt cx="0" cy="0"/>
        </a:xfrm>
      </p:grpSpPr>
      <p:cxnSp>
        <p:nvCxnSpPr>
          <p:cNvPr id="204" name="Google Shape;204;p29"/>
          <p:cNvCxnSpPr/>
          <p:nvPr/>
        </p:nvCxnSpPr>
        <p:spPr>
          <a:xfrm rot="5400000">
            <a:off x="7330663" y="5270017"/>
            <a:ext cx="2602737" cy="0"/>
          </a:xfrm>
          <a:prstGeom prst="straightConnector1">
            <a:avLst/>
          </a:prstGeom>
          <a:noFill/>
          <a:ln w="9525" cap="flat" cmpd="sng">
            <a:solidFill>
              <a:srgbClr val="FFFFFF"/>
            </a:solidFill>
            <a:prstDash val="solid"/>
            <a:round/>
            <a:headEnd type="none" w="sm" len="sm"/>
            <a:tailEnd type="none" w="sm" len="sm"/>
          </a:ln>
        </p:spPr>
      </p:cxnSp>
      <p:grpSp>
        <p:nvGrpSpPr>
          <p:cNvPr id="205" name="Google Shape;205;p29"/>
          <p:cNvGrpSpPr/>
          <p:nvPr/>
        </p:nvGrpSpPr>
        <p:grpSpPr>
          <a:xfrm>
            <a:off x="8837359" y="-72330"/>
            <a:ext cx="1543051" cy="5808473"/>
            <a:chOff x="0" y="-38100"/>
            <a:chExt cx="812800" cy="3059607"/>
          </a:xfrm>
        </p:grpSpPr>
        <p:sp>
          <p:nvSpPr>
            <p:cNvPr id="206" name="Google Shape;206;p29"/>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3333"/>
              </a:srgbClr>
            </a:solidFill>
            <a:ln>
              <a:noFill/>
            </a:ln>
          </p:spPr>
          <p:txBody>
            <a:bodyPr/>
            <a:lstStyle/>
            <a:p>
              <a:endParaRPr lang="en-US"/>
            </a:p>
          </p:txBody>
        </p:sp>
        <p:sp>
          <p:nvSpPr>
            <p:cNvPr id="207" name="Google Shape;207;p29"/>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pic>
        <p:nvPicPr>
          <p:cNvPr id="208" name="Google Shape;208;p29"/>
          <p:cNvPicPr preferRelativeResize="0"/>
          <p:nvPr/>
        </p:nvPicPr>
        <p:blipFill rotWithShape="1">
          <a:blip r:embed="rId3">
            <a:alphaModFix/>
            <a:duotone>
              <a:prstClr val="black"/>
              <a:schemeClr val="accent4">
                <a:tint val="45000"/>
                <a:satMod val="400000"/>
              </a:schemeClr>
            </a:duotone>
          </a:blip>
          <a:srcRect t="5050" b="5051"/>
          <a:stretch/>
        </p:blipFill>
        <p:spPr>
          <a:xfrm>
            <a:off x="0" y="-226434"/>
            <a:ext cx="4516393" cy="6093898"/>
          </a:xfrm>
          <a:prstGeom prst="rect">
            <a:avLst/>
          </a:prstGeom>
          <a:noFill/>
          <a:ln>
            <a:noFill/>
          </a:ln>
        </p:spPr>
      </p:pic>
      <p:sp>
        <p:nvSpPr>
          <p:cNvPr id="218" name="Google Shape;218;p29"/>
          <p:cNvSpPr txBox="1"/>
          <p:nvPr/>
        </p:nvSpPr>
        <p:spPr>
          <a:xfrm rot="5400000">
            <a:off x="8633564" y="2517954"/>
            <a:ext cx="766200" cy="1077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dirty="0">
                <a:solidFill>
                  <a:srgbClr val="FFFFFF"/>
                </a:solidFill>
                <a:latin typeface="Open Sans"/>
                <a:ea typeface="Open Sans"/>
                <a:cs typeface="Open Sans"/>
                <a:sym typeface="Open Sans"/>
              </a:rPr>
              <a:t>N  E  X  T</a:t>
            </a:r>
            <a:endParaRPr sz="700" dirty="0"/>
          </a:p>
        </p:txBody>
      </p:sp>
      <p:grpSp>
        <p:nvGrpSpPr>
          <p:cNvPr id="23" name="Group 22">
            <a:extLst>
              <a:ext uri="{FF2B5EF4-FFF2-40B4-BE49-F238E27FC236}">
                <a16:creationId xmlns:a16="http://schemas.microsoft.com/office/drawing/2014/main" id="{9772F654-40F8-7079-ED45-ABF0555AE9C9}"/>
              </a:ext>
            </a:extLst>
          </p:cNvPr>
          <p:cNvGrpSpPr/>
          <p:nvPr/>
        </p:nvGrpSpPr>
        <p:grpSpPr>
          <a:xfrm>
            <a:off x="3059292" y="82802"/>
            <a:ext cx="5931387" cy="2325121"/>
            <a:chOff x="2699156" y="114120"/>
            <a:chExt cx="6120598" cy="2325121"/>
          </a:xfrm>
        </p:grpSpPr>
        <p:sp>
          <p:nvSpPr>
            <p:cNvPr id="22" name="Rectangle 21">
              <a:extLst>
                <a:ext uri="{FF2B5EF4-FFF2-40B4-BE49-F238E27FC236}">
                  <a16:creationId xmlns:a16="http://schemas.microsoft.com/office/drawing/2014/main" id="{E2D05EF8-A722-9645-8016-0363517524FE}"/>
                </a:ext>
              </a:extLst>
            </p:cNvPr>
            <p:cNvSpPr/>
            <p:nvPr/>
          </p:nvSpPr>
          <p:spPr>
            <a:xfrm>
              <a:off x="2699156" y="114120"/>
              <a:ext cx="5932875" cy="1958374"/>
            </a:xfrm>
            <a:prstGeom prst="rect">
              <a:avLst/>
            </a:prstGeom>
            <a:solidFill>
              <a:schemeClr val="lt1">
                <a:alpha val="5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21E88D23-9081-25CE-71DF-693A2D3D5325}"/>
                </a:ext>
              </a:extLst>
            </p:cNvPr>
            <p:cNvSpPr txBox="1"/>
            <p:nvPr/>
          </p:nvSpPr>
          <p:spPr>
            <a:xfrm>
              <a:off x="3019314" y="161694"/>
              <a:ext cx="5800440" cy="2277547"/>
            </a:xfrm>
            <a:prstGeom prst="rect">
              <a:avLst/>
            </a:prstGeom>
            <a:noFill/>
          </p:spPr>
          <p:txBody>
            <a:bodyPr wrap="square" rtlCol="0">
              <a:spAutoFit/>
            </a:bodyPr>
            <a:lstStyle/>
            <a:p>
              <a:pPr marL="342900" indent="-342900">
                <a:buFont typeface="+mj-lt"/>
                <a:buAutoNum type="arabicPeriod"/>
              </a:pPr>
              <a:r>
                <a:rPr lang="en-US" sz="1800" b="1" dirty="0">
                  <a:solidFill>
                    <a:schemeClr val="tx1"/>
                  </a:solidFill>
                </a:rPr>
                <a:t>Measures to what extent variables are interdependent</a:t>
              </a:r>
            </a:p>
            <a:p>
              <a:pPr marL="342900" indent="-342900">
                <a:buFont typeface="+mj-lt"/>
                <a:buAutoNum type="arabicPeriod"/>
              </a:pPr>
              <a:r>
                <a:rPr lang="en-US" sz="1800" b="1" dirty="0">
                  <a:solidFill>
                    <a:schemeClr val="tx1"/>
                  </a:solidFill>
                </a:rPr>
                <a:t>Examples</a:t>
              </a:r>
              <a:br>
                <a:rPr lang="en-US" sz="1800" b="1" dirty="0">
                  <a:solidFill>
                    <a:schemeClr val="tx1"/>
                  </a:solidFill>
                </a:rPr>
              </a:br>
              <a:r>
                <a:rPr lang="en-US" dirty="0">
                  <a:solidFill>
                    <a:schemeClr val="tx1"/>
                  </a:solidFill>
                </a:rPr>
                <a:t>-Physical Fitness - Resting Heart Rate</a:t>
              </a:r>
              <a:br>
                <a:rPr lang="en-US" dirty="0">
                  <a:solidFill>
                    <a:schemeClr val="tx1"/>
                  </a:solidFill>
                  <a:sym typeface="Wingdings" panose="05000000000000000000" pitchFamily="2" charset="2"/>
                </a:rPr>
              </a:br>
              <a:r>
                <a:rPr lang="en-US" dirty="0">
                  <a:solidFill>
                    <a:schemeClr val="tx1"/>
                  </a:solidFill>
                  <a:sym typeface="Wingdings" panose="05000000000000000000" pitchFamily="2" charset="2"/>
                </a:rPr>
                <a:t>-Alcohol Consumption - Liver Disease</a:t>
              </a:r>
            </a:p>
            <a:p>
              <a:pPr marL="342900" indent="-342900">
                <a:buFont typeface="+mj-lt"/>
                <a:buAutoNum type="arabicPeriod"/>
              </a:pPr>
              <a:r>
                <a:rPr lang="en-US" sz="1800" b="1" dirty="0">
                  <a:solidFill>
                    <a:schemeClr val="tx1"/>
                  </a:solidFill>
                </a:rPr>
                <a:t>Correlation does not mean Causation!</a:t>
              </a:r>
              <a:br>
                <a:rPr lang="en-US" sz="1800" b="1" dirty="0">
                  <a:solidFill>
                    <a:schemeClr val="tx1"/>
                  </a:solidFill>
                </a:rPr>
              </a:br>
              <a:r>
                <a:rPr lang="en-US" dirty="0">
                  <a:solidFill>
                    <a:schemeClr val="tx1"/>
                  </a:solidFill>
                </a:rPr>
                <a:t>-Rain – Umbrella: Correlated but one doesn’t CAUSE the other</a:t>
              </a:r>
              <a:r>
                <a:rPr lang="en-US" b="1" dirty="0">
                  <a:solidFill>
                    <a:schemeClr val="tx1"/>
                  </a:solidFill>
                </a:rPr>
                <a:t>	</a:t>
              </a:r>
              <a:br>
                <a:rPr lang="en-US" b="1" dirty="0">
                  <a:solidFill>
                    <a:schemeClr val="bg1"/>
                  </a:solidFill>
                </a:rPr>
              </a:br>
              <a:endParaRPr lang="en-US" dirty="0">
                <a:solidFill>
                  <a:schemeClr val="bg1"/>
                </a:solidFill>
              </a:endParaRPr>
            </a:p>
            <a:p>
              <a:endParaRPr lang="en-US" dirty="0">
                <a:solidFill>
                  <a:schemeClr val="bg1"/>
                </a:solidFill>
              </a:endParaRPr>
            </a:p>
          </p:txBody>
        </p:sp>
      </p:grpSp>
      <p:cxnSp>
        <p:nvCxnSpPr>
          <p:cNvPr id="203" name="Google Shape;203;p29"/>
          <p:cNvCxnSpPr/>
          <p:nvPr/>
        </p:nvCxnSpPr>
        <p:spPr>
          <a:xfrm rot="5399999">
            <a:off x="1414195" y="20387"/>
            <a:ext cx="3084866" cy="0"/>
          </a:xfrm>
          <a:prstGeom prst="straightConnector1">
            <a:avLst/>
          </a:prstGeom>
          <a:noFill/>
          <a:ln w="9525" cap="flat" cmpd="sng">
            <a:solidFill>
              <a:srgbClr val="FFFFFF"/>
            </a:solidFill>
            <a:prstDash val="solid"/>
            <a:round/>
            <a:headEnd type="none" w="sm" len="sm"/>
            <a:tailEnd type="none" w="sm" len="sm"/>
          </a:ln>
        </p:spPr>
      </p:cxnSp>
      <p:sp>
        <p:nvSpPr>
          <p:cNvPr id="2" name="Google Shape;209;p29">
            <a:extLst>
              <a:ext uri="{FF2B5EF4-FFF2-40B4-BE49-F238E27FC236}">
                <a16:creationId xmlns:a16="http://schemas.microsoft.com/office/drawing/2014/main" id="{BC44A0AF-6128-38B4-5F5A-1C9F50A46D25}"/>
              </a:ext>
            </a:extLst>
          </p:cNvPr>
          <p:cNvSpPr txBox="1"/>
          <p:nvPr/>
        </p:nvSpPr>
        <p:spPr>
          <a:xfrm>
            <a:off x="332160" y="8812"/>
            <a:ext cx="3728723" cy="177279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Is There a Relationship</a:t>
            </a:r>
            <a:r>
              <a:rPr lang="en" sz="3000" b="1" dirty="0">
                <a:solidFill>
                  <a:srgbClr val="FFFFFF"/>
                </a:solidFill>
                <a:latin typeface="Open Sans"/>
                <a:ea typeface="Open Sans"/>
                <a:cs typeface="Open Sans"/>
                <a:sym typeface="Open Sans"/>
              </a:rPr>
              <a:t>?</a:t>
            </a:r>
            <a:r>
              <a:rPr lang="en" sz="3000" b="1" i="0" u="none" strike="noStrike" cap="none" dirty="0">
                <a:solidFill>
                  <a:srgbClr val="FFFFFF"/>
                </a:solidFill>
                <a:latin typeface="Open Sans"/>
                <a:ea typeface="Open Sans"/>
                <a:cs typeface="Open Sans"/>
                <a:sym typeface="Open Sans"/>
              </a:rPr>
              <a:t> </a:t>
            </a:r>
            <a:br>
              <a:rPr lang="en" sz="3000" b="1" i="0" u="none" strike="noStrike" cap="none" dirty="0">
                <a:solidFill>
                  <a:srgbClr val="FFFFFF"/>
                </a:solidFill>
                <a:latin typeface="Open Sans"/>
                <a:ea typeface="Open Sans"/>
                <a:cs typeface="Open Sans"/>
                <a:sym typeface="Open Sans"/>
              </a:rPr>
            </a:br>
            <a:r>
              <a:rPr lang="en" sz="1800" b="1" i="0" u="none" strike="noStrike" cap="none" dirty="0">
                <a:solidFill>
                  <a:srgbClr val="FFFFFF"/>
                </a:solidFill>
                <a:latin typeface="Open Sans"/>
                <a:ea typeface="Open Sans"/>
                <a:cs typeface="Open Sans"/>
                <a:sym typeface="Open Sans"/>
              </a:rPr>
              <a:t>Correlation</a:t>
            </a:r>
            <a:r>
              <a:rPr lang="en" sz="1800" b="1" dirty="0">
                <a:solidFill>
                  <a:srgbClr val="FFFFFF"/>
                </a:solidFill>
                <a:latin typeface="Open Sans"/>
                <a:ea typeface="Open Sans"/>
                <a:cs typeface="Open Sans"/>
                <a:sym typeface="Open Sans"/>
              </a:rPr>
              <a:t> (Pearson) </a:t>
            </a:r>
            <a:br>
              <a:rPr lang="en" sz="1800" b="1" dirty="0">
                <a:solidFill>
                  <a:srgbClr val="FFFFFF"/>
                </a:solidFill>
                <a:latin typeface="Open Sans"/>
                <a:ea typeface="Open Sans"/>
                <a:cs typeface="Open Sans"/>
                <a:sym typeface="Open Sans"/>
              </a:rPr>
            </a:br>
            <a:r>
              <a:rPr lang="en" sz="1800" b="1" i="0" u="none" strike="noStrike" cap="none" dirty="0">
                <a:solidFill>
                  <a:srgbClr val="FFFFFF"/>
                </a:solidFill>
                <a:latin typeface="Open Sans"/>
                <a:ea typeface="Open Sans"/>
                <a:cs typeface="Open Sans"/>
                <a:sym typeface="Open Sans"/>
              </a:rPr>
              <a:t>Statistics</a:t>
            </a:r>
          </a:p>
        </p:txBody>
      </p:sp>
      <p:pic>
        <p:nvPicPr>
          <p:cNvPr id="4" name="Picture 3">
            <a:extLst>
              <a:ext uri="{FF2B5EF4-FFF2-40B4-BE49-F238E27FC236}">
                <a16:creationId xmlns:a16="http://schemas.microsoft.com/office/drawing/2014/main" id="{2312CD45-6C3F-F4E1-2452-8AD6B0689FED}"/>
              </a:ext>
            </a:extLst>
          </p:cNvPr>
          <p:cNvPicPr>
            <a:picLocks noChangeAspect="1"/>
          </p:cNvPicPr>
          <p:nvPr/>
        </p:nvPicPr>
        <p:blipFill>
          <a:blip r:embed="rId4"/>
          <a:stretch>
            <a:fillRect/>
          </a:stretch>
        </p:blipFill>
        <p:spPr>
          <a:xfrm>
            <a:off x="788447" y="2043918"/>
            <a:ext cx="7706801" cy="3077004"/>
          </a:xfrm>
          <a:prstGeom prst="rect">
            <a:avLst/>
          </a:prstGeom>
        </p:spPr>
      </p:pic>
      <p:grpSp>
        <p:nvGrpSpPr>
          <p:cNvPr id="10" name="Group 9">
            <a:extLst>
              <a:ext uri="{FF2B5EF4-FFF2-40B4-BE49-F238E27FC236}">
                <a16:creationId xmlns:a16="http://schemas.microsoft.com/office/drawing/2014/main" id="{F8DAA0A3-C07C-80D8-817A-37AA8E9E4ABE}"/>
              </a:ext>
            </a:extLst>
          </p:cNvPr>
          <p:cNvGrpSpPr/>
          <p:nvPr/>
        </p:nvGrpSpPr>
        <p:grpSpPr>
          <a:xfrm>
            <a:off x="2603005" y="1010756"/>
            <a:ext cx="3728723" cy="3055086"/>
            <a:chOff x="2603005" y="1010756"/>
            <a:chExt cx="3728723" cy="3055086"/>
          </a:xfrm>
        </p:grpSpPr>
        <p:pic>
          <p:nvPicPr>
            <p:cNvPr id="6" name="Picture 5">
              <a:extLst>
                <a:ext uri="{FF2B5EF4-FFF2-40B4-BE49-F238E27FC236}">
                  <a16:creationId xmlns:a16="http://schemas.microsoft.com/office/drawing/2014/main" id="{ADD5AEF4-5521-8DA6-77F7-856570830C6F}"/>
                </a:ext>
              </a:extLst>
            </p:cNvPr>
            <p:cNvPicPr>
              <a:picLocks noChangeAspect="1"/>
            </p:cNvPicPr>
            <p:nvPr/>
          </p:nvPicPr>
          <p:blipFill>
            <a:blip r:embed="rId5"/>
            <a:stretch>
              <a:fillRect/>
            </a:stretch>
          </p:blipFill>
          <p:spPr>
            <a:xfrm>
              <a:off x="2603005" y="1010756"/>
              <a:ext cx="3728723" cy="3055086"/>
            </a:xfrm>
            <a:prstGeom prst="rect">
              <a:avLst/>
            </a:prstGeom>
          </p:spPr>
        </p:pic>
        <p:sp>
          <p:nvSpPr>
            <p:cNvPr id="7" name="Arrow: Right 6">
              <a:extLst>
                <a:ext uri="{FF2B5EF4-FFF2-40B4-BE49-F238E27FC236}">
                  <a16:creationId xmlns:a16="http://schemas.microsoft.com/office/drawing/2014/main" id="{D4B0FC58-0B92-FE16-3B2D-2D6A190E7C09}"/>
                </a:ext>
              </a:extLst>
            </p:cNvPr>
            <p:cNvSpPr/>
            <p:nvPr/>
          </p:nvSpPr>
          <p:spPr>
            <a:xfrm>
              <a:off x="3585221" y="1562820"/>
              <a:ext cx="647393"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8" name="Arrow: Right 7">
              <a:extLst>
                <a:ext uri="{FF2B5EF4-FFF2-40B4-BE49-F238E27FC236}">
                  <a16:creationId xmlns:a16="http://schemas.microsoft.com/office/drawing/2014/main" id="{467BD2BF-67ED-A65B-A0A6-BC9F5D81997C}"/>
                </a:ext>
              </a:extLst>
            </p:cNvPr>
            <p:cNvSpPr/>
            <p:nvPr/>
          </p:nvSpPr>
          <p:spPr>
            <a:xfrm rot="10800000">
              <a:off x="4398023" y="2994566"/>
              <a:ext cx="647393"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xit" presetSubtype="0" fill="hold" nodeType="withEffect">
                                  <p:stCondLst>
                                    <p:cond delay="0"/>
                                  </p:stCondLst>
                                  <p:childTnLst>
                                    <p:animEffect transition="out" filter="fade">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3">
          <a:extLst>
            <a:ext uri="{FF2B5EF4-FFF2-40B4-BE49-F238E27FC236}">
              <a16:creationId xmlns:a16="http://schemas.microsoft.com/office/drawing/2014/main" id="{A466F615-4389-78EC-0387-9A50CFB8F14C}"/>
            </a:ext>
          </a:extLst>
        </p:cNvPr>
        <p:cNvGrpSpPr/>
        <p:nvPr/>
      </p:nvGrpSpPr>
      <p:grpSpPr>
        <a:xfrm>
          <a:off x="0" y="0"/>
          <a:ext cx="0" cy="0"/>
          <a:chOff x="0" y="0"/>
          <a:chExt cx="0" cy="0"/>
        </a:xfrm>
      </p:grpSpPr>
      <p:sp>
        <p:nvSpPr>
          <p:cNvPr id="385" name="Google Shape;385;p38">
            <a:extLst>
              <a:ext uri="{FF2B5EF4-FFF2-40B4-BE49-F238E27FC236}">
                <a16:creationId xmlns:a16="http://schemas.microsoft.com/office/drawing/2014/main" id="{8A9484E2-FAEC-811A-1B4C-CE79B13E5979}"/>
              </a:ext>
            </a:extLst>
          </p:cNvPr>
          <p:cNvSpPr txBox="1"/>
          <p:nvPr/>
        </p:nvSpPr>
        <p:spPr>
          <a:xfrm>
            <a:off x="937149" y="575216"/>
            <a:ext cx="2354700" cy="461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My Skills</a:t>
            </a:r>
            <a:endParaRPr sz="700" b="1" dirty="0">
              <a:latin typeface="Open Sans"/>
              <a:ea typeface="Open Sans"/>
              <a:cs typeface="Open Sans"/>
              <a:sym typeface="Open Sans"/>
            </a:endParaRPr>
          </a:p>
        </p:txBody>
      </p:sp>
      <p:cxnSp>
        <p:nvCxnSpPr>
          <p:cNvPr id="399" name="Google Shape;399;p38">
            <a:extLst>
              <a:ext uri="{FF2B5EF4-FFF2-40B4-BE49-F238E27FC236}">
                <a16:creationId xmlns:a16="http://schemas.microsoft.com/office/drawing/2014/main" id="{0F3BCB08-FAC8-BC88-CC37-05236A7BD5BE}"/>
              </a:ext>
            </a:extLst>
          </p:cNvPr>
          <p:cNvCxnSpPr/>
          <p:nvPr/>
        </p:nvCxnSpPr>
        <p:spPr>
          <a:xfrm rot="5400000">
            <a:off x="6781221" y="5470803"/>
            <a:ext cx="3626382" cy="0"/>
          </a:xfrm>
          <a:prstGeom prst="straightConnector1">
            <a:avLst/>
          </a:prstGeom>
          <a:noFill/>
          <a:ln w="9525" cap="flat" cmpd="sng">
            <a:solidFill>
              <a:srgbClr val="7030A0"/>
            </a:solidFill>
            <a:prstDash val="solid"/>
            <a:round/>
            <a:headEnd type="none" w="sm" len="sm"/>
            <a:tailEnd type="none" w="sm" len="sm"/>
          </a:ln>
        </p:spPr>
      </p:cxnSp>
      <p:pic>
        <p:nvPicPr>
          <p:cNvPr id="3" name="Picture 2" descr="Abstract background of simple node and mesh">
            <a:extLst>
              <a:ext uri="{FF2B5EF4-FFF2-40B4-BE49-F238E27FC236}">
                <a16:creationId xmlns:a16="http://schemas.microsoft.com/office/drawing/2014/main" id="{9ACF216D-732D-886D-C674-0A5E6A3619BA}"/>
              </a:ext>
            </a:extLst>
          </p:cNvPr>
          <p:cNvPicPr>
            <a:picLocks noChangeAspect="1"/>
          </p:cNvPicPr>
          <p:nvPr/>
        </p:nvPicPr>
        <p:blipFill>
          <a:blip r:embed="rId3">
            <a:duotone>
              <a:prstClr val="black"/>
              <a:schemeClr val="accent4">
                <a:tint val="45000"/>
                <a:satMod val="400000"/>
              </a:schemeClr>
            </a:duotone>
          </a:blip>
          <a:stretch>
            <a:fillRect/>
          </a:stretch>
        </p:blipFill>
        <p:spPr>
          <a:xfrm rot="16200000">
            <a:off x="2001914" y="-1998586"/>
            <a:ext cx="5143500" cy="9140668"/>
          </a:xfrm>
          <a:prstGeom prst="rect">
            <a:avLst/>
          </a:prstGeom>
        </p:spPr>
      </p:pic>
      <p:pic>
        <p:nvPicPr>
          <p:cNvPr id="2" name="Google Shape;473;p42">
            <a:extLst>
              <a:ext uri="{FF2B5EF4-FFF2-40B4-BE49-F238E27FC236}">
                <a16:creationId xmlns:a16="http://schemas.microsoft.com/office/drawing/2014/main" id="{1C327D85-51CA-31EE-A6FD-1E948BF7D54D}"/>
              </a:ext>
            </a:extLst>
          </p:cNvPr>
          <p:cNvPicPr preferRelativeResize="0"/>
          <p:nvPr/>
        </p:nvPicPr>
        <p:blipFill rotWithShape="1">
          <a:blip r:embed="rId4">
            <a:alphaModFix/>
            <a:duotone>
              <a:prstClr val="black"/>
              <a:schemeClr val="accent4">
                <a:tint val="45000"/>
                <a:satMod val="400000"/>
              </a:schemeClr>
            </a:duotone>
          </a:blip>
          <a:srcRect t="11362" b="11361"/>
          <a:stretch/>
        </p:blipFill>
        <p:spPr>
          <a:xfrm>
            <a:off x="0" y="0"/>
            <a:ext cx="9144000" cy="5143500"/>
          </a:xfrm>
          <a:prstGeom prst="rect">
            <a:avLst/>
          </a:prstGeom>
          <a:noFill/>
          <a:ln>
            <a:noFill/>
          </a:ln>
        </p:spPr>
      </p:pic>
      <p:cxnSp>
        <p:nvCxnSpPr>
          <p:cNvPr id="398" name="Google Shape;398;p38">
            <a:extLst>
              <a:ext uri="{FF2B5EF4-FFF2-40B4-BE49-F238E27FC236}">
                <a16:creationId xmlns:a16="http://schemas.microsoft.com/office/drawing/2014/main" id="{27DD7004-80B1-5786-BB29-FB1E91EFC410}"/>
              </a:ext>
            </a:extLst>
          </p:cNvPr>
          <p:cNvCxnSpPr/>
          <p:nvPr/>
        </p:nvCxnSpPr>
        <p:spPr>
          <a:xfrm rot="5400000">
            <a:off x="-1301222" y="965264"/>
            <a:ext cx="3626382" cy="0"/>
          </a:xfrm>
          <a:prstGeom prst="straightConnector1">
            <a:avLst/>
          </a:prstGeom>
          <a:noFill/>
          <a:ln w="9525" cap="flat" cmpd="sng">
            <a:solidFill>
              <a:srgbClr val="000000"/>
            </a:solidFill>
            <a:prstDash val="solid"/>
            <a:round/>
            <a:headEnd type="none" w="sm" len="sm"/>
            <a:tailEnd type="none" w="sm" len="sm"/>
          </a:ln>
        </p:spPr>
      </p:cxnSp>
      <p:sp>
        <p:nvSpPr>
          <p:cNvPr id="6" name="AutoShape 6">
            <a:extLst>
              <a:ext uri="{FF2B5EF4-FFF2-40B4-BE49-F238E27FC236}">
                <a16:creationId xmlns:a16="http://schemas.microsoft.com/office/drawing/2014/main" id="{F55C8F7D-2A16-ADFC-6AF2-4BF7EC66F4A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Diagram 8">
            <a:extLst>
              <a:ext uri="{FF2B5EF4-FFF2-40B4-BE49-F238E27FC236}">
                <a16:creationId xmlns:a16="http://schemas.microsoft.com/office/drawing/2014/main" id="{DA144849-EDAC-666C-F967-FFB1EE6DFC66}"/>
              </a:ext>
            </a:extLst>
          </p:cNvPr>
          <p:cNvGraphicFramePr/>
          <p:nvPr>
            <p:extLst>
              <p:ext uri="{D42A27DB-BD31-4B8C-83A1-F6EECF244321}">
                <p14:modId xmlns:p14="http://schemas.microsoft.com/office/powerpoint/2010/main" val="1418644769"/>
              </p:ext>
            </p:extLst>
          </p:nvPr>
        </p:nvGraphicFramePr>
        <p:xfrm>
          <a:off x="1785264" y="104502"/>
          <a:ext cx="7177544" cy="492034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Google Shape;209;p29">
            <a:extLst>
              <a:ext uri="{FF2B5EF4-FFF2-40B4-BE49-F238E27FC236}">
                <a16:creationId xmlns:a16="http://schemas.microsoft.com/office/drawing/2014/main" id="{00B0F230-C73A-50ED-5C33-31B1DA4D02A6}"/>
              </a:ext>
            </a:extLst>
          </p:cNvPr>
          <p:cNvSpPr txBox="1"/>
          <p:nvPr/>
        </p:nvSpPr>
        <p:spPr>
          <a:xfrm>
            <a:off x="721048" y="107366"/>
            <a:ext cx="3728723" cy="212365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Correlation (Pearson) </a:t>
            </a:r>
          </a:p>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Statistics</a:t>
            </a:r>
            <a:br>
              <a:rPr lang="en" sz="3000" b="1" i="0" u="none" strike="noStrike" cap="none" dirty="0">
                <a:solidFill>
                  <a:srgbClr val="FFFFFF"/>
                </a:solidFill>
                <a:latin typeface="Open Sans"/>
                <a:ea typeface="Open Sans"/>
                <a:cs typeface="Open Sans"/>
                <a:sym typeface="Open Sans"/>
              </a:rPr>
            </a:br>
            <a:endParaRPr lang="en" sz="1800" b="1" i="0" u="none" strike="noStrike" cap="none" dirty="0">
              <a:solidFill>
                <a:srgbClr val="FFFFFF"/>
              </a:solidFill>
              <a:latin typeface="Open Sans"/>
              <a:ea typeface="Open Sans"/>
              <a:cs typeface="Open Sans"/>
              <a:sym typeface="Open Sans"/>
            </a:endParaRPr>
          </a:p>
          <a:p>
            <a:pPr marL="0" marR="0" lvl="0" indent="0" algn="l" rtl="0">
              <a:lnSpc>
                <a:spcPct val="120000"/>
              </a:lnSpc>
              <a:spcBef>
                <a:spcPts val="0"/>
              </a:spcBef>
              <a:spcAft>
                <a:spcPts val="0"/>
              </a:spcAft>
              <a:buNone/>
            </a:pPr>
            <a:endParaRPr sz="700" b="1" dirty="0">
              <a:latin typeface="Open Sans"/>
              <a:ea typeface="Open Sans"/>
              <a:cs typeface="Open Sans"/>
              <a:sym typeface="Open Sans"/>
            </a:endParaRPr>
          </a:p>
        </p:txBody>
      </p:sp>
      <p:sp>
        <p:nvSpPr>
          <p:cNvPr id="10" name="TextBox 9">
            <a:extLst>
              <a:ext uri="{FF2B5EF4-FFF2-40B4-BE49-F238E27FC236}">
                <a16:creationId xmlns:a16="http://schemas.microsoft.com/office/drawing/2014/main" id="{901B0032-E819-1161-5031-475B22DAF020}"/>
              </a:ext>
            </a:extLst>
          </p:cNvPr>
          <p:cNvSpPr txBox="1"/>
          <p:nvPr/>
        </p:nvSpPr>
        <p:spPr>
          <a:xfrm>
            <a:off x="4569531" y="154304"/>
            <a:ext cx="4259245" cy="1910779"/>
          </a:xfrm>
          <a:prstGeom prst="rect">
            <a:avLst/>
          </a:prstGeom>
          <a:noFill/>
        </p:spPr>
        <p:txBody>
          <a:bodyPr wrap="square">
            <a:spAutoFit/>
          </a:bodyPr>
          <a:lstStyle/>
          <a:p>
            <a:pPr algn="l">
              <a:spcAft>
                <a:spcPts val="1125"/>
              </a:spcAft>
              <a:buNone/>
            </a:pPr>
            <a:r>
              <a:rPr lang="en-US" sz="2400" b="1" i="0" u="sng" dirty="0">
                <a:solidFill>
                  <a:schemeClr val="bg1"/>
                </a:solidFill>
                <a:effectLst/>
                <a:latin typeface="Segoe UI" panose="020B0502040204020203" pitchFamily="34" charset="0"/>
              </a:rPr>
              <a:t>The Scale</a:t>
            </a:r>
          </a:p>
          <a:p>
            <a:pPr algn="l">
              <a:spcBef>
                <a:spcPts val="600"/>
              </a:spcBef>
              <a:spcAft>
                <a:spcPts val="600"/>
              </a:spcAft>
              <a:buNone/>
            </a:pPr>
            <a:r>
              <a:rPr lang="en-US" sz="2000" b="1" i="0" dirty="0">
                <a:solidFill>
                  <a:schemeClr val="bg1"/>
                </a:solidFill>
                <a:effectLst/>
                <a:latin typeface="Segoe UI" panose="020B0502040204020203" pitchFamily="34" charset="0"/>
              </a:rPr>
              <a:t>r = +1:</a:t>
            </a:r>
            <a:r>
              <a:rPr lang="en-US" sz="2000" b="0" i="0" dirty="0">
                <a:solidFill>
                  <a:schemeClr val="bg1"/>
                </a:solidFill>
                <a:effectLst/>
                <a:latin typeface="Segoe UI" panose="020B0502040204020203" pitchFamily="34" charset="0"/>
              </a:rPr>
              <a:t> Perfect positive correlation</a:t>
            </a:r>
          </a:p>
          <a:p>
            <a:pPr algn="l">
              <a:spcBef>
                <a:spcPts val="600"/>
              </a:spcBef>
              <a:spcAft>
                <a:spcPts val="600"/>
              </a:spcAft>
              <a:buNone/>
            </a:pPr>
            <a:r>
              <a:rPr lang="en-US" sz="2000" b="1" i="0" dirty="0">
                <a:solidFill>
                  <a:schemeClr val="bg1"/>
                </a:solidFill>
                <a:effectLst/>
                <a:latin typeface="Segoe UI" panose="020B0502040204020203" pitchFamily="34" charset="0"/>
              </a:rPr>
              <a:t>r = 0:</a:t>
            </a:r>
            <a:r>
              <a:rPr lang="en-US" sz="2000" b="0" i="0" dirty="0">
                <a:solidFill>
                  <a:schemeClr val="bg1"/>
                </a:solidFill>
                <a:effectLst/>
                <a:latin typeface="Segoe UI" panose="020B0502040204020203" pitchFamily="34" charset="0"/>
              </a:rPr>
              <a:t> No linear relationship</a:t>
            </a:r>
          </a:p>
          <a:p>
            <a:pPr algn="l">
              <a:spcBef>
                <a:spcPts val="600"/>
              </a:spcBef>
              <a:spcAft>
                <a:spcPts val="600"/>
              </a:spcAft>
              <a:buNone/>
            </a:pPr>
            <a:r>
              <a:rPr lang="en-US" sz="2000" b="1" i="0" dirty="0">
                <a:solidFill>
                  <a:schemeClr val="bg1"/>
                </a:solidFill>
                <a:effectLst/>
                <a:latin typeface="Segoe UI" panose="020B0502040204020203" pitchFamily="34" charset="0"/>
              </a:rPr>
              <a:t>r = -1:</a:t>
            </a:r>
            <a:r>
              <a:rPr lang="en-US" sz="2000" b="0" i="0" dirty="0">
                <a:solidFill>
                  <a:schemeClr val="bg1"/>
                </a:solidFill>
                <a:effectLst/>
                <a:latin typeface="Segoe UI" panose="020B0502040204020203" pitchFamily="34" charset="0"/>
              </a:rPr>
              <a:t> Perfect negative correlation</a:t>
            </a:r>
          </a:p>
        </p:txBody>
      </p:sp>
      <p:sp>
        <p:nvSpPr>
          <p:cNvPr id="12" name="TextBox 11">
            <a:extLst>
              <a:ext uri="{FF2B5EF4-FFF2-40B4-BE49-F238E27FC236}">
                <a16:creationId xmlns:a16="http://schemas.microsoft.com/office/drawing/2014/main" id="{DCDF2F2B-2558-87B5-CC4E-ED2510270837}"/>
              </a:ext>
            </a:extLst>
          </p:cNvPr>
          <p:cNvSpPr txBox="1"/>
          <p:nvPr/>
        </p:nvSpPr>
        <p:spPr>
          <a:xfrm>
            <a:off x="113630" y="1729189"/>
            <a:ext cx="5509260" cy="2523768"/>
          </a:xfrm>
          <a:prstGeom prst="rect">
            <a:avLst/>
          </a:prstGeom>
          <a:noFill/>
        </p:spPr>
        <p:txBody>
          <a:bodyPr wrap="square">
            <a:spAutoFit/>
          </a:bodyPr>
          <a:lstStyle/>
          <a:p>
            <a:pPr algn="l">
              <a:spcBef>
                <a:spcPts val="600"/>
              </a:spcBef>
              <a:spcAft>
                <a:spcPts val="600"/>
              </a:spcAft>
              <a:buFont typeface="Arial" panose="020B0604020202020204" pitchFamily="34" charset="0"/>
              <a:buChar char="•"/>
            </a:pPr>
            <a:r>
              <a:rPr lang="en-US" sz="1600" b="1" i="0" dirty="0">
                <a:solidFill>
                  <a:schemeClr val="bg1"/>
                </a:solidFill>
                <a:effectLst/>
                <a:latin typeface="Segoe UI" panose="020B0502040204020203" pitchFamily="34" charset="0"/>
              </a:rPr>
              <a:t>High correlation (r ≈ 0.9):</a:t>
            </a:r>
            <a:r>
              <a:rPr lang="en-US" sz="1600" b="0" i="0" dirty="0">
                <a:solidFill>
                  <a:schemeClr val="bg1"/>
                </a:solidFill>
                <a:effectLst/>
                <a:latin typeface="Segoe UI" panose="020B0502040204020203" pitchFamily="34" charset="0"/>
              </a:rPr>
              <a:t> Height and weight</a:t>
            </a:r>
            <a:br>
              <a:rPr lang="en-US" sz="1600" b="0" i="0" dirty="0">
                <a:solidFill>
                  <a:schemeClr val="bg1"/>
                </a:solidFill>
                <a:effectLst/>
                <a:latin typeface="Segoe UI" panose="020B0502040204020203" pitchFamily="34" charset="0"/>
              </a:rPr>
            </a:br>
            <a:br>
              <a:rPr lang="en-US" sz="1600" b="0" i="0" dirty="0">
                <a:solidFill>
                  <a:schemeClr val="bg1"/>
                </a:solidFill>
                <a:effectLst/>
                <a:latin typeface="Segoe UI" panose="020B0502040204020203" pitchFamily="34" charset="0"/>
              </a:rPr>
            </a:br>
            <a:br>
              <a:rPr lang="en-US" sz="1600" b="0" i="0" dirty="0">
                <a:solidFill>
                  <a:schemeClr val="bg1"/>
                </a:solidFill>
                <a:effectLst/>
                <a:latin typeface="Segoe UI" panose="020B0502040204020203" pitchFamily="34" charset="0"/>
              </a:rPr>
            </a:br>
            <a:endParaRPr lang="en-US" sz="1600" b="0" i="0" dirty="0">
              <a:solidFill>
                <a:schemeClr val="bg1"/>
              </a:solidFill>
              <a:effectLst/>
              <a:latin typeface="Segoe UI" panose="020B0502040204020203" pitchFamily="34" charset="0"/>
            </a:endParaRPr>
          </a:p>
          <a:p>
            <a:pPr algn="l">
              <a:spcBef>
                <a:spcPts val="600"/>
              </a:spcBef>
              <a:spcAft>
                <a:spcPts val="600"/>
              </a:spcAft>
              <a:buFont typeface="Arial" panose="020B0604020202020204" pitchFamily="34" charset="0"/>
              <a:buChar char="•"/>
            </a:pPr>
            <a:r>
              <a:rPr lang="en-US" sz="1600" b="1" i="0" dirty="0">
                <a:solidFill>
                  <a:schemeClr val="bg1"/>
                </a:solidFill>
                <a:effectLst/>
                <a:latin typeface="Segoe UI" panose="020B0502040204020203" pitchFamily="34" charset="0"/>
              </a:rPr>
              <a:t>Marginal correlation (r ≈ 0.3):</a:t>
            </a:r>
            <a:r>
              <a:rPr lang="en-US" sz="1600" b="0" i="0" dirty="0">
                <a:solidFill>
                  <a:schemeClr val="bg1"/>
                </a:solidFill>
                <a:effectLst/>
                <a:latin typeface="Segoe UI" panose="020B0502040204020203" pitchFamily="34" charset="0"/>
              </a:rPr>
              <a:t> Exercise and mood</a:t>
            </a:r>
            <a:br>
              <a:rPr lang="en-US" sz="1600" b="0" i="0" dirty="0">
                <a:solidFill>
                  <a:schemeClr val="bg1"/>
                </a:solidFill>
                <a:effectLst/>
                <a:latin typeface="Segoe UI" panose="020B0502040204020203" pitchFamily="34" charset="0"/>
              </a:rPr>
            </a:br>
            <a:endParaRPr lang="en-US" sz="1600" b="0" i="0" dirty="0">
              <a:solidFill>
                <a:schemeClr val="bg1"/>
              </a:solidFill>
              <a:effectLst/>
              <a:latin typeface="Segoe UI" panose="020B0502040204020203" pitchFamily="34" charset="0"/>
            </a:endParaRPr>
          </a:p>
          <a:p>
            <a:pPr algn="l">
              <a:spcBef>
                <a:spcPts val="600"/>
              </a:spcBef>
              <a:spcAft>
                <a:spcPts val="600"/>
              </a:spcAft>
            </a:pPr>
            <a:endParaRPr lang="en-US" sz="1600" b="0" i="0" dirty="0">
              <a:solidFill>
                <a:schemeClr val="bg1"/>
              </a:solidFill>
              <a:effectLst/>
              <a:latin typeface="Segoe UI" panose="020B0502040204020203" pitchFamily="34" charset="0"/>
            </a:endParaRPr>
          </a:p>
          <a:p>
            <a:pPr algn="l">
              <a:spcBef>
                <a:spcPts val="600"/>
              </a:spcBef>
              <a:spcAft>
                <a:spcPts val="600"/>
              </a:spcAft>
              <a:buFont typeface="Arial" panose="020B0604020202020204" pitchFamily="34" charset="0"/>
              <a:buChar char="•"/>
            </a:pPr>
            <a:r>
              <a:rPr lang="en-US" sz="1600" b="1" i="0" dirty="0">
                <a:solidFill>
                  <a:schemeClr val="bg1"/>
                </a:solidFill>
                <a:effectLst/>
                <a:latin typeface="Segoe UI" panose="020B0502040204020203" pitchFamily="34" charset="0"/>
              </a:rPr>
              <a:t>No correlation (r ≈ 0):</a:t>
            </a:r>
            <a:r>
              <a:rPr lang="en-US" sz="1600" b="0" i="0" dirty="0">
                <a:solidFill>
                  <a:schemeClr val="bg1"/>
                </a:solidFill>
                <a:effectLst/>
                <a:latin typeface="Segoe UI" panose="020B0502040204020203" pitchFamily="34" charset="0"/>
              </a:rPr>
              <a:t> Hair color and intelligence</a:t>
            </a:r>
          </a:p>
        </p:txBody>
      </p:sp>
      <p:pic>
        <p:nvPicPr>
          <p:cNvPr id="15" name="Picture 14">
            <a:extLst>
              <a:ext uri="{FF2B5EF4-FFF2-40B4-BE49-F238E27FC236}">
                <a16:creationId xmlns:a16="http://schemas.microsoft.com/office/drawing/2014/main" id="{10321A04-12EE-ED77-AB6D-D9B21547A367}"/>
              </a:ext>
            </a:extLst>
          </p:cNvPr>
          <p:cNvPicPr>
            <a:picLocks noChangeAspect="1"/>
          </p:cNvPicPr>
          <p:nvPr/>
        </p:nvPicPr>
        <p:blipFill>
          <a:blip r:embed="rId10"/>
          <a:stretch>
            <a:fillRect/>
          </a:stretch>
        </p:blipFill>
        <p:spPr>
          <a:xfrm>
            <a:off x="605520" y="2066026"/>
            <a:ext cx="1023478" cy="807133"/>
          </a:xfrm>
          <a:prstGeom prst="rect">
            <a:avLst/>
          </a:prstGeom>
          <a:effectLst>
            <a:outerShdw blurRad="50800" dist="38100" dir="2700000" algn="tl" rotWithShape="0">
              <a:prstClr val="black">
                <a:alpha val="40000"/>
              </a:prstClr>
            </a:outerShdw>
          </a:effectLst>
        </p:spPr>
      </p:pic>
      <p:pic>
        <p:nvPicPr>
          <p:cNvPr id="18" name="Picture 17">
            <a:extLst>
              <a:ext uri="{FF2B5EF4-FFF2-40B4-BE49-F238E27FC236}">
                <a16:creationId xmlns:a16="http://schemas.microsoft.com/office/drawing/2014/main" id="{D3B94DF5-E717-8A5E-3460-BD0EC29EB43B}"/>
              </a:ext>
            </a:extLst>
          </p:cNvPr>
          <p:cNvPicPr>
            <a:picLocks noChangeAspect="1"/>
          </p:cNvPicPr>
          <p:nvPr/>
        </p:nvPicPr>
        <p:blipFill>
          <a:blip r:embed="rId11"/>
          <a:stretch>
            <a:fillRect/>
          </a:stretch>
        </p:blipFill>
        <p:spPr>
          <a:xfrm>
            <a:off x="1682890" y="3150310"/>
            <a:ext cx="1052782" cy="807133"/>
          </a:xfrm>
          <a:prstGeom prst="rect">
            <a:avLst/>
          </a:prstGeom>
          <a:effectLst>
            <a:outerShdw blurRad="50800" dist="38100" dir="2700000" algn="tl" rotWithShape="0">
              <a:prstClr val="black">
                <a:alpha val="40000"/>
              </a:prstClr>
            </a:outerShdw>
          </a:effectLst>
        </p:spPr>
      </p:pic>
      <p:pic>
        <p:nvPicPr>
          <p:cNvPr id="20" name="Picture 19">
            <a:extLst>
              <a:ext uri="{FF2B5EF4-FFF2-40B4-BE49-F238E27FC236}">
                <a16:creationId xmlns:a16="http://schemas.microsoft.com/office/drawing/2014/main" id="{968B7C01-17D5-B97E-77F3-7CFAD29B6697}"/>
              </a:ext>
            </a:extLst>
          </p:cNvPr>
          <p:cNvPicPr>
            <a:picLocks noChangeAspect="1"/>
          </p:cNvPicPr>
          <p:nvPr/>
        </p:nvPicPr>
        <p:blipFill>
          <a:blip r:embed="rId12"/>
          <a:stretch>
            <a:fillRect/>
          </a:stretch>
        </p:blipFill>
        <p:spPr>
          <a:xfrm>
            <a:off x="2868260" y="4214729"/>
            <a:ext cx="1076544" cy="838292"/>
          </a:xfrm>
          <a:prstGeom prst="rect">
            <a:avLst/>
          </a:prstGeom>
          <a:effectLst>
            <a:outerShdw blurRad="50800" dist="38100" dir="2700000" algn="tl" rotWithShape="0">
              <a:prstClr val="black">
                <a:alpha val="40000"/>
              </a:prstClr>
            </a:outerShdw>
          </a:effectLst>
        </p:spPr>
      </p:pic>
      <p:grpSp>
        <p:nvGrpSpPr>
          <p:cNvPr id="400" name="Google Shape;400;p38">
            <a:extLst>
              <a:ext uri="{FF2B5EF4-FFF2-40B4-BE49-F238E27FC236}">
                <a16:creationId xmlns:a16="http://schemas.microsoft.com/office/drawing/2014/main" id="{97C2E812-EAA8-D32D-E2C2-1CFFD3D43A3D}"/>
              </a:ext>
            </a:extLst>
          </p:cNvPr>
          <p:cNvGrpSpPr/>
          <p:nvPr/>
        </p:nvGrpSpPr>
        <p:grpSpPr>
          <a:xfrm>
            <a:off x="8836936" y="-125782"/>
            <a:ext cx="1543051" cy="5808473"/>
            <a:chOff x="0" y="-38100"/>
            <a:chExt cx="812800" cy="3059607"/>
          </a:xfrm>
        </p:grpSpPr>
        <p:sp>
          <p:nvSpPr>
            <p:cNvPr id="401" name="Google Shape;401;p38">
              <a:extLst>
                <a:ext uri="{FF2B5EF4-FFF2-40B4-BE49-F238E27FC236}">
                  <a16:creationId xmlns:a16="http://schemas.microsoft.com/office/drawing/2014/main" id="{051FA5FA-4BF8-0347-6F10-A7947F245A7E}"/>
                </a:ext>
              </a:extLst>
            </p:cNvPr>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402" name="Google Shape;402;p38">
              <a:extLst>
                <a:ext uri="{FF2B5EF4-FFF2-40B4-BE49-F238E27FC236}">
                  <a16:creationId xmlns:a16="http://schemas.microsoft.com/office/drawing/2014/main" id="{237678BB-787B-25A3-CC38-6F7499D7AB78}"/>
                </a:ext>
              </a:extLst>
            </p:cNvPr>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403" name="Google Shape;403;p38">
            <a:extLst>
              <a:ext uri="{FF2B5EF4-FFF2-40B4-BE49-F238E27FC236}">
                <a16:creationId xmlns:a16="http://schemas.microsoft.com/office/drawing/2014/main" id="{8F3D54FB-3F8A-E955-CAA9-B8DBFEF65317}"/>
              </a:ext>
            </a:extLst>
          </p:cNvPr>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dirty="0">
                <a:solidFill>
                  <a:schemeClr val="bg1"/>
                </a:solidFill>
                <a:latin typeface="Open Sans"/>
                <a:ea typeface="Open Sans"/>
                <a:cs typeface="Open Sans"/>
                <a:sym typeface="Open Sans"/>
              </a:rPr>
              <a:t>N  E  X  T</a:t>
            </a:r>
            <a:endParaRPr sz="700" dirty="0">
              <a:solidFill>
                <a:schemeClr val="bg1"/>
              </a:solidFill>
            </a:endParaRPr>
          </a:p>
        </p:txBody>
      </p:sp>
      <p:pic>
        <p:nvPicPr>
          <p:cNvPr id="7" name="Picture 6">
            <a:extLst>
              <a:ext uri="{FF2B5EF4-FFF2-40B4-BE49-F238E27FC236}">
                <a16:creationId xmlns:a16="http://schemas.microsoft.com/office/drawing/2014/main" id="{A1325DC0-2844-9C71-D0EA-5683EC10B8C2}"/>
              </a:ext>
            </a:extLst>
          </p:cNvPr>
          <p:cNvPicPr>
            <a:picLocks noChangeAspect="1"/>
          </p:cNvPicPr>
          <p:nvPr/>
        </p:nvPicPr>
        <p:blipFill>
          <a:blip r:embed="rId13"/>
          <a:stretch>
            <a:fillRect/>
          </a:stretch>
        </p:blipFill>
        <p:spPr>
          <a:xfrm>
            <a:off x="3044074" y="2645053"/>
            <a:ext cx="5470163" cy="1689777"/>
          </a:xfrm>
          <a:prstGeom prst="rect">
            <a:avLst/>
          </a:prstGeom>
          <a:effectLst>
            <a:outerShdw blurRad="139700" dist="38100" dir="2700000" sx="104000" sy="104000" algn="tl" rotWithShape="0">
              <a:prstClr val="black">
                <a:alpha val="40000"/>
              </a:prstClr>
            </a:outerShdw>
          </a:effectLst>
        </p:spPr>
      </p:pic>
    </p:spTree>
    <p:extLst>
      <p:ext uri="{BB962C8B-B14F-4D97-AF65-F5344CB8AC3E}">
        <p14:creationId xmlns:p14="http://schemas.microsoft.com/office/powerpoint/2010/main" val="327724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02">
          <a:extLst>
            <a:ext uri="{FF2B5EF4-FFF2-40B4-BE49-F238E27FC236}">
              <a16:creationId xmlns:a16="http://schemas.microsoft.com/office/drawing/2014/main" id="{8A4DBE32-71FD-F620-3C06-98E4B566747C}"/>
            </a:ext>
          </a:extLst>
        </p:cNvPr>
        <p:cNvGrpSpPr/>
        <p:nvPr/>
      </p:nvGrpSpPr>
      <p:grpSpPr>
        <a:xfrm>
          <a:off x="0" y="0"/>
          <a:ext cx="0" cy="0"/>
          <a:chOff x="0" y="0"/>
          <a:chExt cx="0" cy="0"/>
        </a:xfrm>
      </p:grpSpPr>
      <p:cxnSp>
        <p:nvCxnSpPr>
          <p:cNvPr id="204" name="Google Shape;204;p29">
            <a:extLst>
              <a:ext uri="{FF2B5EF4-FFF2-40B4-BE49-F238E27FC236}">
                <a16:creationId xmlns:a16="http://schemas.microsoft.com/office/drawing/2014/main" id="{DCCA9070-E3D3-1399-B197-96213137F72E}"/>
              </a:ext>
            </a:extLst>
          </p:cNvPr>
          <p:cNvCxnSpPr/>
          <p:nvPr/>
        </p:nvCxnSpPr>
        <p:spPr>
          <a:xfrm rot="5400000">
            <a:off x="7330663" y="5270017"/>
            <a:ext cx="2602737" cy="0"/>
          </a:xfrm>
          <a:prstGeom prst="straightConnector1">
            <a:avLst/>
          </a:prstGeom>
          <a:noFill/>
          <a:ln w="9525" cap="flat" cmpd="sng">
            <a:solidFill>
              <a:srgbClr val="FFFFFF"/>
            </a:solidFill>
            <a:prstDash val="solid"/>
            <a:round/>
            <a:headEnd type="none" w="sm" len="sm"/>
            <a:tailEnd type="none" w="sm" len="sm"/>
          </a:ln>
        </p:spPr>
      </p:cxnSp>
      <p:grpSp>
        <p:nvGrpSpPr>
          <p:cNvPr id="205" name="Google Shape;205;p29">
            <a:extLst>
              <a:ext uri="{FF2B5EF4-FFF2-40B4-BE49-F238E27FC236}">
                <a16:creationId xmlns:a16="http://schemas.microsoft.com/office/drawing/2014/main" id="{D7B95909-DB9D-63F4-4DEE-CA4DE9A0A322}"/>
              </a:ext>
            </a:extLst>
          </p:cNvPr>
          <p:cNvGrpSpPr/>
          <p:nvPr/>
        </p:nvGrpSpPr>
        <p:grpSpPr>
          <a:xfrm>
            <a:off x="8837359" y="-72330"/>
            <a:ext cx="1543051" cy="5808473"/>
            <a:chOff x="0" y="-38100"/>
            <a:chExt cx="812800" cy="3059607"/>
          </a:xfrm>
        </p:grpSpPr>
        <p:sp>
          <p:nvSpPr>
            <p:cNvPr id="206" name="Google Shape;206;p29">
              <a:extLst>
                <a:ext uri="{FF2B5EF4-FFF2-40B4-BE49-F238E27FC236}">
                  <a16:creationId xmlns:a16="http://schemas.microsoft.com/office/drawing/2014/main" id="{A7B8770C-E829-D9FF-2C4B-D937AF75569B}"/>
                </a:ext>
              </a:extLst>
            </p:cNvPr>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FFFFFF">
                <a:alpha val="13333"/>
              </a:srgbClr>
            </a:solidFill>
            <a:ln>
              <a:noFill/>
            </a:ln>
          </p:spPr>
          <p:txBody>
            <a:bodyPr/>
            <a:lstStyle/>
            <a:p>
              <a:endParaRPr lang="en-US">
                <a:effectLst>
                  <a:glow rad="228600">
                    <a:schemeClr val="accent3">
                      <a:satMod val="175000"/>
                      <a:alpha val="40000"/>
                    </a:schemeClr>
                  </a:glow>
                </a:effectLst>
              </a:endParaRPr>
            </a:p>
          </p:txBody>
        </p:sp>
        <p:sp>
          <p:nvSpPr>
            <p:cNvPr id="207" name="Google Shape;207;p29">
              <a:extLst>
                <a:ext uri="{FF2B5EF4-FFF2-40B4-BE49-F238E27FC236}">
                  <a16:creationId xmlns:a16="http://schemas.microsoft.com/office/drawing/2014/main" id="{DF065661-EDCF-F9E4-ED84-E3E5BA4C08D0}"/>
                </a:ext>
              </a:extLst>
            </p:cNvPr>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effectLst>
                  <a:glow rad="228600">
                    <a:schemeClr val="accent3">
                      <a:satMod val="175000"/>
                      <a:alpha val="40000"/>
                    </a:schemeClr>
                  </a:glow>
                </a:effectLst>
                <a:latin typeface="Calibri"/>
                <a:ea typeface="Calibri"/>
                <a:cs typeface="Calibri"/>
                <a:sym typeface="Calibri"/>
              </a:endParaRPr>
            </a:p>
          </p:txBody>
        </p:sp>
      </p:grpSp>
      <p:pic>
        <p:nvPicPr>
          <p:cNvPr id="208" name="Google Shape;208;p29">
            <a:extLst>
              <a:ext uri="{FF2B5EF4-FFF2-40B4-BE49-F238E27FC236}">
                <a16:creationId xmlns:a16="http://schemas.microsoft.com/office/drawing/2014/main" id="{49F8DB16-439F-8B93-D454-5A01528070C2}"/>
              </a:ext>
            </a:extLst>
          </p:cNvPr>
          <p:cNvPicPr preferRelativeResize="0"/>
          <p:nvPr/>
        </p:nvPicPr>
        <p:blipFill rotWithShape="1">
          <a:blip r:embed="rId3">
            <a:alphaModFix/>
            <a:duotone>
              <a:prstClr val="black"/>
              <a:schemeClr val="accent4">
                <a:tint val="45000"/>
                <a:satMod val="400000"/>
              </a:schemeClr>
            </a:duotone>
          </a:blip>
          <a:srcRect t="5050" b="5051"/>
          <a:stretch/>
        </p:blipFill>
        <p:spPr>
          <a:xfrm>
            <a:off x="0" y="-251460"/>
            <a:ext cx="4516393" cy="6093898"/>
          </a:xfrm>
          <a:prstGeom prst="rect">
            <a:avLst/>
          </a:prstGeom>
          <a:noFill/>
          <a:ln>
            <a:noFill/>
          </a:ln>
        </p:spPr>
      </p:pic>
      <p:sp>
        <p:nvSpPr>
          <p:cNvPr id="209" name="Google Shape;209;p29">
            <a:extLst>
              <a:ext uri="{FF2B5EF4-FFF2-40B4-BE49-F238E27FC236}">
                <a16:creationId xmlns:a16="http://schemas.microsoft.com/office/drawing/2014/main" id="{B2CA45DF-5B82-EA5B-3C92-50A2FED52ECB}"/>
              </a:ext>
            </a:extLst>
          </p:cNvPr>
          <p:cNvSpPr txBox="1"/>
          <p:nvPr/>
        </p:nvSpPr>
        <p:spPr>
          <a:xfrm>
            <a:off x="290103" y="271899"/>
            <a:ext cx="3684900" cy="166199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Regression </a:t>
            </a:r>
          </a:p>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in Data </a:t>
            </a:r>
          </a:p>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Science</a:t>
            </a:r>
            <a:endParaRPr sz="700" b="1" dirty="0">
              <a:latin typeface="Open Sans"/>
              <a:ea typeface="Open Sans"/>
              <a:cs typeface="Open Sans"/>
              <a:sym typeface="Open Sans"/>
            </a:endParaRPr>
          </a:p>
        </p:txBody>
      </p:sp>
      <p:sp>
        <p:nvSpPr>
          <p:cNvPr id="218" name="Google Shape;218;p29">
            <a:extLst>
              <a:ext uri="{FF2B5EF4-FFF2-40B4-BE49-F238E27FC236}">
                <a16:creationId xmlns:a16="http://schemas.microsoft.com/office/drawing/2014/main" id="{32B34572-4B39-9A11-2101-5B4A2242F1A4}"/>
              </a:ext>
            </a:extLst>
          </p:cNvPr>
          <p:cNvSpPr txBox="1"/>
          <p:nvPr/>
        </p:nvSpPr>
        <p:spPr>
          <a:xfrm rot="5400000">
            <a:off x="8633564" y="2517954"/>
            <a:ext cx="766200" cy="1077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dirty="0">
                <a:solidFill>
                  <a:srgbClr val="FFFFFF"/>
                </a:solidFill>
                <a:latin typeface="Open Sans"/>
                <a:ea typeface="Open Sans"/>
                <a:cs typeface="Open Sans"/>
                <a:sym typeface="Open Sans"/>
              </a:rPr>
              <a:t>N  E  X  T</a:t>
            </a:r>
            <a:endParaRPr sz="700" dirty="0"/>
          </a:p>
        </p:txBody>
      </p:sp>
      <p:sp>
        <p:nvSpPr>
          <p:cNvPr id="7" name="Google Shape;259;p32">
            <a:extLst>
              <a:ext uri="{FF2B5EF4-FFF2-40B4-BE49-F238E27FC236}">
                <a16:creationId xmlns:a16="http://schemas.microsoft.com/office/drawing/2014/main" id="{B546AE57-BD5C-3C30-B472-7CBCD2E1B9EE}"/>
              </a:ext>
            </a:extLst>
          </p:cNvPr>
          <p:cNvSpPr txBox="1"/>
          <p:nvPr/>
        </p:nvSpPr>
        <p:spPr>
          <a:xfrm>
            <a:off x="2662342" y="725404"/>
            <a:ext cx="2897473" cy="2154436"/>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 sz="1600" b="1" i="0" u="none" strike="noStrike" cap="none" dirty="0">
                <a:solidFill>
                  <a:schemeClr val="bg1"/>
                </a:solidFill>
                <a:effectLst>
                  <a:glow rad="228600">
                    <a:schemeClr val="accent3">
                      <a:satMod val="175000"/>
                      <a:alpha val="40000"/>
                    </a:schemeClr>
                  </a:glow>
                </a:effectLst>
                <a:latin typeface="Open Sans"/>
                <a:ea typeface="Open Sans"/>
                <a:cs typeface="Open Sans"/>
                <a:sym typeface="Open Sans"/>
              </a:rPr>
              <a:t>Simple Linear Regression</a:t>
            </a:r>
          </a:p>
          <a:p>
            <a:pPr marL="0" marR="0" lvl="0" indent="0" algn="r" rtl="0">
              <a:lnSpc>
                <a:spcPct val="140000"/>
              </a:lnSpc>
              <a:spcBef>
                <a:spcPts val="0"/>
              </a:spcBef>
              <a:spcAft>
                <a:spcPts val="0"/>
              </a:spcAft>
              <a:buNone/>
            </a:pPr>
            <a:r>
              <a:rPr lang="en" sz="1200" dirty="0">
                <a:solidFill>
                  <a:schemeClr val="bg1"/>
                </a:solidFill>
                <a:latin typeface="Open Sans"/>
                <a:ea typeface="Open Sans"/>
                <a:cs typeface="Open Sans"/>
                <a:sym typeface="Open Sans"/>
              </a:rPr>
              <a:t>Multiple Linear</a:t>
            </a:r>
          </a:p>
          <a:p>
            <a:pPr marL="0" marR="0" lvl="0" indent="0" algn="r" rtl="0">
              <a:lnSpc>
                <a:spcPct val="140000"/>
              </a:lnSpc>
              <a:spcBef>
                <a:spcPts val="0"/>
              </a:spcBef>
              <a:spcAft>
                <a:spcPts val="0"/>
              </a:spcAft>
              <a:buNone/>
            </a:pPr>
            <a:r>
              <a:rPr lang="en" sz="1200" b="0" i="0" u="none" strike="noStrike" cap="none" dirty="0">
                <a:solidFill>
                  <a:schemeClr val="bg1"/>
                </a:solidFill>
                <a:latin typeface="Open Sans"/>
                <a:ea typeface="Open Sans"/>
                <a:cs typeface="Open Sans"/>
                <a:sym typeface="Open Sans"/>
              </a:rPr>
              <a:t>Polynomial </a:t>
            </a:r>
          </a:p>
          <a:p>
            <a:pPr marL="0" marR="0" lvl="0" indent="0" algn="r" rtl="0">
              <a:lnSpc>
                <a:spcPct val="140000"/>
              </a:lnSpc>
              <a:spcBef>
                <a:spcPts val="0"/>
              </a:spcBef>
              <a:spcAft>
                <a:spcPts val="0"/>
              </a:spcAft>
              <a:buNone/>
            </a:pPr>
            <a:r>
              <a:rPr lang="en" sz="1200" dirty="0">
                <a:solidFill>
                  <a:schemeClr val="bg1"/>
                </a:solidFill>
                <a:latin typeface="Open Sans"/>
                <a:ea typeface="Open Sans"/>
                <a:cs typeface="Open Sans"/>
                <a:sym typeface="Open Sans"/>
              </a:rPr>
              <a:t>Ridge </a:t>
            </a:r>
          </a:p>
          <a:p>
            <a:pPr marL="0" marR="0" lvl="0" indent="0" algn="r" rtl="0">
              <a:lnSpc>
                <a:spcPct val="140000"/>
              </a:lnSpc>
              <a:spcBef>
                <a:spcPts val="0"/>
              </a:spcBef>
              <a:spcAft>
                <a:spcPts val="0"/>
              </a:spcAft>
              <a:buNone/>
            </a:pPr>
            <a:r>
              <a:rPr lang="en" sz="1200" dirty="0">
                <a:solidFill>
                  <a:schemeClr val="bg1"/>
                </a:solidFill>
                <a:latin typeface="Open Sans"/>
                <a:ea typeface="Open Sans"/>
                <a:cs typeface="Open Sans"/>
                <a:sym typeface="Open Sans"/>
              </a:rPr>
              <a:t>Lasso</a:t>
            </a:r>
          </a:p>
          <a:p>
            <a:pPr marL="0" marR="0" lvl="0" indent="0" algn="r" rtl="0">
              <a:lnSpc>
                <a:spcPct val="140000"/>
              </a:lnSpc>
              <a:spcBef>
                <a:spcPts val="0"/>
              </a:spcBef>
              <a:spcAft>
                <a:spcPts val="0"/>
              </a:spcAft>
              <a:buNone/>
            </a:pPr>
            <a:r>
              <a:rPr lang="en" sz="1200" dirty="0">
                <a:solidFill>
                  <a:schemeClr val="bg1"/>
                </a:solidFill>
                <a:latin typeface="Open Sans"/>
                <a:ea typeface="Open Sans"/>
                <a:cs typeface="Open Sans"/>
                <a:sym typeface="Open Sans"/>
              </a:rPr>
              <a:t>Elastic</a:t>
            </a:r>
          </a:p>
          <a:p>
            <a:pPr marL="0" marR="0" lvl="0" indent="0" algn="r" rtl="0">
              <a:lnSpc>
                <a:spcPct val="140000"/>
              </a:lnSpc>
              <a:spcBef>
                <a:spcPts val="0"/>
              </a:spcBef>
              <a:spcAft>
                <a:spcPts val="0"/>
              </a:spcAft>
              <a:buNone/>
            </a:pPr>
            <a:r>
              <a:rPr lang="en" sz="1200" dirty="0">
                <a:solidFill>
                  <a:schemeClr val="bg1"/>
                </a:solidFill>
                <a:latin typeface="Open Sans"/>
                <a:ea typeface="Open Sans"/>
                <a:cs typeface="Open Sans"/>
                <a:sym typeface="Open Sans"/>
              </a:rPr>
              <a:t>Ordinal</a:t>
            </a:r>
          </a:p>
          <a:p>
            <a:pPr marL="0" marR="0" lvl="0" indent="0" algn="r" rtl="0">
              <a:lnSpc>
                <a:spcPct val="140000"/>
              </a:lnSpc>
              <a:spcBef>
                <a:spcPts val="0"/>
              </a:spcBef>
              <a:spcAft>
                <a:spcPts val="0"/>
              </a:spcAft>
              <a:buNone/>
            </a:pPr>
            <a:r>
              <a:rPr lang="en" sz="1200" dirty="0">
                <a:solidFill>
                  <a:schemeClr val="bg1"/>
                </a:solidFill>
                <a:latin typeface="Open Sans"/>
                <a:ea typeface="Open Sans"/>
                <a:cs typeface="Open Sans"/>
                <a:sym typeface="Open Sans"/>
              </a:rPr>
              <a:t>Logistical</a:t>
            </a:r>
            <a:endParaRPr sz="1200" dirty="0">
              <a:solidFill>
                <a:schemeClr val="bg1"/>
              </a:solidFill>
            </a:endParaRPr>
          </a:p>
        </p:txBody>
      </p:sp>
      <p:pic>
        <p:nvPicPr>
          <p:cNvPr id="15" name="Picture 2">
            <a:extLst>
              <a:ext uri="{FF2B5EF4-FFF2-40B4-BE49-F238E27FC236}">
                <a16:creationId xmlns:a16="http://schemas.microsoft.com/office/drawing/2014/main" id="{D3E8A133-868F-DD88-02ED-A125C7ABC7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2479" y="826800"/>
            <a:ext cx="2897473" cy="217310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BD778AE1-B2A2-E72F-D29F-E69F7A913F33}"/>
              </a:ext>
            </a:extLst>
          </p:cNvPr>
          <p:cNvSpPr txBox="1"/>
          <p:nvPr/>
        </p:nvSpPr>
        <p:spPr>
          <a:xfrm>
            <a:off x="5560511" y="406921"/>
            <a:ext cx="2735457" cy="363754"/>
          </a:xfrm>
          <a:prstGeom prst="rect">
            <a:avLst/>
          </a:prstGeom>
          <a:noFill/>
        </p:spPr>
        <p:txBody>
          <a:bodyPr wrap="square">
            <a:spAutoFit/>
          </a:bodyPr>
          <a:lstStyle/>
          <a:p>
            <a:pPr marL="0" marR="0" lvl="0" indent="0" algn="l" rtl="0">
              <a:lnSpc>
                <a:spcPct val="140000"/>
              </a:lnSpc>
              <a:spcBef>
                <a:spcPts val="0"/>
              </a:spcBef>
              <a:spcAft>
                <a:spcPts val="0"/>
              </a:spcAft>
              <a:buNone/>
            </a:pPr>
            <a:r>
              <a:rPr lang="en-US" sz="1400" dirty="0">
                <a:solidFill>
                  <a:schemeClr val="bg1"/>
                </a:solidFill>
                <a:latin typeface="Open Sans"/>
                <a:ea typeface="Open Sans"/>
                <a:cs typeface="Open Sans"/>
                <a:sym typeface="Open Sans"/>
              </a:rPr>
              <a:t>LINEAR REGRESSION MODELS </a:t>
            </a:r>
            <a:endParaRPr lang="en-US" sz="800" dirty="0">
              <a:solidFill>
                <a:schemeClr val="bg1"/>
              </a:solidFill>
            </a:endParaRPr>
          </a:p>
        </p:txBody>
      </p:sp>
      <p:cxnSp>
        <p:nvCxnSpPr>
          <p:cNvPr id="203" name="Google Shape;203;p29">
            <a:extLst>
              <a:ext uri="{FF2B5EF4-FFF2-40B4-BE49-F238E27FC236}">
                <a16:creationId xmlns:a16="http://schemas.microsoft.com/office/drawing/2014/main" id="{C6F005D3-FE4D-CD71-37B4-BABB272A55BB}"/>
              </a:ext>
            </a:extLst>
          </p:cNvPr>
          <p:cNvCxnSpPr/>
          <p:nvPr/>
        </p:nvCxnSpPr>
        <p:spPr>
          <a:xfrm rot="5399999">
            <a:off x="-1354994" y="485928"/>
            <a:ext cx="3084866" cy="0"/>
          </a:xfrm>
          <a:prstGeom prst="straightConnector1">
            <a:avLst/>
          </a:prstGeom>
          <a:noFill/>
          <a:ln w="9525" cap="flat" cmpd="sng">
            <a:solidFill>
              <a:srgbClr val="FFFFFF"/>
            </a:solidFill>
            <a:prstDash val="solid"/>
            <a:round/>
            <a:headEnd type="none" w="sm" len="sm"/>
            <a:tailEnd type="none" w="sm" len="sm"/>
          </a:ln>
        </p:spPr>
      </p:cxnSp>
      <p:sp>
        <p:nvSpPr>
          <p:cNvPr id="23" name="Google Shape;259;p32">
            <a:extLst>
              <a:ext uri="{FF2B5EF4-FFF2-40B4-BE49-F238E27FC236}">
                <a16:creationId xmlns:a16="http://schemas.microsoft.com/office/drawing/2014/main" id="{AAAA84F9-4B5D-48F4-A080-56F7898BD6BB}"/>
              </a:ext>
            </a:extLst>
          </p:cNvPr>
          <p:cNvSpPr txBox="1"/>
          <p:nvPr/>
        </p:nvSpPr>
        <p:spPr>
          <a:xfrm>
            <a:off x="3309024" y="2707427"/>
            <a:ext cx="2897473" cy="2068259"/>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en" sz="1200" dirty="0">
                <a:solidFill>
                  <a:schemeClr val="bg1"/>
                </a:solidFill>
                <a:latin typeface="Open Sans"/>
                <a:ea typeface="Open Sans"/>
                <a:cs typeface="Open Sans"/>
                <a:sym typeface="Open Sans"/>
              </a:rPr>
              <a:t>Decision Tree</a:t>
            </a:r>
          </a:p>
          <a:p>
            <a:pPr marL="0" marR="0" lvl="0" indent="0" rtl="0">
              <a:lnSpc>
                <a:spcPct val="140000"/>
              </a:lnSpc>
              <a:spcBef>
                <a:spcPts val="0"/>
              </a:spcBef>
              <a:spcAft>
                <a:spcPts val="0"/>
              </a:spcAft>
              <a:buNone/>
            </a:pPr>
            <a:r>
              <a:rPr lang="en" sz="1200" dirty="0">
                <a:solidFill>
                  <a:schemeClr val="bg1"/>
                </a:solidFill>
                <a:latin typeface="Open Sans"/>
                <a:ea typeface="Open Sans"/>
                <a:cs typeface="Open Sans"/>
                <a:sym typeface="Open Sans"/>
              </a:rPr>
              <a:t>Gradient Boosting</a:t>
            </a:r>
          </a:p>
          <a:p>
            <a:pPr marL="0" marR="0" lvl="0" indent="0" rtl="0">
              <a:lnSpc>
                <a:spcPct val="140000"/>
              </a:lnSpc>
              <a:spcBef>
                <a:spcPts val="0"/>
              </a:spcBef>
              <a:spcAft>
                <a:spcPts val="0"/>
              </a:spcAft>
              <a:buNone/>
            </a:pPr>
            <a:r>
              <a:rPr lang="en" sz="1200" dirty="0">
                <a:solidFill>
                  <a:schemeClr val="bg1"/>
                </a:solidFill>
                <a:latin typeface="Open Sans"/>
                <a:ea typeface="Open Sans"/>
                <a:cs typeface="Open Sans"/>
                <a:sym typeface="Open Sans"/>
              </a:rPr>
              <a:t>Random Forrest</a:t>
            </a:r>
          </a:p>
          <a:p>
            <a:pPr marL="0" marR="0" lvl="0" indent="0" rtl="0">
              <a:lnSpc>
                <a:spcPct val="140000"/>
              </a:lnSpc>
              <a:spcBef>
                <a:spcPts val="0"/>
              </a:spcBef>
              <a:spcAft>
                <a:spcPts val="0"/>
              </a:spcAft>
              <a:buNone/>
            </a:pPr>
            <a:r>
              <a:rPr lang="en" sz="1200" dirty="0">
                <a:solidFill>
                  <a:schemeClr val="bg1"/>
                </a:solidFill>
                <a:latin typeface="Open Sans"/>
                <a:ea typeface="Open Sans"/>
                <a:cs typeface="Open Sans"/>
                <a:sym typeface="Open Sans"/>
              </a:rPr>
              <a:t>Support Vector</a:t>
            </a:r>
          </a:p>
          <a:p>
            <a:pPr marL="0" marR="0" lvl="0" indent="0" rtl="0">
              <a:lnSpc>
                <a:spcPct val="140000"/>
              </a:lnSpc>
              <a:spcBef>
                <a:spcPts val="0"/>
              </a:spcBef>
              <a:spcAft>
                <a:spcPts val="0"/>
              </a:spcAft>
              <a:buNone/>
            </a:pPr>
            <a:r>
              <a:rPr lang="en" sz="1200" dirty="0">
                <a:solidFill>
                  <a:schemeClr val="bg1"/>
                </a:solidFill>
                <a:latin typeface="Open Sans"/>
                <a:ea typeface="Open Sans"/>
                <a:cs typeface="Open Sans"/>
                <a:sym typeface="Open Sans"/>
              </a:rPr>
              <a:t>Neural Network</a:t>
            </a:r>
          </a:p>
          <a:p>
            <a:pPr marL="0" marR="0" lvl="0" indent="0" rtl="0">
              <a:lnSpc>
                <a:spcPct val="140000"/>
              </a:lnSpc>
              <a:spcBef>
                <a:spcPts val="0"/>
              </a:spcBef>
              <a:spcAft>
                <a:spcPts val="0"/>
              </a:spcAft>
              <a:buNone/>
            </a:pPr>
            <a:r>
              <a:rPr lang="en" sz="1200" dirty="0">
                <a:solidFill>
                  <a:schemeClr val="bg1"/>
                </a:solidFill>
                <a:latin typeface="Open Sans"/>
                <a:ea typeface="Open Sans"/>
                <a:cs typeface="Open Sans"/>
                <a:sym typeface="Open Sans"/>
              </a:rPr>
              <a:t>K-Nearest Neighbor</a:t>
            </a:r>
          </a:p>
          <a:p>
            <a:pPr marL="0" marR="0" lvl="0" indent="0" rtl="0">
              <a:lnSpc>
                <a:spcPct val="140000"/>
              </a:lnSpc>
              <a:spcBef>
                <a:spcPts val="0"/>
              </a:spcBef>
              <a:spcAft>
                <a:spcPts val="0"/>
              </a:spcAft>
              <a:buNone/>
            </a:pPr>
            <a:r>
              <a:rPr lang="en" sz="1200" dirty="0">
                <a:solidFill>
                  <a:schemeClr val="bg1"/>
                </a:solidFill>
                <a:latin typeface="Open Sans"/>
                <a:ea typeface="Open Sans"/>
                <a:cs typeface="Open Sans"/>
                <a:sym typeface="Open Sans"/>
              </a:rPr>
              <a:t>Gaussian Process</a:t>
            </a:r>
          </a:p>
          <a:p>
            <a:pPr marL="0" marR="0" lvl="0" indent="0" rtl="0">
              <a:lnSpc>
                <a:spcPct val="140000"/>
              </a:lnSpc>
              <a:spcBef>
                <a:spcPts val="0"/>
              </a:spcBef>
              <a:spcAft>
                <a:spcPts val="0"/>
              </a:spcAft>
              <a:buNone/>
            </a:pPr>
            <a:r>
              <a:rPr lang="en" sz="1200" dirty="0">
                <a:solidFill>
                  <a:schemeClr val="bg1"/>
                </a:solidFill>
                <a:latin typeface="Open Sans"/>
                <a:ea typeface="Open Sans"/>
                <a:cs typeface="Open Sans"/>
                <a:sym typeface="Open Sans"/>
              </a:rPr>
              <a:t>Kernel Ridge</a:t>
            </a:r>
            <a:endParaRPr sz="1200" dirty="0">
              <a:solidFill>
                <a:schemeClr val="bg1"/>
              </a:solidFill>
            </a:endParaRPr>
          </a:p>
        </p:txBody>
      </p:sp>
      <p:sp>
        <p:nvSpPr>
          <p:cNvPr id="25" name="TextBox 24">
            <a:extLst>
              <a:ext uri="{FF2B5EF4-FFF2-40B4-BE49-F238E27FC236}">
                <a16:creationId xmlns:a16="http://schemas.microsoft.com/office/drawing/2014/main" id="{F5F42963-FFF2-1550-1D1C-EBA1ADEF0CD4}"/>
              </a:ext>
            </a:extLst>
          </p:cNvPr>
          <p:cNvSpPr txBox="1"/>
          <p:nvPr/>
        </p:nvSpPr>
        <p:spPr>
          <a:xfrm>
            <a:off x="233157" y="2346761"/>
            <a:ext cx="3595893" cy="363754"/>
          </a:xfrm>
          <a:prstGeom prst="rect">
            <a:avLst/>
          </a:prstGeom>
          <a:noFill/>
        </p:spPr>
        <p:txBody>
          <a:bodyPr wrap="square">
            <a:spAutoFit/>
          </a:bodyPr>
          <a:lstStyle/>
          <a:p>
            <a:pPr marL="0" marR="0" lvl="0" indent="0" algn="l" rtl="0">
              <a:lnSpc>
                <a:spcPct val="140000"/>
              </a:lnSpc>
              <a:spcBef>
                <a:spcPts val="0"/>
              </a:spcBef>
              <a:spcAft>
                <a:spcPts val="0"/>
              </a:spcAft>
              <a:buNone/>
            </a:pPr>
            <a:r>
              <a:rPr lang="en-US" sz="1400" dirty="0">
                <a:solidFill>
                  <a:schemeClr val="bg1"/>
                </a:solidFill>
                <a:latin typeface="Open Sans"/>
                <a:ea typeface="Open Sans"/>
                <a:cs typeface="Open Sans"/>
                <a:sym typeface="Open Sans"/>
              </a:rPr>
              <a:t>NON LINEAR REGRESSION MODELS</a:t>
            </a:r>
            <a:endParaRPr lang="en-US" sz="800" dirty="0">
              <a:solidFill>
                <a:schemeClr val="bg1"/>
              </a:solidFill>
            </a:endParaRPr>
          </a:p>
        </p:txBody>
      </p:sp>
      <p:pic>
        <p:nvPicPr>
          <p:cNvPr id="31" name="Picture 30">
            <a:extLst>
              <a:ext uri="{FF2B5EF4-FFF2-40B4-BE49-F238E27FC236}">
                <a16:creationId xmlns:a16="http://schemas.microsoft.com/office/drawing/2014/main" id="{6EDD2329-9C7A-56E9-7891-8F102461B0E7}"/>
              </a:ext>
            </a:extLst>
          </p:cNvPr>
          <p:cNvPicPr>
            <a:picLocks noChangeAspect="1"/>
          </p:cNvPicPr>
          <p:nvPr/>
        </p:nvPicPr>
        <p:blipFill>
          <a:blip r:embed="rId5"/>
          <a:stretch>
            <a:fillRect/>
          </a:stretch>
        </p:blipFill>
        <p:spPr>
          <a:xfrm>
            <a:off x="308887" y="2750545"/>
            <a:ext cx="2897473" cy="2154437"/>
          </a:xfrm>
          <a:prstGeom prst="rect">
            <a:avLst/>
          </a:prstGeom>
        </p:spPr>
      </p:pic>
      <p:sp>
        <p:nvSpPr>
          <p:cNvPr id="2" name="TextBox 1">
            <a:extLst>
              <a:ext uri="{FF2B5EF4-FFF2-40B4-BE49-F238E27FC236}">
                <a16:creationId xmlns:a16="http://schemas.microsoft.com/office/drawing/2014/main" id="{7716AF6C-A7FE-AA39-14DC-3770F5647A24}"/>
              </a:ext>
            </a:extLst>
          </p:cNvPr>
          <p:cNvSpPr txBox="1"/>
          <p:nvPr/>
        </p:nvSpPr>
        <p:spPr>
          <a:xfrm>
            <a:off x="4862295" y="4926512"/>
            <a:ext cx="7539471" cy="215444"/>
          </a:xfrm>
          <a:prstGeom prst="rect">
            <a:avLst/>
          </a:prstGeom>
          <a:noFill/>
        </p:spPr>
        <p:txBody>
          <a:bodyPr wrap="square">
            <a:spAutoFit/>
          </a:bodyPr>
          <a:lstStyle/>
          <a:p>
            <a:r>
              <a:rPr lang="en-US" sz="800" b="1" dirty="0">
                <a:solidFill>
                  <a:schemeClr val="bg1"/>
                </a:solidFill>
              </a:rPr>
              <a:t>(Classification and graphics generated using </a:t>
            </a:r>
            <a:r>
              <a:rPr lang="en-US" sz="800" b="1" dirty="0" err="1">
                <a:solidFill>
                  <a:schemeClr val="bg1"/>
                </a:solidFill>
              </a:rPr>
              <a:t>GhatGPT</a:t>
            </a:r>
            <a:r>
              <a:rPr lang="en-US" sz="800" b="1" dirty="0">
                <a:solidFill>
                  <a:schemeClr val="bg1"/>
                </a:solidFill>
              </a:rPr>
              <a:t> OMNI on 05/2025) </a:t>
            </a:r>
            <a:endParaRPr lang="en-US" sz="800" dirty="0">
              <a:solidFill>
                <a:schemeClr val="bg1"/>
              </a:solidFill>
            </a:endParaRPr>
          </a:p>
        </p:txBody>
      </p:sp>
    </p:spTree>
    <p:extLst>
      <p:ext uri="{BB962C8B-B14F-4D97-AF65-F5344CB8AC3E}">
        <p14:creationId xmlns:p14="http://schemas.microsoft.com/office/powerpoint/2010/main" val="2487191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3">
          <a:extLst>
            <a:ext uri="{FF2B5EF4-FFF2-40B4-BE49-F238E27FC236}">
              <a16:creationId xmlns:a16="http://schemas.microsoft.com/office/drawing/2014/main" id="{08993737-6990-F230-2A3B-7659FB21B24C}"/>
            </a:ext>
          </a:extLst>
        </p:cNvPr>
        <p:cNvGrpSpPr/>
        <p:nvPr/>
      </p:nvGrpSpPr>
      <p:grpSpPr>
        <a:xfrm>
          <a:off x="0" y="0"/>
          <a:ext cx="0" cy="0"/>
          <a:chOff x="0" y="0"/>
          <a:chExt cx="0" cy="0"/>
        </a:xfrm>
      </p:grpSpPr>
      <p:sp>
        <p:nvSpPr>
          <p:cNvPr id="385" name="Google Shape;385;p38">
            <a:extLst>
              <a:ext uri="{FF2B5EF4-FFF2-40B4-BE49-F238E27FC236}">
                <a16:creationId xmlns:a16="http://schemas.microsoft.com/office/drawing/2014/main" id="{354D0DE2-F211-C9DA-EFE0-ADE14B16BBB5}"/>
              </a:ext>
            </a:extLst>
          </p:cNvPr>
          <p:cNvSpPr txBox="1"/>
          <p:nvPr/>
        </p:nvSpPr>
        <p:spPr>
          <a:xfrm>
            <a:off x="937149" y="575216"/>
            <a:ext cx="2354700" cy="461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My Skills</a:t>
            </a:r>
            <a:endParaRPr sz="700" b="1" dirty="0">
              <a:latin typeface="Open Sans"/>
              <a:ea typeface="Open Sans"/>
              <a:cs typeface="Open Sans"/>
              <a:sym typeface="Open Sans"/>
            </a:endParaRPr>
          </a:p>
        </p:txBody>
      </p:sp>
      <p:grpSp>
        <p:nvGrpSpPr>
          <p:cNvPr id="400" name="Google Shape;400;p38">
            <a:extLst>
              <a:ext uri="{FF2B5EF4-FFF2-40B4-BE49-F238E27FC236}">
                <a16:creationId xmlns:a16="http://schemas.microsoft.com/office/drawing/2014/main" id="{90BC6325-203B-7D2E-8266-ADDE94589192}"/>
              </a:ext>
            </a:extLst>
          </p:cNvPr>
          <p:cNvGrpSpPr/>
          <p:nvPr/>
        </p:nvGrpSpPr>
        <p:grpSpPr>
          <a:xfrm>
            <a:off x="8837359" y="-72330"/>
            <a:ext cx="1543051" cy="5808473"/>
            <a:chOff x="0" y="-38100"/>
            <a:chExt cx="812800" cy="3059607"/>
          </a:xfrm>
        </p:grpSpPr>
        <p:sp>
          <p:nvSpPr>
            <p:cNvPr id="401" name="Google Shape;401;p38">
              <a:extLst>
                <a:ext uri="{FF2B5EF4-FFF2-40B4-BE49-F238E27FC236}">
                  <a16:creationId xmlns:a16="http://schemas.microsoft.com/office/drawing/2014/main" id="{315FDC34-9AD0-CC96-B9ED-7B0BE4DA6156}"/>
                </a:ext>
              </a:extLst>
            </p:cNvPr>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402" name="Google Shape;402;p38">
              <a:extLst>
                <a:ext uri="{FF2B5EF4-FFF2-40B4-BE49-F238E27FC236}">
                  <a16:creationId xmlns:a16="http://schemas.microsoft.com/office/drawing/2014/main" id="{ABE90368-37A3-5010-01F0-DFE1AAD1C75A}"/>
                </a:ext>
              </a:extLst>
            </p:cNvPr>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403" name="Google Shape;403;p38">
            <a:extLst>
              <a:ext uri="{FF2B5EF4-FFF2-40B4-BE49-F238E27FC236}">
                <a16:creationId xmlns:a16="http://schemas.microsoft.com/office/drawing/2014/main" id="{B101A898-834E-34DA-897F-A0485AFA1077}"/>
              </a:ext>
            </a:extLst>
          </p:cNvPr>
          <p:cNvSpPr txBox="1"/>
          <p:nvPr/>
        </p:nvSpPr>
        <p:spPr>
          <a:xfrm rot="5400000">
            <a:off x="8633564" y="2517954"/>
            <a:ext cx="766200" cy="1077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000000"/>
                </a:solidFill>
                <a:latin typeface="Open Sans"/>
                <a:ea typeface="Open Sans"/>
                <a:cs typeface="Open Sans"/>
                <a:sym typeface="Open Sans"/>
              </a:rPr>
              <a:t>N  E  X  T</a:t>
            </a:r>
            <a:endParaRPr sz="700"/>
          </a:p>
        </p:txBody>
      </p:sp>
      <p:pic>
        <p:nvPicPr>
          <p:cNvPr id="3" name="Picture 2" descr="Abstract background of simple node and mesh">
            <a:extLst>
              <a:ext uri="{FF2B5EF4-FFF2-40B4-BE49-F238E27FC236}">
                <a16:creationId xmlns:a16="http://schemas.microsoft.com/office/drawing/2014/main" id="{CEC0CA32-7530-F34F-D4CF-2A3796FA8974}"/>
              </a:ext>
            </a:extLst>
          </p:cNvPr>
          <p:cNvPicPr>
            <a:picLocks noChangeAspect="1"/>
          </p:cNvPicPr>
          <p:nvPr/>
        </p:nvPicPr>
        <p:blipFill>
          <a:blip r:embed="rId3">
            <a:duotone>
              <a:prstClr val="black"/>
              <a:schemeClr val="accent4">
                <a:tint val="45000"/>
                <a:satMod val="400000"/>
              </a:schemeClr>
            </a:duotone>
          </a:blip>
          <a:stretch>
            <a:fillRect/>
          </a:stretch>
        </p:blipFill>
        <p:spPr>
          <a:xfrm rot="16200000">
            <a:off x="-1638537" y="1641865"/>
            <a:ext cx="5143500" cy="1859766"/>
          </a:xfrm>
          <a:prstGeom prst="rect">
            <a:avLst/>
          </a:prstGeom>
        </p:spPr>
      </p:pic>
      <p:cxnSp>
        <p:nvCxnSpPr>
          <p:cNvPr id="398" name="Google Shape;398;p38">
            <a:extLst>
              <a:ext uri="{FF2B5EF4-FFF2-40B4-BE49-F238E27FC236}">
                <a16:creationId xmlns:a16="http://schemas.microsoft.com/office/drawing/2014/main" id="{5D461ABC-A815-44C1-53F2-7F972AB98855}"/>
              </a:ext>
            </a:extLst>
          </p:cNvPr>
          <p:cNvCxnSpPr/>
          <p:nvPr/>
        </p:nvCxnSpPr>
        <p:spPr>
          <a:xfrm rot="5400000">
            <a:off x="-1569269" y="1036916"/>
            <a:ext cx="3626382" cy="0"/>
          </a:xfrm>
          <a:prstGeom prst="straightConnector1">
            <a:avLst/>
          </a:prstGeom>
          <a:noFill/>
          <a:ln w="9525" cap="flat" cmpd="sng">
            <a:solidFill>
              <a:schemeClr val="bg1"/>
            </a:solidFill>
            <a:prstDash val="solid"/>
            <a:round/>
            <a:headEnd type="none" w="sm" len="sm"/>
            <a:tailEnd type="none" w="sm" len="sm"/>
          </a:ln>
        </p:spPr>
      </p:cxnSp>
      <p:sp>
        <p:nvSpPr>
          <p:cNvPr id="6" name="AutoShape 6">
            <a:extLst>
              <a:ext uri="{FF2B5EF4-FFF2-40B4-BE49-F238E27FC236}">
                <a16:creationId xmlns:a16="http://schemas.microsoft.com/office/drawing/2014/main" id="{67C6EADA-A818-75F4-18B8-C0BDEC45F24E}"/>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Google Shape;209;p29">
            <a:extLst>
              <a:ext uri="{FF2B5EF4-FFF2-40B4-BE49-F238E27FC236}">
                <a16:creationId xmlns:a16="http://schemas.microsoft.com/office/drawing/2014/main" id="{A72270B5-98D3-448C-98B5-440608CDEB81}"/>
              </a:ext>
            </a:extLst>
          </p:cNvPr>
          <p:cNvSpPr txBox="1"/>
          <p:nvPr/>
        </p:nvSpPr>
        <p:spPr>
          <a:xfrm>
            <a:off x="484515" y="135518"/>
            <a:ext cx="5304914" cy="5539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dirty="0">
                <a:solidFill>
                  <a:srgbClr val="FFFFFF"/>
                </a:solidFill>
                <a:latin typeface="Open Sans"/>
                <a:ea typeface="Open Sans"/>
                <a:cs typeface="Open Sans"/>
                <a:sym typeface="Open Sans"/>
              </a:rPr>
              <a:t>Simple </a:t>
            </a:r>
            <a:r>
              <a:rPr lang="en" sz="3000" b="1" dirty="0">
                <a:solidFill>
                  <a:srgbClr val="7030A0"/>
                </a:solidFill>
                <a:latin typeface="Open Sans"/>
                <a:ea typeface="Open Sans"/>
                <a:cs typeface="Open Sans"/>
                <a:sym typeface="Open Sans"/>
              </a:rPr>
              <a:t>Linear Regression</a:t>
            </a:r>
            <a:endParaRPr sz="700" b="1" dirty="0">
              <a:solidFill>
                <a:srgbClr val="7030A0"/>
              </a:solidFill>
              <a:latin typeface="Open Sans"/>
              <a:ea typeface="Open Sans"/>
              <a:cs typeface="Open Sans"/>
              <a:sym typeface="Open Sans"/>
            </a:endParaRPr>
          </a:p>
        </p:txBody>
      </p:sp>
      <p:sp>
        <p:nvSpPr>
          <p:cNvPr id="7" name="TextBox 6">
            <a:extLst>
              <a:ext uri="{FF2B5EF4-FFF2-40B4-BE49-F238E27FC236}">
                <a16:creationId xmlns:a16="http://schemas.microsoft.com/office/drawing/2014/main" id="{5A119BBA-4602-AE58-92DC-8CDCEBCDD66F}"/>
              </a:ext>
            </a:extLst>
          </p:cNvPr>
          <p:cNvSpPr txBox="1"/>
          <p:nvPr/>
        </p:nvSpPr>
        <p:spPr>
          <a:xfrm>
            <a:off x="1817377" y="682973"/>
            <a:ext cx="6973526" cy="707886"/>
          </a:xfrm>
          <a:prstGeom prst="rect">
            <a:avLst/>
          </a:prstGeom>
          <a:noFill/>
        </p:spPr>
        <p:txBody>
          <a:bodyPr wrap="square" rtlCol="0">
            <a:spAutoFit/>
          </a:bodyPr>
          <a:lstStyle/>
          <a:p>
            <a:pPr algn="ctr"/>
            <a:r>
              <a:rPr lang="en-US" sz="2000" b="1" i="1" dirty="0"/>
              <a:t>“Reliant on 1 independent variable (predictor) to make a prediction”</a:t>
            </a:r>
          </a:p>
        </p:txBody>
      </p:sp>
      <p:sp>
        <p:nvSpPr>
          <p:cNvPr id="8" name="TextBox 7">
            <a:extLst>
              <a:ext uri="{FF2B5EF4-FFF2-40B4-BE49-F238E27FC236}">
                <a16:creationId xmlns:a16="http://schemas.microsoft.com/office/drawing/2014/main" id="{26215118-8090-F67C-C309-682B5076A48F}"/>
              </a:ext>
            </a:extLst>
          </p:cNvPr>
          <p:cNvSpPr txBox="1"/>
          <p:nvPr/>
        </p:nvSpPr>
        <p:spPr>
          <a:xfrm>
            <a:off x="1909553" y="1461259"/>
            <a:ext cx="4666662" cy="646331"/>
          </a:xfrm>
          <a:prstGeom prst="rect">
            <a:avLst/>
          </a:prstGeom>
          <a:noFill/>
        </p:spPr>
        <p:txBody>
          <a:bodyPr wrap="none" rtlCol="0">
            <a:spAutoFit/>
          </a:bodyPr>
          <a:lstStyle/>
          <a:p>
            <a:pPr marL="342900" indent="-342900">
              <a:buAutoNum type="arabicPeriod"/>
            </a:pPr>
            <a:r>
              <a:rPr lang="en-US" sz="1800" dirty="0"/>
              <a:t>The predictor (independent) variable = X</a:t>
            </a:r>
          </a:p>
          <a:p>
            <a:pPr marL="342900" indent="-342900">
              <a:buAutoNum type="arabicPeriod"/>
            </a:pPr>
            <a:r>
              <a:rPr lang="en-US" sz="1800" dirty="0"/>
              <a:t>The target (dependent) variable = Y</a:t>
            </a:r>
          </a:p>
        </p:txBody>
      </p:sp>
      <p:sp>
        <p:nvSpPr>
          <p:cNvPr id="12" name="TextBox 11">
            <a:extLst>
              <a:ext uri="{FF2B5EF4-FFF2-40B4-BE49-F238E27FC236}">
                <a16:creationId xmlns:a16="http://schemas.microsoft.com/office/drawing/2014/main" id="{E13F2396-BCAF-796A-6BE8-3B73C06ED97A}"/>
              </a:ext>
            </a:extLst>
          </p:cNvPr>
          <p:cNvSpPr txBox="1"/>
          <p:nvPr/>
        </p:nvSpPr>
        <p:spPr>
          <a:xfrm>
            <a:off x="2114498" y="3340709"/>
            <a:ext cx="2181369" cy="830997"/>
          </a:xfrm>
          <a:prstGeom prst="rect">
            <a:avLst/>
          </a:prstGeom>
          <a:noFill/>
        </p:spPr>
        <p:txBody>
          <a:bodyPr wrap="square" rtlCol="0">
            <a:spAutoFit/>
          </a:bodyPr>
          <a:lstStyle/>
          <a:p>
            <a:r>
              <a:rPr lang="en-US" sz="1800" b="1" dirty="0"/>
              <a:t>Model Parameters</a:t>
            </a:r>
          </a:p>
          <a:p>
            <a:r>
              <a:rPr lang="en-US" sz="1000" b="1" dirty="0"/>
              <a:t>(Generated during model fit or training process based on training dataset)</a:t>
            </a:r>
          </a:p>
        </p:txBody>
      </p:sp>
      <p:pic>
        <p:nvPicPr>
          <p:cNvPr id="17" name="Picture 16">
            <a:extLst>
              <a:ext uri="{FF2B5EF4-FFF2-40B4-BE49-F238E27FC236}">
                <a16:creationId xmlns:a16="http://schemas.microsoft.com/office/drawing/2014/main" id="{1F54057A-09DA-6A6E-54A3-FF3857D2D574}"/>
              </a:ext>
            </a:extLst>
          </p:cNvPr>
          <p:cNvPicPr>
            <a:picLocks noChangeAspect="1"/>
          </p:cNvPicPr>
          <p:nvPr/>
        </p:nvPicPr>
        <p:blipFill>
          <a:blip r:embed="rId4"/>
          <a:stretch>
            <a:fillRect/>
          </a:stretch>
        </p:blipFill>
        <p:spPr>
          <a:xfrm>
            <a:off x="4605645" y="2177990"/>
            <a:ext cx="4192517" cy="2842776"/>
          </a:xfrm>
          <a:prstGeom prst="rect">
            <a:avLst/>
          </a:prstGeom>
        </p:spPr>
      </p:pic>
      <p:sp>
        <p:nvSpPr>
          <p:cNvPr id="18" name="Rectangle 17">
            <a:extLst>
              <a:ext uri="{FF2B5EF4-FFF2-40B4-BE49-F238E27FC236}">
                <a16:creationId xmlns:a16="http://schemas.microsoft.com/office/drawing/2014/main" id="{A5243EFD-D65A-049E-0E65-B3BB8C3D3CD1}"/>
              </a:ext>
            </a:extLst>
          </p:cNvPr>
          <p:cNvSpPr/>
          <p:nvPr/>
        </p:nvSpPr>
        <p:spPr>
          <a:xfrm>
            <a:off x="4352168" y="4137660"/>
            <a:ext cx="988553" cy="502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7030A0"/>
                </a:solidFill>
              </a:rPr>
              <a:t>b</a:t>
            </a:r>
            <a:r>
              <a:rPr lang="en-US" sz="2000" baseline="-25000" dirty="0">
                <a:solidFill>
                  <a:srgbClr val="7030A0"/>
                </a:solidFill>
              </a:rPr>
              <a:t>0</a:t>
            </a:r>
          </a:p>
        </p:txBody>
      </p:sp>
      <p:sp>
        <p:nvSpPr>
          <p:cNvPr id="24" name="Rectangle 23">
            <a:extLst>
              <a:ext uri="{FF2B5EF4-FFF2-40B4-BE49-F238E27FC236}">
                <a16:creationId xmlns:a16="http://schemas.microsoft.com/office/drawing/2014/main" id="{42DAA678-6AD2-E5A4-DB03-65CF3188C082}"/>
              </a:ext>
            </a:extLst>
          </p:cNvPr>
          <p:cNvSpPr/>
          <p:nvPr/>
        </p:nvSpPr>
        <p:spPr>
          <a:xfrm>
            <a:off x="7641785" y="3696110"/>
            <a:ext cx="988553" cy="502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7030A0"/>
                </a:solidFill>
              </a:rPr>
              <a:t>b</a:t>
            </a:r>
            <a:r>
              <a:rPr lang="en-US" sz="2000" baseline="-25000" dirty="0">
                <a:solidFill>
                  <a:srgbClr val="7030A0"/>
                </a:solidFill>
              </a:rPr>
              <a:t>1</a:t>
            </a:r>
          </a:p>
        </p:txBody>
      </p:sp>
      <p:pic>
        <p:nvPicPr>
          <p:cNvPr id="23" name="Graphic 22" descr="Arrow: Slight curve with solid fill">
            <a:extLst>
              <a:ext uri="{FF2B5EF4-FFF2-40B4-BE49-F238E27FC236}">
                <a16:creationId xmlns:a16="http://schemas.microsoft.com/office/drawing/2014/main" id="{1A517565-D064-BE59-6B87-6D7C4212FEA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46977" y="4249579"/>
            <a:ext cx="362481" cy="362481"/>
          </a:xfrm>
          <a:prstGeom prst="rect">
            <a:avLst/>
          </a:prstGeom>
        </p:spPr>
      </p:pic>
      <p:pic>
        <p:nvPicPr>
          <p:cNvPr id="25" name="Graphic 24" descr="Arrow: Slight curve with solid fill">
            <a:extLst>
              <a:ext uri="{FF2B5EF4-FFF2-40B4-BE49-F238E27FC236}">
                <a16:creationId xmlns:a16="http://schemas.microsoft.com/office/drawing/2014/main" id="{19993E16-2BAE-6A5B-B75D-5E488896330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2426478">
            <a:off x="7676732" y="3530219"/>
            <a:ext cx="362481" cy="362481"/>
          </a:xfrm>
          <a:prstGeom prst="rect">
            <a:avLst/>
          </a:prstGeom>
        </p:spPr>
      </p:pic>
      <p:sp>
        <p:nvSpPr>
          <p:cNvPr id="26" name="Rectangle 25">
            <a:extLst>
              <a:ext uri="{FF2B5EF4-FFF2-40B4-BE49-F238E27FC236}">
                <a16:creationId xmlns:a16="http://schemas.microsoft.com/office/drawing/2014/main" id="{0AB666E9-257D-5267-D85C-B389F3401B05}"/>
              </a:ext>
            </a:extLst>
          </p:cNvPr>
          <p:cNvSpPr/>
          <p:nvPr/>
        </p:nvSpPr>
        <p:spPr>
          <a:xfrm>
            <a:off x="7614055" y="2019553"/>
            <a:ext cx="988553" cy="502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aseline="-25000" dirty="0">
              <a:solidFill>
                <a:srgbClr val="7030A0"/>
              </a:solidFill>
            </a:endParaRPr>
          </a:p>
        </p:txBody>
      </p:sp>
      <p:sp>
        <p:nvSpPr>
          <p:cNvPr id="27" name="TextBox 26">
            <a:extLst>
              <a:ext uri="{FF2B5EF4-FFF2-40B4-BE49-F238E27FC236}">
                <a16:creationId xmlns:a16="http://schemas.microsoft.com/office/drawing/2014/main" id="{70F76CBD-3FA2-FD28-72DD-FDFC0A84C5A9}"/>
              </a:ext>
            </a:extLst>
          </p:cNvPr>
          <p:cNvSpPr txBox="1"/>
          <p:nvPr/>
        </p:nvSpPr>
        <p:spPr>
          <a:xfrm>
            <a:off x="163449" y="4340983"/>
            <a:ext cx="1641732" cy="707886"/>
          </a:xfrm>
          <a:prstGeom prst="rect">
            <a:avLst/>
          </a:prstGeom>
          <a:noFill/>
        </p:spPr>
        <p:txBody>
          <a:bodyPr wrap="square">
            <a:spAutoFit/>
          </a:bodyPr>
          <a:lstStyle/>
          <a:p>
            <a:r>
              <a:rPr lang="en-US" sz="800" b="1" dirty="0">
                <a:solidFill>
                  <a:schemeClr val="bg1"/>
                </a:solidFill>
              </a:rPr>
              <a:t>(graphic used with permission  from Medium blog </a:t>
            </a:r>
            <a:r>
              <a:rPr lang="en-US" sz="800" dirty="0">
                <a:solidFill>
                  <a:srgbClr val="0070C0"/>
                </a:solidFill>
                <a:hlinkClick r:id="rId7">
                  <a:extLst>
                    <a:ext uri="{A12FA001-AC4F-418D-AE19-62706E023703}">
                      <ahyp:hlinkClr xmlns:ahyp="http://schemas.microsoft.com/office/drawing/2018/hyperlinkcolor" val="tx"/>
                    </a:ext>
                  </a:extLst>
                </a:hlinkClick>
              </a:rPr>
              <a:t>Simple Linear Regression Using Example. | by SACHIN H S | Medium</a:t>
            </a:r>
            <a:r>
              <a:rPr lang="en-US" sz="800" b="1" dirty="0">
                <a:solidFill>
                  <a:srgbClr val="7030A0"/>
                </a:solidFill>
              </a:rPr>
              <a:t>) </a:t>
            </a:r>
            <a:endParaRPr lang="en-US" sz="800" dirty="0"/>
          </a:p>
        </p:txBody>
      </p:sp>
      <p:pic>
        <p:nvPicPr>
          <p:cNvPr id="29" name="Picture 28">
            <a:extLst>
              <a:ext uri="{FF2B5EF4-FFF2-40B4-BE49-F238E27FC236}">
                <a16:creationId xmlns:a16="http://schemas.microsoft.com/office/drawing/2014/main" id="{85019EC5-AD2F-D8B2-CB1F-8994705C8A20}"/>
              </a:ext>
            </a:extLst>
          </p:cNvPr>
          <p:cNvPicPr>
            <a:picLocks noChangeAspect="1"/>
          </p:cNvPicPr>
          <p:nvPr/>
        </p:nvPicPr>
        <p:blipFill>
          <a:blip r:embed="rId8"/>
          <a:stretch>
            <a:fillRect/>
          </a:stretch>
        </p:blipFill>
        <p:spPr>
          <a:xfrm>
            <a:off x="6076187" y="4205320"/>
            <a:ext cx="2311226" cy="541575"/>
          </a:xfrm>
          <a:prstGeom prst="rect">
            <a:avLst/>
          </a:prstGeom>
        </p:spPr>
      </p:pic>
      <p:cxnSp>
        <p:nvCxnSpPr>
          <p:cNvPr id="399" name="Google Shape;399;p38">
            <a:extLst>
              <a:ext uri="{FF2B5EF4-FFF2-40B4-BE49-F238E27FC236}">
                <a16:creationId xmlns:a16="http://schemas.microsoft.com/office/drawing/2014/main" id="{FA450B06-3A77-7017-263A-17AD0A0E7043}"/>
              </a:ext>
            </a:extLst>
          </p:cNvPr>
          <p:cNvCxnSpPr/>
          <p:nvPr/>
        </p:nvCxnSpPr>
        <p:spPr>
          <a:xfrm rot="5400000">
            <a:off x="6789417" y="3396973"/>
            <a:ext cx="3626382" cy="0"/>
          </a:xfrm>
          <a:prstGeom prst="straightConnector1">
            <a:avLst/>
          </a:prstGeom>
          <a:noFill/>
          <a:ln w="9525" cap="flat" cmpd="sng">
            <a:solidFill>
              <a:srgbClr val="7030A0"/>
            </a:solidFill>
            <a:prstDash val="solid"/>
            <a:round/>
            <a:headEnd type="none" w="sm" len="sm"/>
            <a:tailEnd type="none" w="sm" len="sm"/>
          </a:ln>
        </p:spPr>
      </p:cxnSp>
      <p:sp>
        <p:nvSpPr>
          <p:cNvPr id="4" name="TextBox 3">
            <a:extLst>
              <a:ext uri="{FF2B5EF4-FFF2-40B4-BE49-F238E27FC236}">
                <a16:creationId xmlns:a16="http://schemas.microsoft.com/office/drawing/2014/main" id="{873362A4-A379-DCAC-0142-67F89B02F49C}"/>
              </a:ext>
            </a:extLst>
          </p:cNvPr>
          <p:cNvSpPr txBox="1"/>
          <p:nvPr/>
        </p:nvSpPr>
        <p:spPr>
          <a:xfrm>
            <a:off x="2217302" y="2310138"/>
            <a:ext cx="2028119" cy="523220"/>
          </a:xfrm>
          <a:prstGeom prst="rect">
            <a:avLst/>
          </a:prstGeom>
          <a:noFill/>
        </p:spPr>
        <p:txBody>
          <a:bodyPr wrap="none" rtlCol="0">
            <a:spAutoFit/>
          </a:bodyPr>
          <a:lstStyle/>
          <a:p>
            <a:r>
              <a:rPr lang="en-US" sz="2800" dirty="0"/>
              <a:t>y = b</a:t>
            </a:r>
            <a:r>
              <a:rPr lang="en-US" sz="2800" baseline="-25000" dirty="0"/>
              <a:t>0</a:t>
            </a:r>
            <a:r>
              <a:rPr lang="en-US" sz="2800" dirty="0"/>
              <a:t> + b</a:t>
            </a:r>
            <a:r>
              <a:rPr lang="en-US" sz="2800" baseline="-25000" dirty="0"/>
              <a:t>1</a:t>
            </a:r>
            <a:r>
              <a:rPr lang="en-US" sz="2800" dirty="0"/>
              <a:t>x</a:t>
            </a:r>
          </a:p>
        </p:txBody>
      </p:sp>
      <p:sp>
        <p:nvSpPr>
          <p:cNvPr id="5" name="Arrow: Right 4">
            <a:extLst>
              <a:ext uri="{FF2B5EF4-FFF2-40B4-BE49-F238E27FC236}">
                <a16:creationId xmlns:a16="http://schemas.microsoft.com/office/drawing/2014/main" id="{058BC6C0-0841-D327-20EF-09075DA38D55}"/>
              </a:ext>
            </a:extLst>
          </p:cNvPr>
          <p:cNvSpPr/>
          <p:nvPr/>
        </p:nvSpPr>
        <p:spPr>
          <a:xfrm rot="16200000">
            <a:off x="2757701" y="2818682"/>
            <a:ext cx="523221"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9" name="Arrow: Right 8">
            <a:extLst>
              <a:ext uri="{FF2B5EF4-FFF2-40B4-BE49-F238E27FC236}">
                <a16:creationId xmlns:a16="http://schemas.microsoft.com/office/drawing/2014/main" id="{D6089F5C-0210-3397-1FE6-3F24DD3BAC77}"/>
              </a:ext>
            </a:extLst>
          </p:cNvPr>
          <p:cNvSpPr/>
          <p:nvPr/>
        </p:nvSpPr>
        <p:spPr>
          <a:xfrm rot="16200000">
            <a:off x="3509094" y="2822487"/>
            <a:ext cx="523221"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10" name="TextBox 9">
            <a:extLst>
              <a:ext uri="{FF2B5EF4-FFF2-40B4-BE49-F238E27FC236}">
                <a16:creationId xmlns:a16="http://schemas.microsoft.com/office/drawing/2014/main" id="{34C251D1-D5FA-5A1D-5FD0-55CA7F52F669}"/>
              </a:ext>
            </a:extLst>
          </p:cNvPr>
          <p:cNvSpPr txBox="1"/>
          <p:nvPr/>
        </p:nvSpPr>
        <p:spPr>
          <a:xfrm>
            <a:off x="2183172" y="4160039"/>
            <a:ext cx="2062249" cy="400110"/>
          </a:xfrm>
          <a:prstGeom prst="rect">
            <a:avLst/>
          </a:prstGeom>
          <a:noFill/>
        </p:spPr>
        <p:txBody>
          <a:bodyPr wrap="square">
            <a:spAutoFit/>
          </a:bodyPr>
          <a:lstStyle/>
          <a:p>
            <a:r>
              <a:rPr lang="en-US" sz="2000" dirty="0" err="1"/>
              <a:t>b</a:t>
            </a:r>
            <a:r>
              <a:rPr lang="en-US" sz="2000" baseline="-25000" dirty="0" err="1"/>
              <a:t>o</a:t>
            </a:r>
            <a:r>
              <a:rPr lang="en-US" sz="2000" dirty="0"/>
              <a:t> = intercept</a:t>
            </a:r>
          </a:p>
        </p:txBody>
      </p:sp>
      <p:sp>
        <p:nvSpPr>
          <p:cNvPr id="13" name="TextBox 12">
            <a:extLst>
              <a:ext uri="{FF2B5EF4-FFF2-40B4-BE49-F238E27FC236}">
                <a16:creationId xmlns:a16="http://schemas.microsoft.com/office/drawing/2014/main" id="{0AE0BF37-233A-3870-78A8-30230CA46F62}"/>
              </a:ext>
            </a:extLst>
          </p:cNvPr>
          <p:cNvSpPr txBox="1"/>
          <p:nvPr/>
        </p:nvSpPr>
        <p:spPr>
          <a:xfrm>
            <a:off x="2184291" y="4513097"/>
            <a:ext cx="2354065" cy="400110"/>
          </a:xfrm>
          <a:prstGeom prst="rect">
            <a:avLst/>
          </a:prstGeom>
          <a:noFill/>
        </p:spPr>
        <p:txBody>
          <a:bodyPr wrap="square">
            <a:spAutoFit/>
          </a:bodyPr>
          <a:lstStyle/>
          <a:p>
            <a:r>
              <a:rPr lang="en-US" sz="2000" dirty="0"/>
              <a:t>b</a:t>
            </a:r>
            <a:r>
              <a:rPr lang="en-US" sz="2000" baseline="-25000" dirty="0"/>
              <a:t>1</a:t>
            </a:r>
            <a:r>
              <a:rPr lang="en-US" sz="2000" dirty="0"/>
              <a:t> = slope</a:t>
            </a:r>
          </a:p>
        </p:txBody>
      </p:sp>
    </p:spTree>
    <p:extLst>
      <p:ext uri="{BB962C8B-B14F-4D97-AF65-F5344CB8AC3E}">
        <p14:creationId xmlns:p14="http://schemas.microsoft.com/office/powerpoint/2010/main" val="3643486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animBg="1"/>
      <p:bldP spid="24" grpId="0" animBg="1"/>
      <p:bldP spid="4" grpId="0"/>
      <p:bldP spid="5" grpId="0" animBg="1"/>
      <p:bldP spid="9" grpId="0" animBg="1"/>
      <p:bldP spid="10"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3">
          <a:extLst>
            <a:ext uri="{FF2B5EF4-FFF2-40B4-BE49-F238E27FC236}">
              <a16:creationId xmlns:a16="http://schemas.microsoft.com/office/drawing/2014/main" id="{ABAE7E87-A9B0-C893-300A-1CF07488756D}"/>
            </a:ext>
          </a:extLst>
        </p:cNvPr>
        <p:cNvGrpSpPr/>
        <p:nvPr/>
      </p:nvGrpSpPr>
      <p:grpSpPr>
        <a:xfrm>
          <a:off x="0" y="0"/>
          <a:ext cx="0" cy="0"/>
          <a:chOff x="0" y="0"/>
          <a:chExt cx="0" cy="0"/>
        </a:xfrm>
      </p:grpSpPr>
      <p:sp>
        <p:nvSpPr>
          <p:cNvPr id="385" name="Google Shape;385;p38">
            <a:extLst>
              <a:ext uri="{FF2B5EF4-FFF2-40B4-BE49-F238E27FC236}">
                <a16:creationId xmlns:a16="http://schemas.microsoft.com/office/drawing/2014/main" id="{07F9DE73-E709-5329-0F5E-24E1117C3EC6}"/>
              </a:ext>
            </a:extLst>
          </p:cNvPr>
          <p:cNvSpPr txBox="1"/>
          <p:nvPr/>
        </p:nvSpPr>
        <p:spPr>
          <a:xfrm>
            <a:off x="937149" y="575216"/>
            <a:ext cx="2354700" cy="461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My Skills</a:t>
            </a:r>
            <a:endParaRPr sz="700" b="1" dirty="0">
              <a:latin typeface="Open Sans"/>
              <a:ea typeface="Open Sans"/>
              <a:cs typeface="Open Sans"/>
              <a:sym typeface="Open Sans"/>
            </a:endParaRPr>
          </a:p>
        </p:txBody>
      </p:sp>
      <p:cxnSp>
        <p:nvCxnSpPr>
          <p:cNvPr id="399" name="Google Shape;399;p38">
            <a:extLst>
              <a:ext uri="{FF2B5EF4-FFF2-40B4-BE49-F238E27FC236}">
                <a16:creationId xmlns:a16="http://schemas.microsoft.com/office/drawing/2014/main" id="{5278DE5C-E3FF-8723-1FA6-9B5324263370}"/>
              </a:ext>
            </a:extLst>
          </p:cNvPr>
          <p:cNvCxnSpPr/>
          <p:nvPr/>
        </p:nvCxnSpPr>
        <p:spPr>
          <a:xfrm rot="5400000">
            <a:off x="6781221" y="5470803"/>
            <a:ext cx="3626382" cy="0"/>
          </a:xfrm>
          <a:prstGeom prst="straightConnector1">
            <a:avLst/>
          </a:prstGeom>
          <a:noFill/>
          <a:ln w="9525" cap="flat" cmpd="sng">
            <a:solidFill>
              <a:srgbClr val="7030A0"/>
            </a:solidFill>
            <a:prstDash val="solid"/>
            <a:round/>
            <a:headEnd type="none" w="sm" len="sm"/>
            <a:tailEnd type="none" w="sm" len="sm"/>
          </a:ln>
        </p:spPr>
      </p:cxnSp>
      <p:pic>
        <p:nvPicPr>
          <p:cNvPr id="3" name="Picture 2" descr="Abstract background of simple node and mesh">
            <a:extLst>
              <a:ext uri="{FF2B5EF4-FFF2-40B4-BE49-F238E27FC236}">
                <a16:creationId xmlns:a16="http://schemas.microsoft.com/office/drawing/2014/main" id="{8515784E-CF13-600B-FBCD-1E6BB5AB8CF2}"/>
              </a:ext>
            </a:extLst>
          </p:cNvPr>
          <p:cNvPicPr>
            <a:picLocks noChangeAspect="1"/>
          </p:cNvPicPr>
          <p:nvPr/>
        </p:nvPicPr>
        <p:blipFill>
          <a:blip r:embed="rId3">
            <a:duotone>
              <a:prstClr val="black"/>
              <a:schemeClr val="accent4">
                <a:tint val="45000"/>
                <a:satMod val="400000"/>
              </a:schemeClr>
            </a:duotone>
          </a:blip>
          <a:stretch>
            <a:fillRect/>
          </a:stretch>
        </p:blipFill>
        <p:spPr>
          <a:xfrm rot="16200000">
            <a:off x="2001914" y="-1998586"/>
            <a:ext cx="5143500" cy="9140668"/>
          </a:xfrm>
          <a:prstGeom prst="rect">
            <a:avLst/>
          </a:prstGeom>
        </p:spPr>
      </p:pic>
      <p:cxnSp>
        <p:nvCxnSpPr>
          <p:cNvPr id="398" name="Google Shape;398;p38">
            <a:extLst>
              <a:ext uri="{FF2B5EF4-FFF2-40B4-BE49-F238E27FC236}">
                <a16:creationId xmlns:a16="http://schemas.microsoft.com/office/drawing/2014/main" id="{271D8571-6CDA-A8FF-861F-5BEA786BAF6D}"/>
              </a:ext>
            </a:extLst>
          </p:cNvPr>
          <p:cNvCxnSpPr/>
          <p:nvPr/>
        </p:nvCxnSpPr>
        <p:spPr>
          <a:xfrm rot="5400000">
            <a:off x="-1301222" y="965264"/>
            <a:ext cx="3626382" cy="0"/>
          </a:xfrm>
          <a:prstGeom prst="straightConnector1">
            <a:avLst/>
          </a:prstGeom>
          <a:noFill/>
          <a:ln w="9525" cap="flat" cmpd="sng">
            <a:solidFill>
              <a:srgbClr val="000000"/>
            </a:solidFill>
            <a:prstDash val="solid"/>
            <a:round/>
            <a:headEnd type="none" w="sm" len="sm"/>
            <a:tailEnd type="none" w="sm" len="sm"/>
          </a:ln>
        </p:spPr>
      </p:cxnSp>
      <p:graphicFrame>
        <p:nvGraphicFramePr>
          <p:cNvPr id="9" name="Diagram 8">
            <a:extLst>
              <a:ext uri="{FF2B5EF4-FFF2-40B4-BE49-F238E27FC236}">
                <a16:creationId xmlns:a16="http://schemas.microsoft.com/office/drawing/2014/main" id="{C4577B24-FEEE-C2EC-E749-DFDFE8022710}"/>
              </a:ext>
            </a:extLst>
          </p:cNvPr>
          <p:cNvGraphicFramePr/>
          <p:nvPr/>
        </p:nvGraphicFramePr>
        <p:xfrm>
          <a:off x="1785264" y="104502"/>
          <a:ext cx="7177544" cy="4920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Google Shape;209;p29">
            <a:extLst>
              <a:ext uri="{FF2B5EF4-FFF2-40B4-BE49-F238E27FC236}">
                <a16:creationId xmlns:a16="http://schemas.microsoft.com/office/drawing/2014/main" id="{1146B0D6-34EA-3979-FE2D-6D54C7D6CB8B}"/>
              </a:ext>
            </a:extLst>
          </p:cNvPr>
          <p:cNvSpPr txBox="1"/>
          <p:nvPr/>
        </p:nvSpPr>
        <p:spPr>
          <a:xfrm>
            <a:off x="754916" y="118655"/>
            <a:ext cx="7268944" cy="683264"/>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Simple Linear Regression Prediction</a:t>
            </a:r>
          </a:p>
          <a:p>
            <a:pPr marL="0" marR="0" lvl="0" indent="0" algn="l" rtl="0">
              <a:lnSpc>
                <a:spcPct val="120000"/>
              </a:lnSpc>
              <a:spcBef>
                <a:spcPts val="0"/>
              </a:spcBef>
              <a:spcAft>
                <a:spcPts val="0"/>
              </a:spcAft>
              <a:buNone/>
            </a:pPr>
            <a:endParaRPr sz="700" b="1" dirty="0">
              <a:latin typeface="Open Sans"/>
              <a:ea typeface="Open Sans"/>
              <a:cs typeface="Open Sans"/>
              <a:sym typeface="Open Sans"/>
            </a:endParaRPr>
          </a:p>
        </p:txBody>
      </p:sp>
      <p:grpSp>
        <p:nvGrpSpPr>
          <p:cNvPr id="400" name="Google Shape;400;p38">
            <a:extLst>
              <a:ext uri="{FF2B5EF4-FFF2-40B4-BE49-F238E27FC236}">
                <a16:creationId xmlns:a16="http://schemas.microsoft.com/office/drawing/2014/main" id="{5E0E4A33-603E-842F-9223-44F141670EC0}"/>
              </a:ext>
            </a:extLst>
          </p:cNvPr>
          <p:cNvGrpSpPr/>
          <p:nvPr/>
        </p:nvGrpSpPr>
        <p:grpSpPr>
          <a:xfrm>
            <a:off x="8837359" y="-72330"/>
            <a:ext cx="1543051" cy="5808473"/>
            <a:chOff x="0" y="-38100"/>
            <a:chExt cx="812800" cy="3059607"/>
          </a:xfrm>
        </p:grpSpPr>
        <p:sp>
          <p:nvSpPr>
            <p:cNvPr id="401" name="Google Shape;401;p38">
              <a:extLst>
                <a:ext uri="{FF2B5EF4-FFF2-40B4-BE49-F238E27FC236}">
                  <a16:creationId xmlns:a16="http://schemas.microsoft.com/office/drawing/2014/main" id="{56D2AF0E-BF8B-AB6C-BEE9-336F6E2A6AD6}"/>
                </a:ext>
              </a:extLst>
            </p:cNvPr>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402" name="Google Shape;402;p38">
              <a:extLst>
                <a:ext uri="{FF2B5EF4-FFF2-40B4-BE49-F238E27FC236}">
                  <a16:creationId xmlns:a16="http://schemas.microsoft.com/office/drawing/2014/main" id="{7D5E13C8-55CF-957D-FB56-F8690BA2EE27}"/>
                </a:ext>
              </a:extLst>
            </p:cNvPr>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8" name="Arrow: Right 7">
            <a:extLst>
              <a:ext uri="{FF2B5EF4-FFF2-40B4-BE49-F238E27FC236}">
                <a16:creationId xmlns:a16="http://schemas.microsoft.com/office/drawing/2014/main" id="{D6C25818-189C-11CD-3877-7F239DAB6B11}"/>
              </a:ext>
            </a:extLst>
          </p:cNvPr>
          <p:cNvSpPr/>
          <p:nvPr/>
        </p:nvSpPr>
        <p:spPr>
          <a:xfrm>
            <a:off x="2648264" y="1423620"/>
            <a:ext cx="717227"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31D398D-7DFC-3FCF-B1E3-79938311C0CE}"/>
              </a:ext>
            </a:extLst>
          </p:cNvPr>
          <p:cNvSpPr/>
          <p:nvPr/>
        </p:nvSpPr>
        <p:spPr>
          <a:xfrm>
            <a:off x="3596640" y="1155519"/>
            <a:ext cx="1689765" cy="1142082"/>
          </a:xfrm>
          <a:prstGeom prst="rect">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 Fit or Training Process</a:t>
            </a:r>
          </a:p>
        </p:txBody>
      </p:sp>
      <p:sp>
        <p:nvSpPr>
          <p:cNvPr id="14" name="Arrow: Right 13">
            <a:extLst>
              <a:ext uri="{FF2B5EF4-FFF2-40B4-BE49-F238E27FC236}">
                <a16:creationId xmlns:a16="http://schemas.microsoft.com/office/drawing/2014/main" id="{4F0C988B-FFD6-7623-D775-3D694D609B3B}"/>
              </a:ext>
            </a:extLst>
          </p:cNvPr>
          <p:cNvSpPr/>
          <p:nvPr/>
        </p:nvSpPr>
        <p:spPr>
          <a:xfrm>
            <a:off x="5517554" y="1419092"/>
            <a:ext cx="717227" cy="484632"/>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EBEA60CF-10EB-141F-C000-41E9B22856F5}"/>
              </a:ext>
            </a:extLst>
          </p:cNvPr>
          <p:cNvPicPr>
            <a:picLocks noChangeAspect="1"/>
          </p:cNvPicPr>
          <p:nvPr/>
        </p:nvPicPr>
        <p:blipFill>
          <a:blip r:embed="rId9"/>
          <a:stretch>
            <a:fillRect/>
          </a:stretch>
        </p:blipFill>
        <p:spPr>
          <a:xfrm>
            <a:off x="711087" y="1065669"/>
            <a:ext cx="1651045" cy="1196864"/>
          </a:xfrm>
          <a:prstGeom prst="rect">
            <a:avLst/>
          </a:prstGeom>
          <a:effectLst>
            <a:outerShdw blurRad="152400" dist="38100" dir="2700000" sx="105000" sy="105000" algn="tl" rotWithShape="0">
              <a:prstClr val="black">
                <a:alpha val="40000"/>
              </a:prstClr>
            </a:outerShdw>
          </a:effectLst>
        </p:spPr>
      </p:pic>
      <p:sp>
        <p:nvSpPr>
          <p:cNvPr id="23" name="Rectangle 22">
            <a:extLst>
              <a:ext uri="{FF2B5EF4-FFF2-40B4-BE49-F238E27FC236}">
                <a16:creationId xmlns:a16="http://schemas.microsoft.com/office/drawing/2014/main" id="{CD02929A-FADE-DADE-4D49-B7A9F4C18597}"/>
              </a:ext>
            </a:extLst>
          </p:cNvPr>
          <p:cNvSpPr/>
          <p:nvPr/>
        </p:nvSpPr>
        <p:spPr>
          <a:xfrm>
            <a:off x="6354553" y="1173459"/>
            <a:ext cx="1908810" cy="1049864"/>
          </a:xfrm>
          <a:prstGeom prst="rect">
            <a:avLst/>
          </a:prstGeom>
          <a:solidFill>
            <a:schemeClr val="bg1"/>
          </a:solidFill>
          <a:ln>
            <a:noFill/>
          </a:ln>
          <a:effectLst>
            <a:outerShdw blurRad="139700" dist="38100" dir="2700000" sx="106000" sy="106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y-GB" sz="1600" dirty="0">
                <a:solidFill>
                  <a:schemeClr val="tx1"/>
                </a:solidFill>
              </a:rPr>
              <a:t>ŷ</a:t>
            </a:r>
            <a:r>
              <a:rPr lang="en-US" sz="1600" dirty="0">
                <a:solidFill>
                  <a:schemeClr val="tx1"/>
                </a:solidFill>
              </a:rPr>
              <a:t> = 38423 – 821x</a:t>
            </a:r>
          </a:p>
        </p:txBody>
      </p:sp>
      <p:pic>
        <p:nvPicPr>
          <p:cNvPr id="25" name="Picture 24">
            <a:extLst>
              <a:ext uri="{FF2B5EF4-FFF2-40B4-BE49-F238E27FC236}">
                <a16:creationId xmlns:a16="http://schemas.microsoft.com/office/drawing/2014/main" id="{EBB01C90-730B-EDEA-95F9-DF7666EFFDF6}"/>
              </a:ext>
            </a:extLst>
          </p:cNvPr>
          <p:cNvPicPr>
            <a:picLocks noChangeAspect="1"/>
          </p:cNvPicPr>
          <p:nvPr/>
        </p:nvPicPr>
        <p:blipFill>
          <a:blip r:embed="rId10"/>
          <a:stretch>
            <a:fillRect/>
          </a:stretch>
        </p:blipFill>
        <p:spPr>
          <a:xfrm>
            <a:off x="4441522" y="2382634"/>
            <a:ext cx="3323954" cy="2528619"/>
          </a:xfrm>
          <a:prstGeom prst="rect">
            <a:avLst/>
          </a:prstGeom>
          <a:effectLst>
            <a:outerShdw blurRad="114300" dist="38100" dir="2700000" sx="105000" sy="105000" algn="tl" rotWithShape="0">
              <a:prstClr val="black">
                <a:alpha val="40000"/>
              </a:prstClr>
            </a:outerShdw>
          </a:effectLst>
        </p:spPr>
      </p:pic>
      <p:sp>
        <p:nvSpPr>
          <p:cNvPr id="28" name="TextBox 27">
            <a:extLst>
              <a:ext uri="{FF2B5EF4-FFF2-40B4-BE49-F238E27FC236}">
                <a16:creationId xmlns:a16="http://schemas.microsoft.com/office/drawing/2014/main" id="{C575C695-DC41-6B9D-C4B6-51C29CB6BE94}"/>
              </a:ext>
            </a:extLst>
          </p:cNvPr>
          <p:cNvSpPr txBox="1"/>
          <p:nvPr/>
        </p:nvSpPr>
        <p:spPr>
          <a:xfrm>
            <a:off x="531056" y="2498512"/>
            <a:ext cx="3662151" cy="2280111"/>
          </a:xfrm>
          <a:prstGeom prst="rect">
            <a:avLst/>
          </a:prstGeom>
          <a:noFill/>
        </p:spPr>
        <p:txBody>
          <a:bodyPr wrap="square">
            <a:spAutoFit/>
          </a:bodyPr>
          <a:lstStyle/>
          <a:p>
            <a:pPr algn="l">
              <a:spcAft>
                <a:spcPts val="1125"/>
              </a:spcAft>
              <a:buNone/>
            </a:pPr>
            <a:r>
              <a:rPr lang="en-US" sz="2400" b="1" u="sng" dirty="0">
                <a:solidFill>
                  <a:schemeClr val="bg1"/>
                </a:solidFill>
                <a:latin typeface="Segoe UI" panose="020B0502040204020203" pitchFamily="34" charset="0"/>
              </a:rPr>
              <a:t>Example:  Predict Car Price Based on MPG </a:t>
            </a:r>
            <a:endParaRPr lang="en-US" sz="2400" b="1" i="0" u="sng" dirty="0">
              <a:solidFill>
                <a:schemeClr val="bg1"/>
              </a:solidFill>
              <a:effectLst/>
              <a:latin typeface="Segoe UI" panose="020B0502040204020203" pitchFamily="34" charset="0"/>
            </a:endParaRPr>
          </a:p>
          <a:p>
            <a:pPr algn="l">
              <a:spcBef>
                <a:spcPts val="600"/>
              </a:spcBef>
              <a:spcAft>
                <a:spcPts val="600"/>
              </a:spcAft>
              <a:buNone/>
            </a:pPr>
            <a:r>
              <a:rPr lang="en-US" sz="2000" b="1" i="0" dirty="0">
                <a:solidFill>
                  <a:schemeClr val="bg1"/>
                </a:solidFill>
                <a:effectLst/>
                <a:latin typeface="Segoe UI" panose="020B0502040204020203" pitchFamily="34" charset="0"/>
              </a:rPr>
              <a:t>Given:  </a:t>
            </a:r>
            <a:r>
              <a:rPr lang="cy-GB" sz="2000" b="1" i="0" dirty="0">
                <a:solidFill>
                  <a:schemeClr val="bg1"/>
                </a:solidFill>
                <a:effectLst/>
                <a:latin typeface="Segoe UI" panose="020B0502040204020203" pitchFamily="34" charset="0"/>
              </a:rPr>
              <a:t>ŷ</a:t>
            </a:r>
            <a:r>
              <a:rPr lang="en-US" sz="2000" b="1" i="0" dirty="0">
                <a:solidFill>
                  <a:schemeClr val="bg1"/>
                </a:solidFill>
                <a:effectLst/>
                <a:latin typeface="Segoe UI" panose="020B0502040204020203" pitchFamily="34" charset="0"/>
              </a:rPr>
              <a:t> = 38423 – 821x</a:t>
            </a:r>
          </a:p>
          <a:p>
            <a:pPr algn="l">
              <a:spcBef>
                <a:spcPts val="600"/>
              </a:spcBef>
              <a:spcAft>
                <a:spcPts val="600"/>
              </a:spcAft>
              <a:buNone/>
            </a:pPr>
            <a:r>
              <a:rPr lang="en-US" sz="2000" b="1" i="0" dirty="0">
                <a:solidFill>
                  <a:schemeClr val="bg1"/>
                </a:solidFill>
                <a:effectLst/>
                <a:latin typeface="Segoe UI" panose="020B0502040204020203" pitchFamily="34" charset="0"/>
              </a:rPr>
              <a:t>                = 38423 – 821</a:t>
            </a:r>
            <a:r>
              <a:rPr lang="en-US" sz="2000" b="1" dirty="0">
                <a:solidFill>
                  <a:schemeClr val="bg1"/>
                </a:solidFill>
                <a:latin typeface="Segoe UI" panose="020B0502040204020203" pitchFamily="34" charset="0"/>
              </a:rPr>
              <a:t>(20)</a:t>
            </a:r>
          </a:p>
          <a:p>
            <a:pPr algn="l">
              <a:spcBef>
                <a:spcPts val="600"/>
              </a:spcBef>
              <a:spcAft>
                <a:spcPts val="600"/>
              </a:spcAft>
              <a:buNone/>
            </a:pPr>
            <a:r>
              <a:rPr lang="en-US" sz="2000" b="1" i="0" dirty="0">
                <a:solidFill>
                  <a:schemeClr val="bg1"/>
                </a:solidFill>
                <a:effectLst/>
                <a:latin typeface="Segoe UI" panose="020B0502040204020203" pitchFamily="34" charset="0"/>
              </a:rPr>
              <a:t>                = $22,003</a:t>
            </a:r>
            <a:endParaRPr lang="en-US" sz="2000" b="0" i="0" dirty="0">
              <a:solidFill>
                <a:schemeClr val="bg1"/>
              </a:solidFill>
              <a:effectLst/>
              <a:latin typeface="Segoe UI" panose="020B0502040204020203" pitchFamily="34" charset="0"/>
            </a:endParaRPr>
          </a:p>
        </p:txBody>
      </p:sp>
      <p:pic>
        <p:nvPicPr>
          <p:cNvPr id="29" name="Graphic 28" descr="Arrow: Slight curve with solid fill">
            <a:extLst>
              <a:ext uri="{FF2B5EF4-FFF2-40B4-BE49-F238E27FC236}">
                <a16:creationId xmlns:a16="http://schemas.microsoft.com/office/drawing/2014/main" id="{C8C34F4D-A3C9-95D7-2092-CACC660BB9F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8645035">
            <a:off x="4939698" y="3111002"/>
            <a:ext cx="362481" cy="362481"/>
          </a:xfrm>
          <a:prstGeom prst="rect">
            <a:avLst/>
          </a:prstGeom>
        </p:spPr>
      </p:pic>
      <p:sp>
        <p:nvSpPr>
          <p:cNvPr id="30" name="TextBox 29">
            <a:extLst>
              <a:ext uri="{FF2B5EF4-FFF2-40B4-BE49-F238E27FC236}">
                <a16:creationId xmlns:a16="http://schemas.microsoft.com/office/drawing/2014/main" id="{77998362-5D12-D0BB-F549-3356B47990D5}"/>
              </a:ext>
            </a:extLst>
          </p:cNvPr>
          <p:cNvSpPr txBox="1"/>
          <p:nvPr/>
        </p:nvSpPr>
        <p:spPr>
          <a:xfrm>
            <a:off x="5212662" y="3028116"/>
            <a:ext cx="1274708" cy="307777"/>
          </a:xfrm>
          <a:prstGeom prst="rect">
            <a:avLst/>
          </a:prstGeom>
          <a:noFill/>
        </p:spPr>
        <p:txBody>
          <a:bodyPr wrap="none" rtlCol="0">
            <a:spAutoFit/>
          </a:bodyPr>
          <a:lstStyle/>
          <a:p>
            <a:r>
              <a:rPr lang="cy-GB" dirty="0"/>
              <a:t>ŷ</a:t>
            </a:r>
            <a:r>
              <a:rPr lang="en-US" dirty="0"/>
              <a:t> = Prediction</a:t>
            </a:r>
          </a:p>
        </p:txBody>
      </p:sp>
      <p:pic>
        <p:nvPicPr>
          <p:cNvPr id="31" name="Graphic 30" descr="Arrow: Slight curve with solid fill">
            <a:extLst>
              <a:ext uri="{FF2B5EF4-FFF2-40B4-BE49-F238E27FC236}">
                <a16:creationId xmlns:a16="http://schemas.microsoft.com/office/drawing/2014/main" id="{417294AE-05E1-8FD8-52E0-9CA94709A17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8645035">
            <a:off x="6175357" y="4204082"/>
            <a:ext cx="362481" cy="362481"/>
          </a:xfrm>
          <a:prstGeom prst="rect">
            <a:avLst/>
          </a:prstGeom>
        </p:spPr>
      </p:pic>
      <p:sp>
        <p:nvSpPr>
          <p:cNvPr id="32" name="TextBox 31">
            <a:extLst>
              <a:ext uri="{FF2B5EF4-FFF2-40B4-BE49-F238E27FC236}">
                <a16:creationId xmlns:a16="http://schemas.microsoft.com/office/drawing/2014/main" id="{CC3D07B0-8738-59E3-0D07-4E82DAB61C3E}"/>
              </a:ext>
            </a:extLst>
          </p:cNvPr>
          <p:cNvSpPr txBox="1"/>
          <p:nvPr/>
        </p:nvSpPr>
        <p:spPr>
          <a:xfrm>
            <a:off x="6212607" y="3926084"/>
            <a:ext cx="1135247" cy="307777"/>
          </a:xfrm>
          <a:prstGeom prst="rect">
            <a:avLst/>
          </a:prstGeom>
          <a:noFill/>
        </p:spPr>
        <p:txBody>
          <a:bodyPr wrap="none" rtlCol="0">
            <a:spAutoFit/>
          </a:bodyPr>
          <a:lstStyle/>
          <a:p>
            <a:r>
              <a:rPr lang="en-US" dirty="0"/>
              <a:t>x = 20 MPG</a:t>
            </a:r>
          </a:p>
        </p:txBody>
      </p:sp>
      <p:sp>
        <p:nvSpPr>
          <p:cNvPr id="33" name="Speech Bubble: Oval 32">
            <a:extLst>
              <a:ext uri="{FF2B5EF4-FFF2-40B4-BE49-F238E27FC236}">
                <a16:creationId xmlns:a16="http://schemas.microsoft.com/office/drawing/2014/main" id="{ACE55FD3-A202-9193-A9A4-DC51A0F1F4DB}"/>
              </a:ext>
            </a:extLst>
          </p:cNvPr>
          <p:cNvSpPr/>
          <p:nvPr/>
        </p:nvSpPr>
        <p:spPr>
          <a:xfrm rot="10800000">
            <a:off x="143891" y="4132223"/>
            <a:ext cx="1147699" cy="892620"/>
          </a:xfrm>
          <a:prstGeom prst="wedgeEllipseCallout">
            <a:avLst>
              <a:gd name="adj1" fmla="val -67581"/>
              <a:gd name="adj2" fmla="val 93807"/>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dirty="0"/>
          </a:p>
        </p:txBody>
      </p:sp>
      <p:sp>
        <p:nvSpPr>
          <p:cNvPr id="34" name="TextBox 33">
            <a:extLst>
              <a:ext uri="{FF2B5EF4-FFF2-40B4-BE49-F238E27FC236}">
                <a16:creationId xmlns:a16="http://schemas.microsoft.com/office/drawing/2014/main" id="{41A3A749-EE08-759C-7136-5273C062FB94}"/>
              </a:ext>
            </a:extLst>
          </p:cNvPr>
          <p:cNvSpPr txBox="1"/>
          <p:nvPr/>
        </p:nvSpPr>
        <p:spPr>
          <a:xfrm>
            <a:off x="203495" y="4440068"/>
            <a:ext cx="1029449" cy="323165"/>
          </a:xfrm>
          <a:prstGeom prst="rect">
            <a:avLst/>
          </a:prstGeom>
          <a:noFill/>
        </p:spPr>
        <p:txBody>
          <a:bodyPr wrap="none" rtlCol="0">
            <a:spAutoFit/>
          </a:bodyPr>
          <a:lstStyle/>
          <a:p>
            <a:r>
              <a:rPr lang="en-US" sz="1500" dirty="0"/>
              <a:t>y is now ŷ</a:t>
            </a:r>
          </a:p>
        </p:txBody>
      </p:sp>
      <p:sp>
        <p:nvSpPr>
          <p:cNvPr id="36" name="Google Shape;403;p38">
            <a:extLst>
              <a:ext uri="{FF2B5EF4-FFF2-40B4-BE49-F238E27FC236}">
                <a16:creationId xmlns:a16="http://schemas.microsoft.com/office/drawing/2014/main" id="{18B6AFF2-1E4B-7130-491F-01EA12A3C921}"/>
              </a:ext>
            </a:extLst>
          </p:cNvPr>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dirty="0">
                <a:solidFill>
                  <a:schemeClr val="bg1"/>
                </a:solidFill>
                <a:latin typeface="Open Sans"/>
                <a:ea typeface="Open Sans"/>
                <a:cs typeface="Open Sans"/>
                <a:sym typeface="Open Sans"/>
              </a:rPr>
              <a:t>N  E  X  T</a:t>
            </a:r>
            <a:endParaRPr sz="700" dirty="0">
              <a:solidFill>
                <a:schemeClr val="bg1"/>
              </a:solidFill>
            </a:endParaRPr>
          </a:p>
        </p:txBody>
      </p:sp>
      <p:sp>
        <p:nvSpPr>
          <p:cNvPr id="2" name="Speech Bubble: Oval 1">
            <a:extLst>
              <a:ext uri="{FF2B5EF4-FFF2-40B4-BE49-F238E27FC236}">
                <a16:creationId xmlns:a16="http://schemas.microsoft.com/office/drawing/2014/main" id="{EF7CBF7A-14F9-069A-DF30-60C9F9E96645}"/>
              </a:ext>
            </a:extLst>
          </p:cNvPr>
          <p:cNvSpPr/>
          <p:nvPr/>
        </p:nvSpPr>
        <p:spPr>
          <a:xfrm>
            <a:off x="7358736" y="554473"/>
            <a:ext cx="1296955" cy="988578"/>
          </a:xfrm>
          <a:prstGeom prst="wedgeEllipseCallout">
            <a:avLst>
              <a:gd name="adj1" fmla="val -44751"/>
              <a:gd name="adj2" fmla="val 11668"/>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Now you have a Model!</a:t>
            </a:r>
          </a:p>
        </p:txBody>
      </p:sp>
    </p:spTree>
    <p:extLst>
      <p:ext uri="{BB962C8B-B14F-4D97-AF65-F5344CB8AC3E}">
        <p14:creationId xmlns:p14="http://schemas.microsoft.com/office/powerpoint/2010/main" val="2318690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3">
          <a:extLst>
            <a:ext uri="{FF2B5EF4-FFF2-40B4-BE49-F238E27FC236}">
              <a16:creationId xmlns:a16="http://schemas.microsoft.com/office/drawing/2014/main" id="{C57DB38C-7074-DCB9-8A9D-D1ADA5626188}"/>
            </a:ext>
          </a:extLst>
        </p:cNvPr>
        <p:cNvGrpSpPr/>
        <p:nvPr/>
      </p:nvGrpSpPr>
      <p:grpSpPr>
        <a:xfrm>
          <a:off x="0" y="0"/>
          <a:ext cx="0" cy="0"/>
          <a:chOff x="0" y="0"/>
          <a:chExt cx="0" cy="0"/>
        </a:xfrm>
      </p:grpSpPr>
      <p:sp>
        <p:nvSpPr>
          <p:cNvPr id="385" name="Google Shape;385;p38">
            <a:extLst>
              <a:ext uri="{FF2B5EF4-FFF2-40B4-BE49-F238E27FC236}">
                <a16:creationId xmlns:a16="http://schemas.microsoft.com/office/drawing/2014/main" id="{78FDE946-852A-4FA5-1C8B-EA8461EF6110}"/>
              </a:ext>
            </a:extLst>
          </p:cNvPr>
          <p:cNvSpPr txBox="1"/>
          <p:nvPr/>
        </p:nvSpPr>
        <p:spPr>
          <a:xfrm>
            <a:off x="937149" y="575216"/>
            <a:ext cx="2354700" cy="461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My Skills</a:t>
            </a:r>
            <a:endParaRPr sz="700" b="1" dirty="0">
              <a:latin typeface="Open Sans"/>
              <a:ea typeface="Open Sans"/>
              <a:cs typeface="Open Sans"/>
              <a:sym typeface="Open Sans"/>
            </a:endParaRPr>
          </a:p>
        </p:txBody>
      </p:sp>
      <p:grpSp>
        <p:nvGrpSpPr>
          <p:cNvPr id="400" name="Google Shape;400;p38">
            <a:extLst>
              <a:ext uri="{FF2B5EF4-FFF2-40B4-BE49-F238E27FC236}">
                <a16:creationId xmlns:a16="http://schemas.microsoft.com/office/drawing/2014/main" id="{0E2192A5-16B6-A49B-D1C1-C47F602E48AC}"/>
              </a:ext>
            </a:extLst>
          </p:cNvPr>
          <p:cNvGrpSpPr/>
          <p:nvPr/>
        </p:nvGrpSpPr>
        <p:grpSpPr>
          <a:xfrm>
            <a:off x="8837359" y="-72330"/>
            <a:ext cx="1543051" cy="5808473"/>
            <a:chOff x="0" y="-38100"/>
            <a:chExt cx="812800" cy="3059607"/>
          </a:xfrm>
        </p:grpSpPr>
        <p:sp>
          <p:nvSpPr>
            <p:cNvPr id="401" name="Google Shape;401;p38">
              <a:extLst>
                <a:ext uri="{FF2B5EF4-FFF2-40B4-BE49-F238E27FC236}">
                  <a16:creationId xmlns:a16="http://schemas.microsoft.com/office/drawing/2014/main" id="{657CAA7A-4266-D338-818A-C756C3367364}"/>
                </a:ext>
              </a:extLst>
            </p:cNvPr>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dirty="0"/>
            </a:p>
          </p:txBody>
        </p:sp>
        <p:sp>
          <p:nvSpPr>
            <p:cNvPr id="402" name="Google Shape;402;p38">
              <a:extLst>
                <a:ext uri="{FF2B5EF4-FFF2-40B4-BE49-F238E27FC236}">
                  <a16:creationId xmlns:a16="http://schemas.microsoft.com/office/drawing/2014/main" id="{88EC49A0-250D-287E-0FF6-2E437F5D218B}"/>
                </a:ext>
              </a:extLst>
            </p:cNvPr>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dirty="0">
                <a:solidFill>
                  <a:schemeClr val="dk1"/>
                </a:solidFill>
                <a:latin typeface="Calibri"/>
                <a:ea typeface="Calibri"/>
                <a:cs typeface="Calibri"/>
                <a:sym typeface="Calibri"/>
              </a:endParaRPr>
            </a:p>
          </p:txBody>
        </p:sp>
      </p:grpSp>
      <p:sp>
        <p:nvSpPr>
          <p:cNvPr id="403" name="Google Shape;403;p38">
            <a:extLst>
              <a:ext uri="{FF2B5EF4-FFF2-40B4-BE49-F238E27FC236}">
                <a16:creationId xmlns:a16="http://schemas.microsoft.com/office/drawing/2014/main" id="{ECFBFACA-5D1E-D478-4618-6D719A69C69D}"/>
              </a:ext>
            </a:extLst>
          </p:cNvPr>
          <p:cNvSpPr txBox="1"/>
          <p:nvPr/>
        </p:nvSpPr>
        <p:spPr>
          <a:xfrm rot="5400000">
            <a:off x="8633564" y="2517954"/>
            <a:ext cx="766200" cy="1077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000000"/>
                </a:solidFill>
                <a:latin typeface="Open Sans"/>
                <a:ea typeface="Open Sans"/>
                <a:cs typeface="Open Sans"/>
                <a:sym typeface="Open Sans"/>
              </a:rPr>
              <a:t>N  E  X  T</a:t>
            </a:r>
            <a:endParaRPr sz="700" dirty="0"/>
          </a:p>
        </p:txBody>
      </p:sp>
      <p:pic>
        <p:nvPicPr>
          <p:cNvPr id="3" name="Picture 2" descr="Abstract background of simple node and mesh">
            <a:extLst>
              <a:ext uri="{FF2B5EF4-FFF2-40B4-BE49-F238E27FC236}">
                <a16:creationId xmlns:a16="http://schemas.microsoft.com/office/drawing/2014/main" id="{8D3A773E-E961-DF56-B1B8-55786C0B82DA}"/>
              </a:ext>
            </a:extLst>
          </p:cNvPr>
          <p:cNvPicPr>
            <a:picLocks noChangeAspect="1"/>
          </p:cNvPicPr>
          <p:nvPr/>
        </p:nvPicPr>
        <p:blipFill>
          <a:blip r:embed="rId3">
            <a:duotone>
              <a:prstClr val="black"/>
              <a:schemeClr val="accent4">
                <a:tint val="45000"/>
                <a:satMod val="400000"/>
              </a:schemeClr>
            </a:duotone>
          </a:blip>
          <a:stretch>
            <a:fillRect/>
          </a:stretch>
        </p:blipFill>
        <p:spPr>
          <a:xfrm rot="16200000">
            <a:off x="-1638537" y="1641865"/>
            <a:ext cx="5143500" cy="1859766"/>
          </a:xfrm>
          <a:prstGeom prst="rect">
            <a:avLst/>
          </a:prstGeom>
        </p:spPr>
      </p:pic>
      <p:cxnSp>
        <p:nvCxnSpPr>
          <p:cNvPr id="398" name="Google Shape;398;p38">
            <a:extLst>
              <a:ext uri="{FF2B5EF4-FFF2-40B4-BE49-F238E27FC236}">
                <a16:creationId xmlns:a16="http://schemas.microsoft.com/office/drawing/2014/main" id="{F3F8A25C-9F56-B8D5-6B2D-9DBD77465496}"/>
              </a:ext>
            </a:extLst>
          </p:cNvPr>
          <p:cNvCxnSpPr/>
          <p:nvPr/>
        </p:nvCxnSpPr>
        <p:spPr>
          <a:xfrm rot="5400000">
            <a:off x="-1569269" y="1036916"/>
            <a:ext cx="3626382" cy="0"/>
          </a:xfrm>
          <a:prstGeom prst="straightConnector1">
            <a:avLst/>
          </a:prstGeom>
          <a:noFill/>
          <a:ln w="9525" cap="flat" cmpd="sng">
            <a:solidFill>
              <a:schemeClr val="bg1"/>
            </a:solidFill>
            <a:prstDash val="solid"/>
            <a:round/>
            <a:headEnd type="none" w="sm" len="sm"/>
            <a:tailEnd type="none" w="sm" len="sm"/>
          </a:ln>
        </p:spPr>
      </p:cxnSp>
      <p:sp>
        <p:nvSpPr>
          <p:cNvPr id="6" name="AutoShape 6">
            <a:extLst>
              <a:ext uri="{FF2B5EF4-FFF2-40B4-BE49-F238E27FC236}">
                <a16:creationId xmlns:a16="http://schemas.microsoft.com/office/drawing/2014/main" id="{DBE7B408-63BE-9099-6D88-1A4AA2F7F4E9}"/>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 name="Google Shape;209;p29">
            <a:extLst>
              <a:ext uri="{FF2B5EF4-FFF2-40B4-BE49-F238E27FC236}">
                <a16:creationId xmlns:a16="http://schemas.microsoft.com/office/drawing/2014/main" id="{E73FC044-CB29-375F-2350-62B00E7F3188}"/>
              </a:ext>
            </a:extLst>
          </p:cNvPr>
          <p:cNvSpPr txBox="1"/>
          <p:nvPr/>
        </p:nvSpPr>
        <p:spPr>
          <a:xfrm>
            <a:off x="618126" y="128975"/>
            <a:ext cx="6367462" cy="5539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dirty="0">
                <a:solidFill>
                  <a:srgbClr val="FFFFFF"/>
                </a:solidFill>
                <a:latin typeface="Open Sans"/>
                <a:ea typeface="Open Sans"/>
                <a:cs typeface="Open Sans"/>
                <a:sym typeface="Open Sans"/>
              </a:rPr>
              <a:t>Model </a:t>
            </a:r>
            <a:r>
              <a:rPr lang="en" sz="3000" b="1" dirty="0">
                <a:solidFill>
                  <a:srgbClr val="7030A0"/>
                </a:solidFill>
                <a:latin typeface="Open Sans"/>
                <a:ea typeface="Open Sans"/>
                <a:cs typeface="Open Sans"/>
                <a:sym typeface="Open Sans"/>
              </a:rPr>
              <a:t>Evaluation (Simplified)</a:t>
            </a:r>
            <a:endParaRPr sz="700" b="1" dirty="0">
              <a:solidFill>
                <a:srgbClr val="7030A0"/>
              </a:solidFill>
              <a:latin typeface="Open Sans"/>
              <a:ea typeface="Open Sans"/>
              <a:cs typeface="Open Sans"/>
              <a:sym typeface="Open Sans"/>
            </a:endParaRPr>
          </a:p>
        </p:txBody>
      </p:sp>
      <p:sp>
        <p:nvSpPr>
          <p:cNvPr id="26" name="Rectangle 25">
            <a:extLst>
              <a:ext uri="{FF2B5EF4-FFF2-40B4-BE49-F238E27FC236}">
                <a16:creationId xmlns:a16="http://schemas.microsoft.com/office/drawing/2014/main" id="{D40C1FD0-B067-BC6A-C81B-17E943C2FD0D}"/>
              </a:ext>
            </a:extLst>
          </p:cNvPr>
          <p:cNvSpPr/>
          <p:nvPr/>
        </p:nvSpPr>
        <p:spPr>
          <a:xfrm>
            <a:off x="7614055" y="2019553"/>
            <a:ext cx="988553" cy="502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baseline="-25000" dirty="0">
              <a:solidFill>
                <a:srgbClr val="7030A0"/>
              </a:solidFill>
            </a:endParaRPr>
          </a:p>
        </p:txBody>
      </p:sp>
      <p:cxnSp>
        <p:nvCxnSpPr>
          <p:cNvPr id="399" name="Google Shape;399;p38">
            <a:extLst>
              <a:ext uri="{FF2B5EF4-FFF2-40B4-BE49-F238E27FC236}">
                <a16:creationId xmlns:a16="http://schemas.microsoft.com/office/drawing/2014/main" id="{A50E4F3D-F4C8-A7CC-E2C7-7A45C1191F75}"/>
              </a:ext>
            </a:extLst>
          </p:cNvPr>
          <p:cNvCxnSpPr/>
          <p:nvPr/>
        </p:nvCxnSpPr>
        <p:spPr>
          <a:xfrm rot="5400000">
            <a:off x="6789417" y="3396973"/>
            <a:ext cx="3626382" cy="0"/>
          </a:xfrm>
          <a:prstGeom prst="straightConnector1">
            <a:avLst/>
          </a:prstGeom>
          <a:noFill/>
          <a:ln w="9525" cap="flat" cmpd="sng">
            <a:solidFill>
              <a:srgbClr val="7030A0"/>
            </a:solidFill>
            <a:prstDash val="solid"/>
            <a:round/>
            <a:headEnd type="none" w="sm" len="sm"/>
            <a:tailEnd type="none" w="sm" len="sm"/>
          </a:ln>
        </p:spPr>
      </p:cxnSp>
      <p:sp>
        <p:nvSpPr>
          <p:cNvPr id="39" name="Title 1">
            <a:extLst>
              <a:ext uri="{FF2B5EF4-FFF2-40B4-BE49-F238E27FC236}">
                <a16:creationId xmlns:a16="http://schemas.microsoft.com/office/drawing/2014/main" id="{9C24CC4D-A100-BCE9-03ED-6FDE962F7464}"/>
              </a:ext>
            </a:extLst>
          </p:cNvPr>
          <p:cNvSpPr>
            <a:spLocks noGrp="1"/>
          </p:cNvSpPr>
          <p:nvPr/>
        </p:nvSpPr>
        <p:spPr>
          <a:xfrm>
            <a:off x="457200" y="331629"/>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defRPr sz="2800" b="1">
                <a:solidFill>
                  <a:srgbClr val="CC99FF"/>
                </a:solidFill>
              </a:defRPr>
            </a:pPr>
            <a:endParaRPr dirty="0"/>
          </a:p>
        </p:txBody>
      </p:sp>
      <p:pic>
        <p:nvPicPr>
          <p:cNvPr id="40" name="table">
            <a:extLst>
              <a:ext uri="{FF2B5EF4-FFF2-40B4-BE49-F238E27FC236}">
                <a16:creationId xmlns:a16="http://schemas.microsoft.com/office/drawing/2014/main" id="{0EC1863E-0E9D-87F0-B877-C16C6762D273}"/>
              </a:ext>
            </a:extLst>
          </p:cNvPr>
          <p:cNvPicPr>
            <a:picLocks noChangeAspect="1"/>
          </p:cNvPicPr>
          <p:nvPr/>
        </p:nvPicPr>
        <p:blipFill>
          <a:blip r:embed="rId4"/>
          <a:stretch>
            <a:fillRect/>
          </a:stretch>
        </p:blipFill>
        <p:spPr>
          <a:xfrm>
            <a:off x="457200" y="1428591"/>
            <a:ext cx="8229600" cy="2286000"/>
          </a:xfrm>
          <a:prstGeom prst="rect">
            <a:avLst/>
          </a:prstGeom>
        </p:spPr>
      </p:pic>
      <p:sp>
        <p:nvSpPr>
          <p:cNvPr id="2" name="Oval 1">
            <a:extLst>
              <a:ext uri="{FF2B5EF4-FFF2-40B4-BE49-F238E27FC236}">
                <a16:creationId xmlns:a16="http://schemas.microsoft.com/office/drawing/2014/main" id="{C89A0C70-9988-C355-D129-A65300E43372}"/>
              </a:ext>
            </a:extLst>
          </p:cNvPr>
          <p:cNvSpPr/>
          <p:nvPr/>
        </p:nvSpPr>
        <p:spPr>
          <a:xfrm>
            <a:off x="243921" y="1583782"/>
            <a:ext cx="8530709" cy="726415"/>
          </a:xfrm>
          <a:prstGeom prst="ellipse">
            <a:avLst/>
          </a:prstGeom>
          <a:solidFill>
            <a:srgbClr val="7030A0">
              <a:alpha val="25000"/>
            </a:srgbClr>
          </a:solidFill>
          <a:ln w="63500"/>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2756485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3">
          <a:extLst>
            <a:ext uri="{FF2B5EF4-FFF2-40B4-BE49-F238E27FC236}">
              <a16:creationId xmlns:a16="http://schemas.microsoft.com/office/drawing/2014/main" id="{36906292-AABC-1026-0692-F0D1D9B4DAC3}"/>
            </a:ext>
          </a:extLst>
        </p:cNvPr>
        <p:cNvGrpSpPr/>
        <p:nvPr/>
      </p:nvGrpSpPr>
      <p:grpSpPr>
        <a:xfrm>
          <a:off x="0" y="0"/>
          <a:ext cx="0" cy="0"/>
          <a:chOff x="0" y="0"/>
          <a:chExt cx="0" cy="0"/>
        </a:xfrm>
      </p:grpSpPr>
      <p:sp>
        <p:nvSpPr>
          <p:cNvPr id="385" name="Google Shape;385;p38">
            <a:extLst>
              <a:ext uri="{FF2B5EF4-FFF2-40B4-BE49-F238E27FC236}">
                <a16:creationId xmlns:a16="http://schemas.microsoft.com/office/drawing/2014/main" id="{29C96995-F237-7333-FE5F-BC0CCDF38E59}"/>
              </a:ext>
            </a:extLst>
          </p:cNvPr>
          <p:cNvSpPr txBox="1"/>
          <p:nvPr/>
        </p:nvSpPr>
        <p:spPr>
          <a:xfrm>
            <a:off x="937149" y="575216"/>
            <a:ext cx="2354700" cy="461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i="0" u="none" strike="noStrike" cap="none" dirty="0">
                <a:solidFill>
                  <a:srgbClr val="FFFFFF"/>
                </a:solidFill>
                <a:latin typeface="Open Sans"/>
                <a:ea typeface="Open Sans"/>
                <a:cs typeface="Open Sans"/>
                <a:sym typeface="Open Sans"/>
              </a:rPr>
              <a:t>My Skills</a:t>
            </a:r>
            <a:endParaRPr sz="700" b="1" dirty="0">
              <a:latin typeface="Open Sans"/>
              <a:ea typeface="Open Sans"/>
              <a:cs typeface="Open Sans"/>
              <a:sym typeface="Open Sans"/>
            </a:endParaRPr>
          </a:p>
        </p:txBody>
      </p:sp>
      <p:cxnSp>
        <p:nvCxnSpPr>
          <p:cNvPr id="399" name="Google Shape;399;p38">
            <a:extLst>
              <a:ext uri="{FF2B5EF4-FFF2-40B4-BE49-F238E27FC236}">
                <a16:creationId xmlns:a16="http://schemas.microsoft.com/office/drawing/2014/main" id="{630AB124-4B74-195B-DFF6-835C6689657F}"/>
              </a:ext>
            </a:extLst>
          </p:cNvPr>
          <p:cNvCxnSpPr/>
          <p:nvPr/>
        </p:nvCxnSpPr>
        <p:spPr>
          <a:xfrm rot="5400000">
            <a:off x="6781221" y="5470803"/>
            <a:ext cx="3626382" cy="0"/>
          </a:xfrm>
          <a:prstGeom prst="straightConnector1">
            <a:avLst/>
          </a:prstGeom>
          <a:noFill/>
          <a:ln w="9525" cap="flat" cmpd="sng">
            <a:solidFill>
              <a:srgbClr val="7030A0"/>
            </a:solidFill>
            <a:prstDash val="solid"/>
            <a:round/>
            <a:headEnd type="none" w="sm" len="sm"/>
            <a:tailEnd type="none" w="sm" len="sm"/>
          </a:ln>
        </p:spPr>
      </p:cxnSp>
      <p:pic>
        <p:nvPicPr>
          <p:cNvPr id="3" name="Picture 2" descr="Abstract background of simple node and mesh">
            <a:extLst>
              <a:ext uri="{FF2B5EF4-FFF2-40B4-BE49-F238E27FC236}">
                <a16:creationId xmlns:a16="http://schemas.microsoft.com/office/drawing/2014/main" id="{6EFF8F73-690A-DCD3-E9E6-736CACA1A391}"/>
              </a:ext>
            </a:extLst>
          </p:cNvPr>
          <p:cNvPicPr>
            <a:picLocks noChangeAspect="1"/>
          </p:cNvPicPr>
          <p:nvPr/>
        </p:nvPicPr>
        <p:blipFill>
          <a:blip r:embed="rId3">
            <a:duotone>
              <a:prstClr val="black"/>
              <a:schemeClr val="accent4">
                <a:tint val="45000"/>
                <a:satMod val="400000"/>
              </a:schemeClr>
            </a:duotone>
          </a:blip>
          <a:stretch>
            <a:fillRect/>
          </a:stretch>
        </p:blipFill>
        <p:spPr>
          <a:xfrm rot="16200000">
            <a:off x="2001914" y="-1998586"/>
            <a:ext cx="5143500" cy="9140668"/>
          </a:xfrm>
          <a:prstGeom prst="rect">
            <a:avLst/>
          </a:prstGeom>
        </p:spPr>
      </p:pic>
      <p:pic>
        <p:nvPicPr>
          <p:cNvPr id="2" name="Google Shape;473;p42">
            <a:extLst>
              <a:ext uri="{FF2B5EF4-FFF2-40B4-BE49-F238E27FC236}">
                <a16:creationId xmlns:a16="http://schemas.microsoft.com/office/drawing/2014/main" id="{7475BC4E-694B-33A3-620E-B41D152E303B}"/>
              </a:ext>
            </a:extLst>
          </p:cNvPr>
          <p:cNvPicPr preferRelativeResize="0"/>
          <p:nvPr/>
        </p:nvPicPr>
        <p:blipFill rotWithShape="1">
          <a:blip r:embed="rId4">
            <a:alphaModFix/>
            <a:duotone>
              <a:prstClr val="black"/>
              <a:schemeClr val="accent4">
                <a:tint val="45000"/>
                <a:satMod val="400000"/>
              </a:schemeClr>
            </a:duotone>
          </a:blip>
          <a:srcRect t="11362" b="11361"/>
          <a:stretch/>
        </p:blipFill>
        <p:spPr>
          <a:xfrm>
            <a:off x="0" y="0"/>
            <a:ext cx="9144000" cy="5143500"/>
          </a:xfrm>
          <a:prstGeom prst="rect">
            <a:avLst/>
          </a:prstGeom>
          <a:noFill/>
          <a:ln>
            <a:noFill/>
          </a:ln>
        </p:spPr>
      </p:pic>
      <p:cxnSp>
        <p:nvCxnSpPr>
          <p:cNvPr id="398" name="Google Shape;398;p38">
            <a:extLst>
              <a:ext uri="{FF2B5EF4-FFF2-40B4-BE49-F238E27FC236}">
                <a16:creationId xmlns:a16="http://schemas.microsoft.com/office/drawing/2014/main" id="{050CD400-8E1F-9781-584E-0BD78ED85624}"/>
              </a:ext>
            </a:extLst>
          </p:cNvPr>
          <p:cNvCxnSpPr/>
          <p:nvPr/>
        </p:nvCxnSpPr>
        <p:spPr>
          <a:xfrm rot="5400000">
            <a:off x="-1301222" y="965264"/>
            <a:ext cx="3626382" cy="0"/>
          </a:xfrm>
          <a:prstGeom prst="straightConnector1">
            <a:avLst/>
          </a:prstGeom>
          <a:noFill/>
          <a:ln w="9525" cap="flat" cmpd="sng">
            <a:solidFill>
              <a:srgbClr val="000000"/>
            </a:solidFill>
            <a:prstDash val="solid"/>
            <a:round/>
            <a:headEnd type="none" w="sm" len="sm"/>
            <a:tailEnd type="none" w="sm" len="sm"/>
          </a:ln>
        </p:spPr>
      </p:cxnSp>
      <p:sp>
        <p:nvSpPr>
          <p:cNvPr id="6" name="AutoShape 6">
            <a:extLst>
              <a:ext uri="{FF2B5EF4-FFF2-40B4-BE49-F238E27FC236}">
                <a16:creationId xmlns:a16="http://schemas.microsoft.com/office/drawing/2014/main" id="{8466C251-7464-FE34-61B2-EB7C0CC5EE1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9" name="Diagram 8">
            <a:extLst>
              <a:ext uri="{FF2B5EF4-FFF2-40B4-BE49-F238E27FC236}">
                <a16:creationId xmlns:a16="http://schemas.microsoft.com/office/drawing/2014/main" id="{E7350598-B8D4-9316-D84E-EC6431CE90DC}"/>
              </a:ext>
            </a:extLst>
          </p:cNvPr>
          <p:cNvGraphicFramePr/>
          <p:nvPr/>
        </p:nvGraphicFramePr>
        <p:xfrm>
          <a:off x="1785264" y="104502"/>
          <a:ext cx="7177544" cy="492034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Google Shape;209;p29">
            <a:extLst>
              <a:ext uri="{FF2B5EF4-FFF2-40B4-BE49-F238E27FC236}">
                <a16:creationId xmlns:a16="http://schemas.microsoft.com/office/drawing/2014/main" id="{1ACCDBBE-E5F2-4346-FDCE-FFFD8ACDA4C5}"/>
              </a:ext>
            </a:extLst>
          </p:cNvPr>
          <p:cNvSpPr txBox="1"/>
          <p:nvPr/>
        </p:nvSpPr>
        <p:spPr>
          <a:xfrm>
            <a:off x="721048" y="107366"/>
            <a:ext cx="4259241" cy="10156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 sz="3000" b="1" dirty="0">
                <a:solidFill>
                  <a:srgbClr val="FFFFFF"/>
                </a:solidFill>
                <a:latin typeface="Open Sans"/>
                <a:ea typeface="Open Sans"/>
                <a:cs typeface="Open Sans"/>
                <a:sym typeface="Open Sans"/>
              </a:rPr>
              <a:t>References</a:t>
            </a:r>
            <a:br>
              <a:rPr lang="en" sz="3000" b="1" i="0" u="none" strike="noStrike" cap="none" dirty="0">
                <a:solidFill>
                  <a:srgbClr val="FFFFFF"/>
                </a:solidFill>
                <a:latin typeface="Open Sans"/>
                <a:ea typeface="Open Sans"/>
                <a:cs typeface="Open Sans"/>
                <a:sym typeface="Open Sans"/>
              </a:rPr>
            </a:br>
            <a:endParaRPr lang="en" sz="1800" b="1" i="0" u="none" strike="noStrike" cap="none" dirty="0">
              <a:solidFill>
                <a:srgbClr val="FFFFFF"/>
              </a:solidFill>
              <a:latin typeface="Open Sans"/>
              <a:ea typeface="Open Sans"/>
              <a:cs typeface="Open Sans"/>
              <a:sym typeface="Open Sans"/>
            </a:endParaRPr>
          </a:p>
          <a:p>
            <a:pPr marL="0" marR="0" lvl="0" indent="0" algn="l" rtl="0">
              <a:lnSpc>
                <a:spcPct val="120000"/>
              </a:lnSpc>
              <a:spcBef>
                <a:spcPts val="0"/>
              </a:spcBef>
              <a:spcAft>
                <a:spcPts val="0"/>
              </a:spcAft>
              <a:buNone/>
            </a:pPr>
            <a:endParaRPr sz="700" b="1" dirty="0">
              <a:latin typeface="Open Sans"/>
              <a:ea typeface="Open Sans"/>
              <a:cs typeface="Open Sans"/>
              <a:sym typeface="Open Sans"/>
            </a:endParaRPr>
          </a:p>
        </p:txBody>
      </p:sp>
      <p:sp>
        <p:nvSpPr>
          <p:cNvPr id="12" name="TextBox 11">
            <a:extLst>
              <a:ext uri="{FF2B5EF4-FFF2-40B4-BE49-F238E27FC236}">
                <a16:creationId xmlns:a16="http://schemas.microsoft.com/office/drawing/2014/main" id="{478144E0-1F22-C645-D9C8-4BAB687F7A30}"/>
              </a:ext>
            </a:extLst>
          </p:cNvPr>
          <p:cNvSpPr txBox="1"/>
          <p:nvPr/>
        </p:nvSpPr>
        <p:spPr>
          <a:xfrm>
            <a:off x="721048" y="1461780"/>
            <a:ext cx="5509260" cy="5062924"/>
          </a:xfrm>
          <a:prstGeom prst="rect">
            <a:avLst/>
          </a:prstGeom>
          <a:noFill/>
        </p:spPr>
        <p:txBody>
          <a:bodyPr wrap="square">
            <a:spAutoFit/>
          </a:bodyPr>
          <a:lstStyle/>
          <a:p>
            <a:r>
              <a:rPr lang="en-US" sz="1600" dirty="0">
                <a:solidFill>
                  <a:schemeClr val="bg1"/>
                </a:solidFill>
              </a:rPr>
              <a:t>Bruce, Peter, and Andrew Bruce. </a:t>
            </a:r>
            <a:r>
              <a:rPr lang="en-US" sz="1600" i="1" dirty="0">
                <a:solidFill>
                  <a:schemeClr val="bg1"/>
                </a:solidFill>
              </a:rPr>
              <a:t>Practical Statistics for Data Scientists: 50 Essential Concepts</a:t>
            </a:r>
            <a:r>
              <a:rPr lang="en-US" sz="1600" dirty="0">
                <a:solidFill>
                  <a:schemeClr val="bg1"/>
                </a:solidFill>
              </a:rPr>
              <a:t>. O'Reilly Media, 2017.</a:t>
            </a:r>
          </a:p>
          <a:p>
            <a:endParaRPr lang="en-US" sz="1600" b="1" dirty="0">
              <a:solidFill>
                <a:schemeClr val="bg1"/>
              </a:solidFill>
            </a:endParaRPr>
          </a:p>
          <a:p>
            <a:endParaRPr lang="en-US" sz="1600" b="1" dirty="0">
              <a:solidFill>
                <a:schemeClr val="bg1"/>
              </a:solidFill>
            </a:endParaRPr>
          </a:p>
          <a:p>
            <a:endParaRPr lang="en-US" sz="1600" b="1" dirty="0">
              <a:solidFill>
                <a:schemeClr val="bg1"/>
              </a:solidFill>
            </a:endParaRPr>
          </a:p>
          <a:p>
            <a:endParaRPr lang="en-US" sz="1600" b="1" dirty="0">
              <a:solidFill>
                <a:schemeClr val="bg1"/>
              </a:solidFill>
            </a:endParaRPr>
          </a:p>
          <a:p>
            <a:r>
              <a:rPr lang="en-US" sz="1600" dirty="0">
                <a:solidFill>
                  <a:schemeClr val="bg1"/>
                </a:solidFill>
              </a:rPr>
              <a:t>VanderPlas, Jake. </a:t>
            </a:r>
            <a:r>
              <a:rPr lang="en-US" sz="1600" i="1" dirty="0">
                <a:solidFill>
                  <a:schemeClr val="bg1"/>
                </a:solidFill>
              </a:rPr>
              <a:t>Python Data Science Handbook: Essential Tools for Working with Data</a:t>
            </a:r>
            <a:r>
              <a:rPr lang="en-US" sz="1600" dirty="0">
                <a:solidFill>
                  <a:schemeClr val="bg1"/>
                </a:solidFill>
              </a:rPr>
              <a:t>. O'Reilly Media, 2016.</a:t>
            </a:r>
          </a:p>
          <a:p>
            <a:pPr algn="l">
              <a:spcBef>
                <a:spcPts val="600"/>
              </a:spcBef>
              <a:spcAft>
                <a:spcPts val="600"/>
              </a:spcAft>
              <a:buFont typeface="Arial" panose="020B0604020202020204" pitchFamily="34" charset="0"/>
              <a:buChar char="•"/>
            </a:pPr>
            <a:br>
              <a:rPr lang="en-US" sz="1600" b="0" i="0" dirty="0">
                <a:solidFill>
                  <a:schemeClr val="bg1"/>
                </a:solidFill>
                <a:effectLst/>
                <a:latin typeface="Segoe UI" panose="020B0502040204020203" pitchFamily="34" charset="0"/>
              </a:rPr>
            </a:br>
            <a:br>
              <a:rPr lang="en-US" sz="1600" b="0" i="0" dirty="0">
                <a:solidFill>
                  <a:schemeClr val="bg1"/>
                </a:solidFill>
                <a:effectLst/>
                <a:latin typeface="Segoe UI" panose="020B0502040204020203" pitchFamily="34" charset="0"/>
              </a:rPr>
            </a:br>
            <a:br>
              <a:rPr lang="en-US" sz="1600" b="0" i="0" dirty="0">
                <a:solidFill>
                  <a:schemeClr val="bg1"/>
                </a:solidFill>
                <a:effectLst/>
                <a:latin typeface="Segoe UI" panose="020B0502040204020203" pitchFamily="34" charset="0"/>
              </a:rPr>
            </a:br>
            <a:endParaRPr lang="en-US" sz="1600" b="0" i="0" dirty="0">
              <a:solidFill>
                <a:schemeClr val="bg1"/>
              </a:solidFill>
              <a:effectLst/>
              <a:latin typeface="Segoe UI" panose="020B0502040204020203" pitchFamily="34" charset="0"/>
            </a:endParaRPr>
          </a:p>
          <a:p>
            <a:pPr algn="l">
              <a:spcBef>
                <a:spcPts val="600"/>
              </a:spcBef>
              <a:spcAft>
                <a:spcPts val="600"/>
              </a:spcAft>
              <a:buFont typeface="Arial" panose="020B0604020202020204" pitchFamily="34" charset="0"/>
              <a:buChar char="•"/>
            </a:pPr>
            <a:br>
              <a:rPr lang="en-US" sz="1600" b="0" i="0" dirty="0">
                <a:solidFill>
                  <a:schemeClr val="bg1"/>
                </a:solidFill>
                <a:effectLst/>
                <a:latin typeface="Segoe UI" panose="020B0502040204020203" pitchFamily="34" charset="0"/>
              </a:rPr>
            </a:br>
            <a:endParaRPr lang="en-US" sz="1600" b="0" i="0" dirty="0">
              <a:solidFill>
                <a:schemeClr val="bg1"/>
              </a:solidFill>
              <a:effectLst/>
              <a:latin typeface="Segoe UI" panose="020B0502040204020203" pitchFamily="34" charset="0"/>
            </a:endParaRPr>
          </a:p>
          <a:p>
            <a:pPr algn="l">
              <a:spcBef>
                <a:spcPts val="600"/>
              </a:spcBef>
              <a:spcAft>
                <a:spcPts val="600"/>
              </a:spcAft>
            </a:pPr>
            <a:endParaRPr lang="en-US" sz="1600" b="0" i="0" dirty="0">
              <a:solidFill>
                <a:schemeClr val="bg1"/>
              </a:solidFill>
              <a:effectLst/>
              <a:latin typeface="Segoe UI" panose="020B0502040204020203" pitchFamily="34" charset="0"/>
            </a:endParaRPr>
          </a:p>
          <a:p>
            <a:pPr algn="l">
              <a:spcBef>
                <a:spcPts val="600"/>
              </a:spcBef>
              <a:spcAft>
                <a:spcPts val="600"/>
              </a:spcAft>
              <a:buFont typeface="Arial" panose="020B0604020202020204" pitchFamily="34" charset="0"/>
              <a:buChar char="•"/>
            </a:pPr>
            <a:r>
              <a:rPr lang="en-US" sz="1600" b="1" i="0" dirty="0">
                <a:solidFill>
                  <a:schemeClr val="bg1"/>
                </a:solidFill>
                <a:effectLst/>
                <a:latin typeface="Segoe UI" panose="020B0502040204020203" pitchFamily="34" charset="0"/>
              </a:rPr>
              <a:t>No correlation (r ≈ 0):</a:t>
            </a:r>
            <a:r>
              <a:rPr lang="en-US" sz="1600" b="0" i="0" dirty="0">
                <a:solidFill>
                  <a:schemeClr val="bg1"/>
                </a:solidFill>
                <a:effectLst/>
                <a:latin typeface="Segoe UI" panose="020B0502040204020203" pitchFamily="34" charset="0"/>
              </a:rPr>
              <a:t> Hair color and intelligence</a:t>
            </a:r>
          </a:p>
        </p:txBody>
      </p:sp>
      <p:grpSp>
        <p:nvGrpSpPr>
          <p:cNvPr id="400" name="Google Shape;400;p38">
            <a:extLst>
              <a:ext uri="{FF2B5EF4-FFF2-40B4-BE49-F238E27FC236}">
                <a16:creationId xmlns:a16="http://schemas.microsoft.com/office/drawing/2014/main" id="{C433A56D-5471-1291-6F2F-C6495DBA07DC}"/>
              </a:ext>
            </a:extLst>
          </p:cNvPr>
          <p:cNvGrpSpPr/>
          <p:nvPr/>
        </p:nvGrpSpPr>
        <p:grpSpPr>
          <a:xfrm>
            <a:off x="8836936" y="-125782"/>
            <a:ext cx="1543051" cy="5808473"/>
            <a:chOff x="0" y="-38100"/>
            <a:chExt cx="812800" cy="3059607"/>
          </a:xfrm>
        </p:grpSpPr>
        <p:sp>
          <p:nvSpPr>
            <p:cNvPr id="401" name="Google Shape;401;p38">
              <a:extLst>
                <a:ext uri="{FF2B5EF4-FFF2-40B4-BE49-F238E27FC236}">
                  <a16:creationId xmlns:a16="http://schemas.microsoft.com/office/drawing/2014/main" id="{7B5A3732-32B4-0B95-9133-35909CD17EF5}"/>
                </a:ext>
              </a:extLst>
            </p:cNvPr>
            <p:cNvSpPr/>
            <p:nvPr/>
          </p:nvSpPr>
          <p:spPr>
            <a:xfrm>
              <a:off x="0" y="0"/>
              <a:ext cx="161523" cy="3021507"/>
            </a:xfrm>
            <a:custGeom>
              <a:avLst/>
              <a:gdLst/>
              <a:ahLst/>
              <a:cxnLst/>
              <a:rect l="l" t="t" r="r" b="b"/>
              <a:pathLst>
                <a:path w="161523" h="3021507" extrusionOk="0">
                  <a:moveTo>
                    <a:pt x="0" y="0"/>
                  </a:moveTo>
                  <a:lnTo>
                    <a:pt x="161523" y="0"/>
                  </a:lnTo>
                  <a:lnTo>
                    <a:pt x="161523" y="3021507"/>
                  </a:lnTo>
                  <a:lnTo>
                    <a:pt x="0" y="3021507"/>
                  </a:lnTo>
                  <a:close/>
                </a:path>
              </a:pathLst>
            </a:custGeom>
            <a:solidFill>
              <a:srgbClr val="000000">
                <a:alpha val="13333"/>
              </a:srgbClr>
            </a:solidFill>
            <a:ln>
              <a:noFill/>
            </a:ln>
          </p:spPr>
          <p:txBody>
            <a:bodyPr/>
            <a:lstStyle/>
            <a:p>
              <a:endParaRPr lang="en-US"/>
            </a:p>
          </p:txBody>
        </p:sp>
        <p:sp>
          <p:nvSpPr>
            <p:cNvPr id="402" name="Google Shape;402;p38">
              <a:extLst>
                <a:ext uri="{FF2B5EF4-FFF2-40B4-BE49-F238E27FC236}">
                  <a16:creationId xmlns:a16="http://schemas.microsoft.com/office/drawing/2014/main" id="{ED1D72DA-7BEC-6FDA-876E-53B8E2A95A3D}"/>
                </a:ext>
              </a:extLst>
            </p:cNvPr>
            <p:cNvSpPr txBox="1"/>
            <p:nvPr/>
          </p:nvSpPr>
          <p:spPr>
            <a:xfrm>
              <a:off x="0" y="-38100"/>
              <a:ext cx="812800" cy="850900"/>
            </a:xfrm>
            <a:prstGeom prst="rect">
              <a:avLst/>
            </a:prstGeom>
            <a:noFill/>
            <a:ln>
              <a:noFill/>
            </a:ln>
          </p:spPr>
          <p:txBody>
            <a:bodyPr spcFirstLastPara="1" wrap="square" lIns="25400" tIns="25400" rIns="25400" bIns="25400" anchor="ctr" anchorCtr="0">
              <a:noAutofit/>
            </a:bodyPr>
            <a:lstStyle/>
            <a:p>
              <a:pPr marL="0" marR="0" lvl="0" indent="0" algn="ctr" rtl="0">
                <a:lnSpc>
                  <a:spcPct val="163333"/>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403" name="Google Shape;403;p38">
            <a:extLst>
              <a:ext uri="{FF2B5EF4-FFF2-40B4-BE49-F238E27FC236}">
                <a16:creationId xmlns:a16="http://schemas.microsoft.com/office/drawing/2014/main" id="{B76429CA-B3BF-388B-5A3A-A0E0C40D56A3}"/>
              </a:ext>
            </a:extLst>
          </p:cNvPr>
          <p:cNvSpPr txBox="1"/>
          <p:nvPr/>
        </p:nvSpPr>
        <p:spPr>
          <a:xfrm rot="5400000">
            <a:off x="8633564" y="2485627"/>
            <a:ext cx="766200" cy="1723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dirty="0">
                <a:solidFill>
                  <a:schemeClr val="bg1"/>
                </a:solidFill>
                <a:latin typeface="Open Sans"/>
                <a:ea typeface="Open Sans"/>
                <a:cs typeface="Open Sans"/>
                <a:sym typeface="Open Sans"/>
              </a:rPr>
              <a:t>N  E  X  T</a:t>
            </a:r>
            <a:endParaRPr sz="700" dirty="0">
              <a:solidFill>
                <a:schemeClr val="bg1"/>
              </a:solidFill>
            </a:endParaRPr>
          </a:p>
        </p:txBody>
      </p:sp>
      <p:pic>
        <p:nvPicPr>
          <p:cNvPr id="1026" name="Picture 2" descr="9781098121228: Python Data Science Handbook: Essential Tools for Working with Data">
            <a:extLst>
              <a:ext uri="{FF2B5EF4-FFF2-40B4-BE49-F238E27FC236}">
                <a16:creationId xmlns:a16="http://schemas.microsoft.com/office/drawing/2014/main" id="{3557D12B-799E-B82D-F440-E715E0244BD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32262" y="2709163"/>
            <a:ext cx="1510255" cy="198196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A9648AA-5EAB-FA92-3EE6-DCB98105383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45026" y="658885"/>
            <a:ext cx="1497492" cy="1965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1655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4F1BDAE2-ABE1-68A3-1589-9F2B77FA4586}"/>
            </a:ext>
          </a:extLst>
        </p:cNvPr>
        <p:cNvGrpSpPr/>
        <p:nvPr/>
      </p:nvGrpSpPr>
      <p:grpSpPr>
        <a:xfrm>
          <a:off x="0" y="0"/>
          <a:ext cx="0" cy="0"/>
          <a:chOff x="0" y="0"/>
          <a:chExt cx="0" cy="0"/>
        </a:xfrm>
      </p:grpSpPr>
      <p:sp>
        <p:nvSpPr>
          <p:cNvPr id="229" name="Google Shape;229;p30">
            <a:extLst>
              <a:ext uri="{FF2B5EF4-FFF2-40B4-BE49-F238E27FC236}">
                <a16:creationId xmlns:a16="http://schemas.microsoft.com/office/drawing/2014/main" id="{0108FAA1-E780-633B-9C02-32453D0E1888}"/>
              </a:ext>
            </a:extLst>
          </p:cNvPr>
          <p:cNvSpPr txBox="1"/>
          <p:nvPr/>
        </p:nvSpPr>
        <p:spPr>
          <a:xfrm>
            <a:off x="294776" y="352356"/>
            <a:ext cx="8102976" cy="553998"/>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 sz="3000" b="1" dirty="0">
                <a:solidFill>
                  <a:srgbClr val="7030A0"/>
                </a:solidFill>
                <a:latin typeface="Open Sans"/>
                <a:ea typeface="Open Sans"/>
                <a:cs typeface="Open Sans"/>
                <a:sym typeface="Open Sans"/>
              </a:rPr>
              <a:t>Let’s Practices Using Python and Claude</a:t>
            </a:r>
            <a:endParaRPr sz="3000" b="1" dirty="0">
              <a:solidFill>
                <a:srgbClr val="7030A0"/>
              </a:solidFill>
              <a:latin typeface="Open Sans"/>
              <a:ea typeface="Open Sans"/>
              <a:cs typeface="Open Sans"/>
              <a:sym typeface="Open Sans"/>
            </a:endParaRPr>
          </a:p>
        </p:txBody>
      </p:sp>
      <p:cxnSp>
        <p:nvCxnSpPr>
          <p:cNvPr id="231" name="Google Shape;231;p30">
            <a:extLst>
              <a:ext uri="{FF2B5EF4-FFF2-40B4-BE49-F238E27FC236}">
                <a16:creationId xmlns:a16="http://schemas.microsoft.com/office/drawing/2014/main" id="{B1CBF616-2D45-02E7-2D6A-CD9BDF97EA5F}"/>
              </a:ext>
            </a:extLst>
          </p:cNvPr>
          <p:cNvCxnSpPr/>
          <p:nvPr/>
        </p:nvCxnSpPr>
        <p:spPr>
          <a:xfrm rot="5400000">
            <a:off x="6379469" y="1616671"/>
            <a:ext cx="4135694" cy="0"/>
          </a:xfrm>
          <a:prstGeom prst="straightConnector1">
            <a:avLst/>
          </a:prstGeom>
          <a:noFill/>
          <a:ln w="9525" cap="flat" cmpd="sng">
            <a:solidFill>
              <a:srgbClr val="7030A0"/>
            </a:solidFill>
            <a:prstDash val="solid"/>
            <a:round/>
            <a:headEnd type="none" w="sm" len="sm"/>
            <a:tailEnd type="none" w="sm" len="sm"/>
          </a:ln>
        </p:spPr>
      </p:cxnSp>
      <p:cxnSp>
        <p:nvCxnSpPr>
          <p:cNvPr id="232" name="Google Shape;232;p30">
            <a:extLst>
              <a:ext uri="{FF2B5EF4-FFF2-40B4-BE49-F238E27FC236}">
                <a16:creationId xmlns:a16="http://schemas.microsoft.com/office/drawing/2014/main" id="{0176A5BC-40A2-1BD6-C88F-27B7859D6730}"/>
              </a:ext>
            </a:extLst>
          </p:cNvPr>
          <p:cNvCxnSpPr/>
          <p:nvPr/>
        </p:nvCxnSpPr>
        <p:spPr>
          <a:xfrm rot="5400000">
            <a:off x="-1019252" y="4052997"/>
            <a:ext cx="2812307" cy="0"/>
          </a:xfrm>
          <a:prstGeom prst="straightConnector1">
            <a:avLst/>
          </a:prstGeom>
          <a:noFill/>
          <a:ln w="9525" cap="flat" cmpd="sng">
            <a:solidFill>
              <a:srgbClr val="7030A0"/>
            </a:solidFill>
            <a:prstDash val="solid"/>
            <a:round/>
            <a:headEnd type="none" w="sm" len="sm"/>
            <a:tailEnd type="none" w="sm" len="sm"/>
          </a:ln>
        </p:spPr>
      </p:cxnSp>
      <p:sp>
        <p:nvSpPr>
          <p:cNvPr id="234" name="Google Shape;234;p30">
            <a:extLst>
              <a:ext uri="{FF2B5EF4-FFF2-40B4-BE49-F238E27FC236}">
                <a16:creationId xmlns:a16="http://schemas.microsoft.com/office/drawing/2014/main" id="{2EB59CB2-A89B-D9ED-7E71-2D9BD72D5DB9}"/>
              </a:ext>
            </a:extLst>
          </p:cNvPr>
          <p:cNvSpPr/>
          <p:nvPr/>
        </p:nvSpPr>
        <p:spPr>
          <a:xfrm>
            <a:off x="8837359" y="0"/>
            <a:ext cx="306642" cy="5736143"/>
          </a:xfrm>
          <a:custGeom>
            <a:avLst/>
            <a:gdLst/>
            <a:ahLst/>
            <a:cxnLst/>
            <a:rect l="l" t="t" r="r" b="b"/>
            <a:pathLst>
              <a:path w="161523" h="3021507" extrusionOk="0">
                <a:moveTo>
                  <a:pt x="0" y="0"/>
                </a:moveTo>
                <a:lnTo>
                  <a:pt x="161523" y="0"/>
                </a:lnTo>
                <a:lnTo>
                  <a:pt x="161523" y="3021507"/>
                </a:lnTo>
                <a:lnTo>
                  <a:pt x="0" y="3021507"/>
                </a:lnTo>
                <a:close/>
              </a:path>
            </a:pathLst>
          </a:custGeom>
          <a:solidFill>
            <a:srgbClr val="7030A0">
              <a:alpha val="13333"/>
            </a:srgbClr>
          </a:solidFill>
          <a:ln>
            <a:noFill/>
          </a:ln>
        </p:spPr>
        <p:txBody>
          <a:bodyPr/>
          <a:lstStyle/>
          <a:p>
            <a:endParaRPr lang="en-US" dirty="0"/>
          </a:p>
        </p:txBody>
      </p:sp>
      <p:sp>
        <p:nvSpPr>
          <p:cNvPr id="236" name="Google Shape;236;p30">
            <a:extLst>
              <a:ext uri="{FF2B5EF4-FFF2-40B4-BE49-F238E27FC236}">
                <a16:creationId xmlns:a16="http://schemas.microsoft.com/office/drawing/2014/main" id="{D0DF5FAE-6150-3791-7686-CFEDFC187A7B}"/>
              </a:ext>
            </a:extLst>
          </p:cNvPr>
          <p:cNvSpPr txBox="1"/>
          <p:nvPr/>
        </p:nvSpPr>
        <p:spPr>
          <a:xfrm rot="5400000">
            <a:off x="8633564" y="2517954"/>
            <a:ext cx="766200" cy="1077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 sz="700" b="1" i="0" u="none" strike="noStrike" cap="none">
                <a:solidFill>
                  <a:srgbClr val="000000"/>
                </a:solidFill>
                <a:latin typeface="Open Sans"/>
                <a:ea typeface="Open Sans"/>
                <a:cs typeface="Open Sans"/>
                <a:sym typeface="Open Sans"/>
              </a:rPr>
              <a:t>N  E  X  T</a:t>
            </a:r>
            <a:endParaRPr sz="700" dirty="0"/>
          </a:p>
        </p:txBody>
      </p:sp>
      <p:sp>
        <p:nvSpPr>
          <p:cNvPr id="2" name="Rectangle 1">
            <a:extLst>
              <a:ext uri="{FF2B5EF4-FFF2-40B4-BE49-F238E27FC236}">
                <a16:creationId xmlns:a16="http://schemas.microsoft.com/office/drawing/2014/main" id="{BDB52052-7D6E-4EA1-7809-E430F5259C86}"/>
              </a:ext>
            </a:extLst>
          </p:cNvPr>
          <p:cNvSpPr>
            <a:spLocks noChangeArrowheads="1"/>
          </p:cNvSpPr>
          <p:nvPr/>
        </p:nvSpPr>
        <p:spPr bwMode="auto">
          <a:xfrm>
            <a:off x="895652" y="965344"/>
            <a:ext cx="75021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tx1"/>
                </a:solidFill>
                <a:latin typeface="Arial" panose="020B0604020202020204" pitchFamily="34" charset="0"/>
              </a:rPr>
              <a:t>Requirements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solidFill>
                  <a:schemeClr val="tx1"/>
                </a:solidFill>
                <a:latin typeface="Arial" panose="020B0604020202020204" pitchFamily="34" charset="0"/>
              </a:rPr>
              <a:t>Dataset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err="1">
                <a:solidFill>
                  <a:schemeClr val="tx1"/>
                </a:solidFill>
                <a:latin typeface="Arial" panose="020B0604020202020204" pitchFamily="34" charset="0"/>
              </a:rPr>
              <a:t>Jupyter</a:t>
            </a:r>
            <a:r>
              <a:rPr lang="en-US" altLang="en-US" sz="1800" dirty="0">
                <a:solidFill>
                  <a:schemeClr val="tx1"/>
                </a:solidFill>
                <a:latin typeface="Arial" panose="020B0604020202020204" pitchFamily="34" charset="0"/>
              </a:rPr>
              <a:t> Lab</a:t>
            </a:r>
          </a:p>
          <a:p>
            <a:pPr marL="285750" lvl="1" indent="-285750" eaLnBrk="0" fontAlgn="base" hangingPunct="0">
              <a:spcBef>
                <a:spcPct val="0"/>
              </a:spcBef>
              <a:spcAft>
                <a:spcPct val="0"/>
              </a:spcAft>
              <a:buClr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Python Packages</a:t>
            </a:r>
          </a:p>
          <a:p>
            <a:pPr marL="285750" lvl="3" indent="-285750" eaLnBrk="0" fontAlgn="base" hangingPunct="0">
              <a:spcBef>
                <a:spcPct val="0"/>
              </a:spcBef>
              <a:spcAft>
                <a:spcPct val="0"/>
              </a:spcAft>
              <a:buClrTx/>
              <a:buFont typeface="Arial" panose="020B0604020202020204" pitchFamily="34" charset="0"/>
              <a:buChar char="•"/>
            </a:pPr>
            <a:r>
              <a:rPr lang="en-US" altLang="en-US" sz="1800" dirty="0">
                <a:solidFill>
                  <a:schemeClr val="tx1"/>
                </a:solidFill>
                <a:latin typeface="Arial" panose="020B0604020202020204" pitchFamily="34" charset="0"/>
              </a:rPr>
              <a:t>pandas </a:t>
            </a:r>
          </a:p>
          <a:p>
            <a:pPr marL="285750" lvl="3" indent="-285750" eaLnBrk="0" fontAlgn="base" hangingPunct="0">
              <a:spcBef>
                <a:spcPct val="0"/>
              </a:spcBef>
              <a:spcAft>
                <a:spcPct val="0"/>
              </a:spcAft>
              <a:buClrTx/>
              <a:buFont typeface="Arial" panose="020B0604020202020204" pitchFamily="34" charset="0"/>
              <a:buChar char="•"/>
            </a:pPr>
            <a:r>
              <a:rPr lang="en-US" altLang="en-US" sz="1800" dirty="0">
                <a:solidFill>
                  <a:schemeClr val="tx1"/>
                </a:solidFill>
                <a:latin typeface="Arial" panose="020B0604020202020204" pitchFamily="34" charset="0"/>
              </a:rPr>
              <a:t>seaborn </a:t>
            </a:r>
          </a:p>
          <a:p>
            <a:pPr marL="285750" lvl="3" indent="-285750" eaLnBrk="0" fontAlgn="base" hangingPunct="0">
              <a:spcBef>
                <a:spcPct val="0"/>
              </a:spcBef>
              <a:spcAft>
                <a:spcPct val="0"/>
              </a:spcAft>
              <a:buClrTx/>
              <a:buFont typeface="Arial" panose="020B0604020202020204" pitchFamily="34" charset="0"/>
              <a:buChar char="•"/>
            </a:pPr>
            <a:r>
              <a:rPr lang="en-US" altLang="en-US" sz="1800" dirty="0" err="1">
                <a:solidFill>
                  <a:schemeClr val="tx1"/>
                </a:solidFill>
                <a:latin typeface="Arial" panose="020B0604020202020204" pitchFamily="34" charset="0"/>
              </a:rPr>
              <a:t>Sklearn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6087672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5549</TotalTime>
  <Words>1030</Words>
  <Application>Microsoft Office PowerPoint</Application>
  <PresentationFormat>On-screen Show (16:9)</PresentationFormat>
  <Paragraphs>198</Paragraphs>
  <Slides>15</Slides>
  <Notes>13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Calibri</vt:lpstr>
      <vt:lpstr>Segoe UI</vt:lpstr>
      <vt:lpstr>Open Sans</vt:lpstr>
      <vt:lpstr>Wingdings</vt:lpstr>
      <vt:lpstr>Arial Unicode MS</vt:lpstr>
      <vt:lpstr>Arial</vt:lpstr>
      <vt:lpstr>Simple Light</vt:lpstr>
      <vt:lpstr>Office Theme</vt:lpstr>
      <vt:lpstr>Mock Lecture Assumptions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Gregory Gunther</dc:creator>
  <cp:lastModifiedBy>Gregory Gunther</cp:lastModifiedBy>
  <cp:revision>2</cp:revision>
  <dcterms:modified xsi:type="dcterms:W3CDTF">2025-07-07T21:08:07Z</dcterms:modified>
</cp:coreProperties>
</file>